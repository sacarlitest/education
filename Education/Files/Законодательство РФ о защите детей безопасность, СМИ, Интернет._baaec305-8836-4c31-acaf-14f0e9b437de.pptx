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7" r:id="rId3"/>
    <p:sldId id="258" r:id="rId4"/>
    <p:sldId id="260" r:id="rId5"/>
    <p:sldId id="259" r:id="rId6"/>
    <p:sldId id="261" r:id="rId7"/>
    <p:sldId id="262" r:id="rId8"/>
    <p:sldId id="266" r:id="rId9"/>
    <p:sldId id="267" r:id="rId10"/>
    <p:sldId id="264" r:id="rId11"/>
    <p:sldId id="265" r:id="rId12"/>
    <p:sldId id="268" r:id="rId13"/>
    <p:sldId id="263" r:id="rId14"/>
    <p:sldId id="270" r:id="rId15"/>
    <p:sldId id="275" r:id="rId16"/>
    <p:sldId id="271" r:id="rId17"/>
    <p:sldId id="272" r:id="rId18"/>
    <p:sldId id="273" r:id="rId19"/>
    <p:sldId id="274" r:id="rId20"/>
    <p:sldId id="276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FA"/>
    <a:srgbClr val="E5E0DF"/>
    <a:srgbClr val="ABC0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1692A4-7C74-4CC4-9D8B-E6B9046A2C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40C850-0BAE-48A9-9D66-EF255F44F8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104C21-14FE-4BBF-8417-C4838AB2F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941EB-8A07-45F3-B3E5-C6827B715613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91AE92-1FFA-4698-8B6A-A0695B81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2C25EE-D8E4-450F-973F-B696C8917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B601-17FF-4135-B0E3-1F80C82CC9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659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C9C8C7-3616-4D32-A547-CCF92096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11A3EF-C7A7-4E55-88FF-4450C8C87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615CAA-317F-4F9F-B749-96E72C291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941EB-8A07-45F3-B3E5-C6827B715613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E560C5-EF3D-4ADA-B75F-E351CD36F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D04E0B-5948-4A90-918D-AC0D20545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B601-17FF-4135-B0E3-1F80C82CC9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2990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04CC74-295B-4098-AB26-53C31096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ABF3EE-9B57-4472-B67A-6451CE45E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70A65D-B272-495A-87AC-C76104DD5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941EB-8A07-45F3-B3E5-C6827B715613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B95AA0-127C-4999-AA58-AFD21E5A2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46666E-7A42-4E2E-8789-2E18BB563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B601-17FF-4135-B0E3-1F80C82CC9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892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249065-AE06-4147-AD6F-D4C38B9A4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1B5928-0849-4747-A00B-D8942C1F6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000A36-DB1C-412A-97BF-E744B5131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03164D-2E3A-4B52-ACB3-B42B732E6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941EB-8A07-45F3-B3E5-C6827B715613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65857D-B5CF-4DB7-A9E8-31D6A4FBB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56FD73-3BCA-48E8-A081-F50219B18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B601-17FF-4135-B0E3-1F80C82CC9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659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1041B8-4357-49FB-B496-35B045F87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95DF26-CEA4-463F-809C-76EE7A681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1B0364-BFCD-4C7D-A538-A296F014C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D69813A-0137-480C-94AC-68E0C9211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C541FB2-FA8D-44EB-9200-F58D34436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A56EBEA-D52C-4A6B-BA86-5A72B2E2E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941EB-8A07-45F3-B3E5-C6827B715613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5E66F26-96EC-43E9-8D6D-9F58AECD6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3FEDF1E-A400-4693-9508-C198CE464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B601-17FF-4135-B0E3-1F80C82CC9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003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8596AE-691B-4434-A578-17AA23DF5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8C43414-619F-4D7C-A47D-92674E895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941EB-8A07-45F3-B3E5-C6827B715613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ED27D0C-B54B-4F31-9F52-7674DA3B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8B05C4F-2538-4A68-8883-5CC5331D2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B601-17FF-4135-B0E3-1F80C82CC9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905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D39B3A4-C560-4DB2-831B-A65ED63F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941EB-8A07-45F3-B3E5-C6827B715613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F60E01E-93A4-4D9D-8A8A-8B6C92AF3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D42EFF-536F-4200-A833-3BE8F4E1C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B601-17FF-4135-B0E3-1F80C82CC9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512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15D11-0124-4FB5-8053-D560A55D6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CEEBBA-3B57-485E-B10B-18A11057F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7C1168-1E47-43D5-A16B-0A43840C2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332C8E-7C38-40FB-A099-54261E315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941EB-8A07-45F3-B3E5-C6827B715613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90B6FA-2D57-44EC-8473-C4BC972A6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D8DCBB7-3F26-40B9-8854-FF030650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B601-17FF-4135-B0E3-1F80C82CC9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137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DE5FB3-4CE5-4EBA-9EAD-54645E964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CE7DDF7-7BA5-4440-A72D-46081B40A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A5C16E1-BCFF-46E1-A109-48E23BF34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439E01-A022-4BD1-8843-CD589D9A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941EB-8A07-45F3-B3E5-C6827B715613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5CCA3E-E3FF-4268-B8FB-927943466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72D608-A676-412E-AC8D-A3D9900D4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B601-17FF-4135-B0E3-1F80C82CC9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6141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476D0A-6A48-4E6B-BE9A-0A874ACC8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B9E194-AF35-49A0-A8C7-C1E1491DA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7D9876-3606-495A-8CAD-1DCDD93A8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941EB-8A07-45F3-B3E5-C6827B715613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8901F4-A559-43C7-9578-05647AA0A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F5E9CC-E8FC-430D-A6D8-AB774340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B601-17FF-4135-B0E3-1F80C82CC9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3900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9B7770C-8831-4CDC-865F-23B6CDFF2B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90E88F-FC8B-479F-AB17-DC4342D02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EC6251-FA7E-4BA2-A2A7-3496A15F1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941EB-8A07-45F3-B3E5-C6827B715613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2010EB-A670-438F-AA44-1106E6253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1B66D8-2432-4C11-90D0-991989D60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AB601-17FF-4135-B0E3-1F80C82CC9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898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3299F4-8A0F-4000-A3CA-6E1064272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05D868-A007-49B5-ABA4-50A5DC248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737BD1-1763-44E3-8723-3B411FFE0A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A941EB-8A07-45F3-B3E5-C6827B715613}" type="datetimeFigureOut">
              <a:rPr lang="ru-RU" smtClean="0"/>
              <a:t>11.04.2025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AF4833-D690-455E-96A9-AC0F6C5C3B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0D0347-5E08-441B-8AC1-594E1BE96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AB601-17FF-4135-B0E3-1F80C82CC9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34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814D5F2-3390-4966-A328-2C332DF9D2DA}"/>
              </a:ext>
            </a:extLst>
          </p:cNvPr>
          <p:cNvSpPr/>
          <p:nvPr/>
        </p:nvSpPr>
        <p:spPr>
          <a:xfrm>
            <a:off x="5144361" y="123148"/>
            <a:ext cx="2425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Минобрнауки России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1DE50D9-678F-4B46-80BB-01150BCF9965}"/>
              </a:ext>
            </a:extLst>
          </p:cNvPr>
          <p:cNvSpPr/>
          <p:nvPr/>
        </p:nvSpPr>
        <p:spPr>
          <a:xfrm>
            <a:off x="2226127" y="507260"/>
            <a:ext cx="84690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образования Санкт-Петербургский государственный технологический институт (Технический университет)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B9EE735-DB8A-40AF-A396-30C9D40A6AD8}"/>
              </a:ext>
            </a:extLst>
          </p:cNvPr>
          <p:cNvSpPr/>
          <p:nvPr/>
        </p:nvSpPr>
        <p:spPr>
          <a:xfrm>
            <a:off x="2291442" y="1579795"/>
            <a:ext cx="81316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 подготовки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09.03.01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Информатика и вычислительная техника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Направленность образовательной программы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Информатика и вычислительная техника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информационных технологий и управления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систем автоматизированного проектирования и управления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C86B6F2-7308-4A61-8637-256E4BCFC3A0}"/>
              </a:ext>
            </a:extLst>
          </p:cNvPr>
          <p:cNvSpPr/>
          <p:nvPr/>
        </p:nvSpPr>
        <p:spPr>
          <a:xfrm>
            <a:off x="3908733" y="3221937"/>
            <a:ext cx="48970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Дисциплина: «Правовые основы информатики»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5F02335-C7A6-430E-9559-2E0CC9885BF4}"/>
              </a:ext>
            </a:extLst>
          </p:cNvPr>
          <p:cNvSpPr/>
          <p:nvPr/>
        </p:nvSpPr>
        <p:spPr>
          <a:xfrm>
            <a:off x="2873827" y="3782573"/>
            <a:ext cx="71736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Book Antiqua" panose="02040602050305030304" pitchFamily="18" charset="0"/>
              </a:rPr>
              <a:t>Законодательство РФ о защите детей: безопасность, СМИ, Интернет.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7A5A211-C9D7-45BE-9C16-ACD4A957513A}"/>
              </a:ext>
            </a:extLst>
          </p:cNvPr>
          <p:cNvSpPr/>
          <p:nvPr/>
        </p:nvSpPr>
        <p:spPr>
          <a:xfrm>
            <a:off x="3309256" y="609600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</a:t>
            </a:r>
          </a:p>
          <a:p>
            <a:pPr algn="ctr">
              <a:spcBef>
                <a:spcPct val="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46E8BC6E-9403-442F-9762-4CC56856D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09713"/>
              </p:ext>
            </p:extLst>
          </p:nvPr>
        </p:nvGraphicFramePr>
        <p:xfrm>
          <a:off x="2252800" y="4716740"/>
          <a:ext cx="8208912" cy="954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4456">
                  <a:extLst>
                    <a:ext uri="{9D8B030D-6E8A-4147-A177-3AD203B41FA5}">
                      <a16:colId xmlns:a16="http://schemas.microsoft.com/office/drawing/2014/main" val="3489378110"/>
                    </a:ext>
                  </a:extLst>
                </a:gridCol>
                <a:gridCol w="4104456">
                  <a:extLst>
                    <a:ext uri="{9D8B030D-6E8A-4147-A177-3AD203B41FA5}">
                      <a16:colId xmlns:a16="http://schemas.microsoft.com/office/drawing/2014/main" val="131955267"/>
                    </a:ext>
                  </a:extLst>
                </a:gridCol>
              </a:tblGrid>
              <a:tr h="477133">
                <a:tc>
                  <a:txBody>
                    <a:bodyPr/>
                    <a:lstStyle/>
                    <a:p>
                      <a:r>
                        <a:rPr lang="ru-RU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Студент 424 группы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Середенко У.Р.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296867"/>
                  </a:ext>
                </a:extLst>
              </a:tr>
              <a:tr h="477133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Руководитель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Кузнецова Г.В.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893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716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 t="-30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1F1853A-6B39-4F3E-8252-57D6B6F3091D}"/>
              </a:ext>
            </a:extLst>
          </p:cNvPr>
          <p:cNvSpPr/>
          <p:nvPr/>
        </p:nvSpPr>
        <p:spPr>
          <a:xfrm>
            <a:off x="832757" y="607876"/>
            <a:ext cx="648788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>
                <a:latin typeface="Book Antiqua" panose="02040602050305030304" pitchFamily="18" charset="0"/>
              </a:rPr>
              <a:t>Законодательство РФ о защите детей: безопасность, СМИ, Интернет.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E1A3F5C-2ADC-4A3E-9E9D-270C146DD027}"/>
              </a:ext>
            </a:extLst>
          </p:cNvPr>
          <p:cNvSpPr/>
          <p:nvPr/>
        </p:nvSpPr>
        <p:spPr>
          <a:xfrm>
            <a:off x="832757" y="4157245"/>
            <a:ext cx="1052648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Book Antiqua" panose="02040602050305030304" pitchFamily="18" charset="0"/>
              </a:rPr>
              <a:t>В условиях стремительного развития информационных технологий особую важность приобретает вопрос защиты несовершеннолетних в медиапространстве. Дети и подростки — наиболее уязвимая категория пользователей Интернета и СМИ. Наряду с этим, медиа и Интернет могут быть мощными инструментами образования, социализации, при условии наличия эффективных механизмов регулирования.</a:t>
            </a:r>
          </a:p>
          <a:p>
            <a:r>
              <a:rPr lang="ru-RU" sz="2000" dirty="0">
                <a:latin typeface="Book Antiqua" panose="02040602050305030304" pitchFamily="18" charset="0"/>
              </a:rPr>
              <a:t>Государство же несёт ответственность за обеспечение безопасной информационной среды для подрастающего поколения. 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550460B-46DC-40BB-A343-C3EB71BF1650}"/>
              </a:ext>
            </a:extLst>
          </p:cNvPr>
          <p:cNvSpPr/>
          <p:nvPr/>
        </p:nvSpPr>
        <p:spPr>
          <a:xfrm>
            <a:off x="832757" y="2700755"/>
            <a:ext cx="39565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latin typeface="Book Antiqua" panose="02040602050305030304" pitchFamily="18" charset="0"/>
              </a:rPr>
              <a:t>Введение в проблему</a:t>
            </a:r>
          </a:p>
        </p:txBody>
      </p:sp>
    </p:spTree>
    <p:extLst>
      <p:ext uri="{BB962C8B-B14F-4D97-AF65-F5344CB8AC3E}">
        <p14:creationId xmlns:p14="http://schemas.microsoft.com/office/powerpoint/2010/main" val="1099782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33D659B-74C2-4E22-BEB3-27001B2347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6" t="1840" r="1137" b="1917"/>
          <a:stretch/>
        </p:blipFill>
        <p:spPr>
          <a:xfrm>
            <a:off x="513147" y="2828767"/>
            <a:ext cx="6080855" cy="2542903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2AA36E4-5AF7-4ECF-A5F5-D3F727FA0682}"/>
              </a:ext>
            </a:extLst>
          </p:cNvPr>
          <p:cNvSpPr/>
          <p:nvPr/>
        </p:nvSpPr>
        <p:spPr>
          <a:xfrm>
            <a:off x="6775268" y="1998240"/>
            <a:ext cx="4696754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Book Antiqua" panose="02040602050305030304" pitchFamily="18" charset="0"/>
              </a:rPr>
              <a:t>Информационная среда включает ТВ, интернет и соцсети. Несмотря на образовательный и развивающий потенциал, информационная среда таит в себе множество рисков, особенно для несовершеннолетних.</a:t>
            </a:r>
          </a:p>
          <a:p>
            <a:r>
              <a:rPr lang="ru-RU" sz="2000" dirty="0">
                <a:latin typeface="Book Antiqua" panose="02040602050305030304" pitchFamily="18" charset="0"/>
              </a:rPr>
              <a:t>Право ребенка на защиту реализуется через ограничение доступа и надзор за СМИ. Эффективная правовая система должна гибко реагировать на новые угрозы.</a:t>
            </a:r>
          </a:p>
          <a:p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8EA0C4-D532-4586-BF4F-40345EED9711}"/>
              </a:ext>
            </a:extLst>
          </p:cNvPr>
          <p:cNvSpPr/>
          <p:nvPr/>
        </p:nvSpPr>
        <p:spPr>
          <a:xfrm>
            <a:off x="727897" y="551209"/>
            <a:ext cx="69830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Book Antiqua" panose="02040602050305030304" pitchFamily="18" charset="0"/>
              </a:rPr>
              <a:t>Угрозы в информационной среде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BCF230F-F022-4F92-9ECC-20D6851C8766}"/>
              </a:ext>
            </a:extLst>
          </p:cNvPr>
          <p:cNvSpPr/>
          <p:nvPr/>
        </p:nvSpPr>
        <p:spPr>
          <a:xfrm>
            <a:off x="513147" y="2111451"/>
            <a:ext cx="60644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u="sng" dirty="0">
                <a:latin typeface="Book Antiqua" panose="02040602050305030304" pitchFamily="18" charset="0"/>
              </a:rPr>
              <a:t>Основные виды угроз для детей в медиапространстве: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6739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DAD32EF-4D7A-40BA-8F89-4240836E542D}"/>
              </a:ext>
            </a:extLst>
          </p:cNvPr>
          <p:cNvSpPr/>
          <p:nvPr/>
        </p:nvSpPr>
        <p:spPr>
          <a:xfrm>
            <a:off x="631371" y="0"/>
            <a:ext cx="714538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>
              <a:spcAft>
                <a:spcPts val="0"/>
              </a:spcAft>
            </a:pPr>
            <a:br>
              <a:rPr lang="ru-RU" sz="3200" b="1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</a:br>
            <a:r>
              <a:rPr lang="ru-RU" sz="3200" b="1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Международно-правовые нормы в сфере защиты детей</a:t>
            </a:r>
            <a:endParaRPr lang="ru-RU" sz="3200" kern="50" dirty="0">
              <a:latin typeface="Book Antiqua" panose="0204060205030503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079316-299A-4957-BE2F-B5438387F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394" y="1931126"/>
            <a:ext cx="4994198" cy="3417082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6CAEE9E-3B1C-4621-9E16-76B514A87E6A}"/>
              </a:ext>
            </a:extLst>
          </p:cNvPr>
          <p:cNvSpPr/>
          <p:nvPr/>
        </p:nvSpPr>
        <p:spPr>
          <a:xfrm>
            <a:off x="631371" y="1931126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dirty="0">
                <a:latin typeface="Book Antiqua" panose="02040602050305030304" pitchFamily="18" charset="0"/>
              </a:rPr>
              <a:t>Законодательство РФ формируется с учетом международных стандартов.</a:t>
            </a:r>
          </a:p>
          <a:p>
            <a:r>
              <a:rPr lang="ru-RU" sz="2000" dirty="0">
                <a:latin typeface="Book Antiqua" panose="02040602050305030304" pitchFamily="18" charset="0"/>
              </a:rPr>
              <a:t>Международное сообщество создает единые стандарты защиты детей: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Конвенция ООН о правах ребёнка (1989 г.).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Комментарий ООН № 25 (2021).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Европейская конвенция (1950).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Конвенция Совета Европы о киберпреступности (2001).</a:t>
            </a:r>
          </a:p>
          <a:p>
            <a:r>
              <a:rPr lang="ru-RU" sz="2000" dirty="0">
                <a:latin typeface="Book Antiqua" panose="02040602050305030304" pitchFamily="18" charset="0"/>
              </a:rPr>
              <a:t>Эти нормы - ориентир для формирования и совершенствования национального законодательства. </a:t>
            </a:r>
          </a:p>
        </p:txBody>
      </p:sp>
    </p:spTree>
    <p:extLst>
      <p:ext uri="{BB962C8B-B14F-4D97-AF65-F5344CB8AC3E}">
        <p14:creationId xmlns:p14="http://schemas.microsoft.com/office/powerpoint/2010/main" val="4161947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93EE964-6B7E-4DE8-A40D-CF79EB32589C}"/>
              </a:ext>
            </a:extLst>
          </p:cNvPr>
          <p:cNvSpPr/>
          <p:nvPr/>
        </p:nvSpPr>
        <p:spPr>
          <a:xfrm>
            <a:off x="957944" y="248922"/>
            <a:ext cx="36575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atin typeface="Book Antiqua" panose="02040602050305030304" pitchFamily="18" charset="0"/>
              </a:rPr>
              <a:t>Право на защиту в </a:t>
            </a:r>
            <a:r>
              <a:rPr lang="ru-RU" sz="3200" b="1" dirty="0" err="1">
                <a:latin typeface="Book Antiqua" panose="02040602050305030304" pitchFamily="18" charset="0"/>
              </a:rPr>
              <a:t>медиасреде</a:t>
            </a:r>
            <a:endParaRPr lang="ru-RU" sz="3200" b="1" dirty="0">
              <a:latin typeface="Book Antiqua" panose="0204060205030503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7AB4129-0632-4E5D-BF2E-328925AB0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2680"/>
            <a:ext cx="5334000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BC5D806-CD4D-4DED-AC8F-8C8EF766434E}"/>
              </a:ext>
            </a:extLst>
          </p:cNvPr>
          <p:cNvSpPr/>
          <p:nvPr/>
        </p:nvSpPr>
        <p:spPr>
          <a:xfrm>
            <a:off x="401768" y="1640551"/>
            <a:ext cx="553998" cy="4886524"/>
          </a:xfrm>
          <a:prstGeom prst="rect">
            <a:avLst/>
          </a:prstGeom>
        </p:spPr>
        <p:txBody>
          <a:bodyPr vert="vert" wrap="square">
            <a:spAutoFit/>
          </a:bodyPr>
          <a:lstStyle/>
          <a:p>
            <a:r>
              <a:rPr lang="ru-RU" sz="2400" b="1" dirty="0"/>
              <a:t>______________________________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01FE0F5-FC47-4789-90A9-7854B2950499}"/>
              </a:ext>
            </a:extLst>
          </p:cNvPr>
          <p:cNvSpPr/>
          <p:nvPr/>
        </p:nvSpPr>
        <p:spPr>
          <a:xfrm>
            <a:off x="955766" y="1710471"/>
            <a:ext cx="4781005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Book Antiqua" panose="02040602050305030304" pitchFamily="18" charset="0"/>
              </a:rPr>
              <a:t>Защита от вредной информации — базовое право ребёнка.</a:t>
            </a:r>
          </a:p>
          <a:p>
            <a:r>
              <a:rPr lang="ru-RU" sz="2000" dirty="0">
                <a:latin typeface="Book Antiqua" panose="02040602050305030304" pitchFamily="18" charset="0"/>
              </a:rPr>
              <a:t>Оно реализуется через ограничение доступа к деструктивному контенту</a:t>
            </a:r>
            <a:r>
              <a:rPr lang="ru-RU" dirty="0"/>
              <a:t>, </a:t>
            </a:r>
            <a:r>
              <a:rPr lang="ru-RU" sz="2000" dirty="0">
                <a:latin typeface="Book Antiqua" panose="02040602050305030304" pitchFamily="18" charset="0"/>
              </a:rPr>
              <a:t>фильтрацию контента, надзор за СМИ, обучение детей и родителей.</a:t>
            </a:r>
          </a:p>
          <a:p>
            <a:endParaRPr lang="ru-RU" sz="2000" dirty="0">
              <a:latin typeface="Book Antiqua" panose="02040602050305030304" pitchFamily="18" charset="0"/>
            </a:endParaRPr>
          </a:p>
          <a:p>
            <a:r>
              <a:rPr lang="ru-RU" sz="2000" dirty="0">
                <a:latin typeface="Book Antiqua" panose="02040602050305030304" pitchFamily="18" charset="0"/>
              </a:rPr>
              <a:t>Право ребёнка на защиту от информационной угрозы предусмотрено: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Конституцией РФ (ст. 38, 43, 44)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Семейным кодексом РФ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Закон </a:t>
            </a:r>
            <a:r>
              <a:rPr lang="ru-RU" sz="2000" i="1" dirty="0">
                <a:latin typeface="Book Antiqua" panose="02040602050305030304" pitchFamily="18" charset="0"/>
              </a:rPr>
              <a:t>«Об основных гарантиях прав ребёнка в РФ»</a:t>
            </a:r>
            <a:endParaRPr lang="ru-RU" sz="2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662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B6C1C41-0802-4DE9-841A-9F823E5425AE}"/>
              </a:ext>
            </a:extLst>
          </p:cNvPr>
          <p:cNvSpPr/>
          <p:nvPr/>
        </p:nvSpPr>
        <p:spPr>
          <a:xfrm>
            <a:off x="820949" y="145644"/>
            <a:ext cx="900298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atin typeface="Book Antiqua" panose="02040602050305030304" pitchFamily="18" charset="0"/>
              </a:rPr>
              <a:t>Закон о защите детей от вредной информации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45725E-7872-450D-B5BE-26460E8F4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49" y="1669478"/>
            <a:ext cx="4868427" cy="3331029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4568687-9025-49BE-BE8C-21596261866B}"/>
              </a:ext>
            </a:extLst>
          </p:cNvPr>
          <p:cNvSpPr/>
          <p:nvPr/>
        </p:nvSpPr>
        <p:spPr>
          <a:xfrm>
            <a:off x="6502626" y="1527964"/>
            <a:ext cx="4868426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Book Antiqua" panose="02040602050305030304" pitchFamily="18" charset="0"/>
              </a:rPr>
              <a:t>Главный закон, регулирующий защиту детей в медиапространстве — Федеральный закон № 436-ФЗ от 29 декабря 2010 года «О защите детей от информации, причиняющей вред их здоровью и развитию».</a:t>
            </a:r>
          </a:p>
          <a:p>
            <a:r>
              <a:rPr lang="ru-RU" sz="2000" dirty="0">
                <a:latin typeface="Book Antiqua" panose="02040602050305030304" pitchFamily="18" charset="0"/>
              </a:rPr>
              <a:t>Информация делится на категории: допустимая для всех, 6+, 12+, 16+ и 18+ (запрещена для детей). </a:t>
            </a:r>
          </a:p>
          <a:p>
            <a:r>
              <a:rPr lang="ru-RU" sz="2000" dirty="0">
                <a:latin typeface="Book Antiqua" panose="02040602050305030304" pitchFamily="18" charset="0"/>
              </a:rPr>
              <a:t>Создаются специальные ограничения и маркировка для книг, фильмов, сайтов и игр.</a:t>
            </a:r>
            <a:r>
              <a:rPr lang="ru-RU" sz="2000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endParaRPr lang="ru-RU" sz="2000" dirty="0">
              <a:latin typeface="Book Antiqua" panose="0204060205030503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942E40C-60EF-4895-BE87-7837913F6AB8}"/>
              </a:ext>
            </a:extLst>
          </p:cNvPr>
          <p:cNvSpPr/>
          <p:nvPr/>
        </p:nvSpPr>
        <p:spPr>
          <a:xfrm>
            <a:off x="820949" y="5305609"/>
            <a:ext cx="952500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Важно: если информация может навредить ребёнку, она не должна быть ему доступна. За это несут ответственность те, кто распространяет контент: СМИ, блогеры, производители игр, владельцы сайтов.</a:t>
            </a:r>
          </a:p>
        </p:txBody>
      </p:sp>
    </p:spTree>
    <p:extLst>
      <p:ext uri="{BB962C8B-B14F-4D97-AF65-F5344CB8AC3E}">
        <p14:creationId xmlns:p14="http://schemas.microsoft.com/office/powerpoint/2010/main" val="3748615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237BF11-E31D-411E-B15E-9C41B53F61EF}"/>
              </a:ext>
            </a:extLst>
          </p:cNvPr>
          <p:cNvSpPr/>
          <p:nvPr/>
        </p:nvSpPr>
        <p:spPr>
          <a:xfrm>
            <a:off x="3535292" y="2184065"/>
            <a:ext cx="4655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Ответственные органы и исполнение закона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1036AAC-EC81-4356-9624-A84BE481CF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000"/>
                    </a14:imgEffect>
                    <a14:imgEffect>
                      <a14:saturation sat="8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306" b="24644"/>
          <a:stretch/>
        </p:blipFill>
        <p:spPr>
          <a:xfrm>
            <a:off x="0" y="0"/>
            <a:ext cx="12192000" cy="2673531"/>
          </a:xfrm>
          <a:prstGeom prst="rect">
            <a:avLst/>
          </a:prstGeom>
          <a:ln>
            <a:noFill/>
          </a:ln>
          <a:effectLst>
            <a:glow>
              <a:schemeClr val="accent1"/>
            </a:glow>
            <a:outerShdw blurRad="50800" dist="50800" dir="5400000" algn="ctr" rotWithShape="0">
              <a:srgbClr val="000000">
                <a:alpha val="0"/>
              </a:srgbClr>
            </a:outerShdw>
            <a:reflection stA="0" endPos="0" dist="50800" dir="5400000" sy="-100000" algn="bl" rotWithShape="0"/>
            <a:softEdge rad="112500"/>
          </a:effectLst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3917BF3-8142-4848-848F-44D25A39104D}"/>
              </a:ext>
            </a:extLst>
          </p:cNvPr>
          <p:cNvSpPr/>
          <p:nvPr/>
        </p:nvSpPr>
        <p:spPr>
          <a:xfrm>
            <a:off x="818605" y="2857622"/>
            <a:ext cx="802059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atin typeface="Book Antiqua" panose="02040602050305030304" pitchFamily="18" charset="0"/>
              </a:rPr>
              <a:t>Ответственные органы и исполнение закона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59F37E5-DAF1-41F4-9A71-94C833CC9E2E}"/>
              </a:ext>
            </a:extLst>
          </p:cNvPr>
          <p:cNvSpPr/>
          <p:nvPr/>
        </p:nvSpPr>
        <p:spPr>
          <a:xfrm>
            <a:off x="818604" y="3934840"/>
            <a:ext cx="968610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Роскомнадзор контролирует интернет и СМИ, блокирует опасные сайты.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Прокуратура проверяет школы, библиотеки и детские учреждения.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Министерство просвещения обучает детей безопасному поведению в сети.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4BC0A97-C2F3-4EBC-8BBE-52A8A08E7536}"/>
              </a:ext>
            </a:extLst>
          </p:cNvPr>
          <p:cNvSpPr/>
          <p:nvPr/>
        </p:nvSpPr>
        <p:spPr>
          <a:xfrm>
            <a:off x="818604" y="5105879"/>
            <a:ext cx="998002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sz="2000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Также важную роль играют:</a:t>
            </a:r>
          </a:p>
          <a:p>
            <a:pPr algn="just">
              <a:spcAft>
                <a:spcPts val="0"/>
              </a:spcAft>
            </a:pPr>
            <a:r>
              <a:rPr lang="ru-RU" sz="2000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Педагоги и родители </a:t>
            </a:r>
            <a:r>
              <a:rPr lang="ru-RU" sz="2000" dirty="0">
                <a:latin typeface="Book Antiqua" panose="02040602050305030304" pitchFamily="18" charset="0"/>
              </a:rPr>
              <a:t>— </a:t>
            </a:r>
            <a:r>
              <a:rPr lang="ru-RU" sz="2000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должны объяснять, что такое вредная информация.</a:t>
            </a:r>
          </a:p>
          <a:p>
            <a:pPr algn="just">
              <a:spcAft>
                <a:spcPts val="0"/>
              </a:spcAft>
            </a:pPr>
            <a:r>
              <a:rPr lang="ru-RU" sz="2000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Разработчики и IT-компании </a:t>
            </a:r>
            <a:r>
              <a:rPr lang="ru-RU" sz="2000" dirty="0">
                <a:latin typeface="Book Antiqua" panose="02040602050305030304" pitchFamily="18" charset="0"/>
              </a:rPr>
              <a:t>—</a:t>
            </a:r>
            <a:r>
              <a:rPr lang="ru-RU" sz="2000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должны предусматривать защиту детей на своих платформах.</a:t>
            </a:r>
          </a:p>
        </p:txBody>
      </p:sp>
    </p:spTree>
    <p:extLst>
      <p:ext uri="{BB962C8B-B14F-4D97-AF65-F5344CB8AC3E}">
        <p14:creationId xmlns:p14="http://schemas.microsoft.com/office/powerpoint/2010/main" val="2374022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552C36-60EF-45F7-B52B-060F53C93E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92" b="4093"/>
          <a:stretch/>
        </p:blipFill>
        <p:spPr>
          <a:xfrm>
            <a:off x="0" y="1265352"/>
            <a:ext cx="12192000" cy="5113676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7F07835-E107-4BDE-BFA5-99617F148A26}"/>
              </a:ext>
            </a:extLst>
          </p:cNvPr>
          <p:cNvSpPr/>
          <p:nvPr/>
        </p:nvSpPr>
        <p:spPr>
          <a:xfrm>
            <a:off x="966163" y="590443"/>
            <a:ext cx="42707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Book Antiqua" panose="02040602050305030304" pitchFamily="18" charset="0"/>
              </a:rPr>
              <a:t>Роль Роскомнадзора</a:t>
            </a:r>
          </a:p>
        </p:txBody>
      </p:sp>
    </p:spTree>
    <p:extLst>
      <p:ext uri="{BB962C8B-B14F-4D97-AF65-F5344CB8AC3E}">
        <p14:creationId xmlns:p14="http://schemas.microsoft.com/office/powerpoint/2010/main" val="1449591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5AD4B8F-0C26-4042-B07D-88F004A9C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2860"/>
            <a:ext cx="12192000" cy="3786562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F737FBA-571C-4F31-BB38-EDB0DE44512D}"/>
              </a:ext>
            </a:extLst>
          </p:cNvPr>
          <p:cNvSpPr/>
          <p:nvPr/>
        </p:nvSpPr>
        <p:spPr>
          <a:xfrm>
            <a:off x="777007" y="601283"/>
            <a:ext cx="62648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Book Antiqua" panose="02040602050305030304" pitchFamily="18" charset="0"/>
              </a:rPr>
              <a:t>Роль прокуратуры и полиции</a:t>
            </a:r>
          </a:p>
        </p:txBody>
      </p:sp>
    </p:spTree>
    <p:extLst>
      <p:ext uri="{BB962C8B-B14F-4D97-AF65-F5344CB8AC3E}">
        <p14:creationId xmlns:p14="http://schemas.microsoft.com/office/powerpoint/2010/main" val="2396283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E743D15-1B13-484F-9331-84105574CEF9}"/>
              </a:ext>
            </a:extLst>
          </p:cNvPr>
          <p:cNvSpPr/>
          <p:nvPr/>
        </p:nvSpPr>
        <p:spPr>
          <a:xfrm>
            <a:off x="0" y="1480458"/>
            <a:ext cx="12192000" cy="2460171"/>
          </a:xfrm>
          <a:prstGeom prst="rect">
            <a:avLst/>
          </a:prstGeom>
          <a:solidFill>
            <a:srgbClr val="E5E0DF"/>
          </a:solidFill>
          <a:ln>
            <a:solidFill>
              <a:srgbClr val="E5E0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365CEF6-05DC-4A68-BD47-04DA4463E42E}"/>
              </a:ext>
            </a:extLst>
          </p:cNvPr>
          <p:cNvSpPr/>
          <p:nvPr/>
        </p:nvSpPr>
        <p:spPr>
          <a:xfrm>
            <a:off x="1040569" y="285597"/>
            <a:ext cx="648767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Book Antiqua" panose="02040602050305030304" pitchFamily="18" charset="0"/>
              </a:rPr>
              <a:t>Борьба с опасным контентом в </a:t>
            </a:r>
            <a:endParaRPr lang="en-US" sz="3200" b="1" dirty="0">
              <a:latin typeface="Book Antiqua" panose="02040602050305030304" pitchFamily="18" charset="0"/>
            </a:endParaRPr>
          </a:p>
          <a:p>
            <a:r>
              <a:rPr lang="ru-RU" sz="3200" b="1" dirty="0">
                <a:latin typeface="Book Antiqua" panose="02040602050305030304" pitchFamily="18" charset="0"/>
              </a:rPr>
              <a:t>интернете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DD002EB-FF55-4291-8AA6-92531A3E4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021" y="1480458"/>
            <a:ext cx="3595636" cy="246017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40B5C7-0B9D-49EC-B79F-8AF928F2D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102" y="1480458"/>
            <a:ext cx="3595635" cy="2460171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173753A-424D-46BF-8BFD-1041D40EC59D}"/>
              </a:ext>
            </a:extLst>
          </p:cNvPr>
          <p:cNvSpPr/>
          <p:nvPr/>
        </p:nvSpPr>
        <p:spPr>
          <a:xfrm>
            <a:off x="1040569" y="5105400"/>
            <a:ext cx="963831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Book Antiqua" panose="02040602050305030304" pitchFamily="18" charset="0"/>
              </a:rPr>
              <a:t>Любой человек может пожаловаться на такой сайт через специальную форму на сайте Роскомнадзора. Если информация действительно угрожает детям, сайт блокируется. Также закон предусматривает предупреждения и штрафы для тех, кто нарушает правила. 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41F17F5-2C44-467B-B93C-CA1D1D034B27}"/>
              </a:ext>
            </a:extLst>
          </p:cNvPr>
          <p:cNvSpPr/>
          <p:nvPr/>
        </p:nvSpPr>
        <p:spPr>
          <a:xfrm>
            <a:off x="1040569" y="4169229"/>
            <a:ext cx="913757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Book Antiqua" panose="02040602050305030304" pitchFamily="18" charset="0"/>
              </a:rPr>
              <a:t>С 2012 года действует "чёрный список сайтов" — это реестр интернет-ресурсов, на которых размещён запрещённый для детей контент. </a:t>
            </a:r>
          </a:p>
        </p:txBody>
      </p:sp>
    </p:spTree>
    <p:extLst>
      <p:ext uri="{BB962C8B-B14F-4D97-AF65-F5344CB8AC3E}">
        <p14:creationId xmlns:p14="http://schemas.microsoft.com/office/powerpoint/2010/main" val="1570600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60C22C0-249B-4DC1-951C-B7979426B309}"/>
              </a:ext>
            </a:extLst>
          </p:cNvPr>
          <p:cNvSpPr/>
          <p:nvPr/>
        </p:nvSpPr>
        <p:spPr>
          <a:xfrm>
            <a:off x="1100645" y="1835082"/>
            <a:ext cx="682752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just">
              <a:spcAft>
                <a:spcPts val="0"/>
              </a:spcAft>
            </a:pPr>
            <a:r>
              <a:rPr lang="ru-RU" sz="2000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Очень важно находить баланс между защитой ребёнка и его правом на доступ к информации. Иногда возникают споры: что считать вредной информацией, а что — правом на свободу слова? Например, подростки хотят знать о психическом здоровье, но не вся информация на эту тему подходит для младших детей.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F56D5AC-46D7-4169-A2E5-30F828D99D38}"/>
              </a:ext>
            </a:extLst>
          </p:cNvPr>
          <p:cNvSpPr/>
          <p:nvPr/>
        </p:nvSpPr>
        <p:spPr>
          <a:xfrm>
            <a:off x="1100645" y="560158"/>
            <a:ext cx="72298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Ограничения и свобода: где грань?</a:t>
            </a:r>
            <a:endParaRPr lang="ru-RU" sz="3200" b="1" dirty="0">
              <a:latin typeface="Book Antiqua" panose="0204060205030503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0EBD799-23D1-4357-9B49-22B85386DEF3}"/>
              </a:ext>
            </a:extLst>
          </p:cNvPr>
          <p:cNvSpPr/>
          <p:nvPr/>
        </p:nvSpPr>
        <p:spPr>
          <a:xfrm>
            <a:off x="4171407" y="4081851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49580" algn="just"/>
            <a:r>
              <a:rPr lang="ru-RU" sz="2000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В таких случаях специалисты, психологи и юристы должны совместно решать, как подавать информацию правильно. Закон помогает, но многое зависит от конкретной ситуации и возраста ребёнка. 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027E915-09AC-49EB-A6B2-FF4AD806459C}"/>
              </a:ext>
            </a:extLst>
          </p:cNvPr>
          <p:cNvSpPr/>
          <p:nvPr/>
        </p:nvSpPr>
        <p:spPr>
          <a:xfrm rot="5400000">
            <a:off x="-445933" y="2773799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______________________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5BF6BCB-ECAF-426C-8F34-BE15545874F2}"/>
              </a:ext>
            </a:extLst>
          </p:cNvPr>
          <p:cNvSpPr/>
          <p:nvPr/>
        </p:nvSpPr>
        <p:spPr>
          <a:xfrm rot="16200000">
            <a:off x="9436411" y="471279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787514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9AC7AED-402B-4086-9276-9EDAF1B1FF33}"/>
              </a:ext>
            </a:extLst>
          </p:cNvPr>
          <p:cNvSpPr/>
          <p:nvPr/>
        </p:nvSpPr>
        <p:spPr>
          <a:xfrm>
            <a:off x="679876" y="417575"/>
            <a:ext cx="820962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49580" algn="just">
              <a:spcAft>
                <a:spcPts val="0"/>
              </a:spcAft>
            </a:pPr>
            <a:r>
              <a:rPr lang="ru-RU" sz="3200" b="1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Роль образовательных и социальных </a:t>
            </a:r>
          </a:p>
          <a:p>
            <a:pPr indent="449580" algn="just">
              <a:spcAft>
                <a:spcPts val="0"/>
              </a:spcAft>
            </a:pPr>
            <a:r>
              <a:rPr lang="ru-RU" sz="3200" b="1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институтов</a:t>
            </a:r>
            <a:endParaRPr lang="ru-RU" sz="3200" kern="50" dirty="0">
              <a:latin typeface="Book Antiqua" panose="0204060205030503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9C7673C-6088-48BD-9E3F-3A75D981FA94}"/>
              </a:ext>
            </a:extLst>
          </p:cNvPr>
          <p:cNvSpPr/>
          <p:nvPr/>
        </p:nvSpPr>
        <p:spPr>
          <a:xfrm>
            <a:off x="6775269" y="1812041"/>
            <a:ext cx="50074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u="sng" dirty="0">
                <a:latin typeface="Book Antiqua" panose="02040602050305030304" pitchFamily="18" charset="0"/>
              </a:rPr>
              <a:t>Социальные институты и организации: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B78448E-ED38-4615-AA20-97113A844E2C}"/>
              </a:ext>
            </a:extLst>
          </p:cNvPr>
          <p:cNvSpPr/>
          <p:nvPr/>
        </p:nvSpPr>
        <p:spPr>
          <a:xfrm>
            <a:off x="679876" y="1703678"/>
            <a:ext cx="4441373" cy="508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>
              <a:lnSpc>
                <a:spcPct val="150000"/>
              </a:lnSpc>
              <a:spcAft>
                <a:spcPts val="0"/>
              </a:spcAft>
            </a:pPr>
            <a:r>
              <a:rPr lang="ru-RU" sz="2000" u="sng" dirty="0">
                <a:latin typeface="Book Antiqua" panose="02040602050305030304" pitchFamily="18" charset="0"/>
              </a:rPr>
              <a:t>Образовательные учреждения: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EA1B90D-2251-4FEF-8F70-CB8FA4AEE874}"/>
              </a:ext>
            </a:extLst>
          </p:cNvPr>
          <p:cNvSpPr/>
          <p:nvPr/>
        </p:nvSpPr>
        <p:spPr>
          <a:xfrm>
            <a:off x="653750" y="2910893"/>
            <a:ext cx="542544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kern="50" dirty="0">
                <a:latin typeface="Book Antiqua" panose="0204060205030503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Просвещение детей: в школах проводят уроки по безопасности в интернете. </a:t>
            </a:r>
            <a:endParaRPr lang="en-US" kern="50" dirty="0">
              <a:latin typeface="Book Antiqua" panose="02040602050305030304" pitchFamily="18" charset="0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pPr lvl="0" algn="just">
              <a:spcAft>
                <a:spcPts val="0"/>
              </a:spcAft>
            </a:pPr>
            <a:endParaRPr lang="en-US" kern="50" dirty="0">
              <a:latin typeface="Book Antiqua" panose="02040602050305030304" pitchFamily="18" charset="0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kern="50" dirty="0">
                <a:latin typeface="Book Antiqua" panose="0204060205030503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Родительские собрания: в школах часто проходят встречи с родителями, где обсуждают вопросы безопасного интернета</a:t>
            </a:r>
            <a:r>
              <a:rPr lang="en-US" kern="50" dirty="0">
                <a:latin typeface="Book Antiqua" panose="0204060205030503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.</a:t>
            </a:r>
          </a:p>
          <a:p>
            <a:pPr lvl="0" algn="just">
              <a:spcAft>
                <a:spcPts val="0"/>
              </a:spcAft>
            </a:pPr>
            <a:endParaRPr lang="en-US" kern="50" dirty="0">
              <a:latin typeface="Book Antiqua" panose="02040602050305030304" pitchFamily="18" charset="0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kern="50" dirty="0">
                <a:latin typeface="Book Antiqua" panose="0204060205030503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Программы и курсы: в рамках образовательных учреждений могут проводиться курсы по </a:t>
            </a:r>
            <a:r>
              <a:rPr lang="ru-RU" kern="50" dirty="0" err="1">
                <a:latin typeface="Book Antiqua" panose="0204060205030503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медиабезопасности</a:t>
            </a:r>
            <a:r>
              <a:rPr lang="ru-RU" kern="50" dirty="0">
                <a:latin typeface="Book Antiqua" panose="0204060205030503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 и информационным технологиям.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93B12D7-2DBD-4BC1-BEC9-7257E4C1B2BC}"/>
              </a:ext>
            </a:extLst>
          </p:cNvPr>
          <p:cNvSpPr/>
          <p:nvPr/>
        </p:nvSpPr>
        <p:spPr>
          <a:xfrm>
            <a:off x="6409508" y="2633895"/>
            <a:ext cx="5303519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kern="50" dirty="0">
                <a:latin typeface="Book Antiqua" panose="0204060205030503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Центры психологической помощи: важно, чтобы детям была доступна поддержка, если они сталкиваются с агрессией или травлей в интернете. </a:t>
            </a:r>
            <a:endParaRPr lang="en-US" kern="50" dirty="0">
              <a:latin typeface="Book Antiqua" panose="02040602050305030304" pitchFamily="18" charset="0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kern="50" dirty="0">
              <a:latin typeface="Book Antiqua" panose="02040602050305030304" pitchFamily="18" charset="0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kern="50" dirty="0">
                <a:latin typeface="Book Antiqua" panose="0204060205030503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Общественные организации: различные НКО также занимаются профилактикой угроз в интернете. </a:t>
            </a:r>
            <a:endParaRPr lang="en-US" kern="50" dirty="0">
              <a:latin typeface="Book Antiqua" panose="02040602050305030304" pitchFamily="18" charset="0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pPr lvl="0" algn="just">
              <a:spcAft>
                <a:spcPts val="0"/>
              </a:spcAft>
            </a:pPr>
            <a:endParaRPr lang="en-US" kern="50" dirty="0">
              <a:latin typeface="Book Antiqua" panose="02040602050305030304" pitchFamily="18" charset="0"/>
              <a:ea typeface="SimSun" panose="02010600030101010101" pitchFamily="2" charset="-122"/>
              <a:cs typeface="Mangal" panose="02040503050203030202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ru-RU" kern="50" dirty="0">
                <a:latin typeface="Book Antiqua" panose="0204060205030503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Программы профилактики и защиты: существуют программы, направленные на предупреждение вовлечения детей в экстремистскую деятельность</a:t>
            </a:r>
            <a:r>
              <a:rPr lang="en-US" kern="50" dirty="0">
                <a:latin typeface="Book Antiqua" panose="02040602050305030304" pitchFamily="18" charset="0"/>
                <a:ea typeface="SimSun" panose="02010600030101010101" pitchFamily="2" charset="-122"/>
                <a:cs typeface="Mangal" panose="02040503050203030202" pitchFamily="18" charset="0"/>
              </a:rPr>
              <a:t>.</a:t>
            </a:r>
            <a:endParaRPr lang="ru-RU" kern="50" dirty="0">
              <a:latin typeface="Book Antiqua" panose="02040602050305030304" pitchFamily="18" charset="0"/>
              <a:ea typeface="SimSun" panose="02010600030101010101" pitchFamily="2" charset="-122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20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1E6FEF0-4156-4E9E-BD1E-8BC452C8873D}"/>
              </a:ext>
            </a:extLst>
          </p:cNvPr>
          <p:cNvSpPr/>
          <p:nvPr/>
        </p:nvSpPr>
        <p:spPr>
          <a:xfrm>
            <a:off x="6794193" y="4162697"/>
            <a:ext cx="438954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Важной частью реализации законодательства является не только контроль со стороны государства и образовательных и социальных институтов, но и участие семьи.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5963262-022D-4058-807D-29AF7FD93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47" y="2078472"/>
            <a:ext cx="6125146" cy="1899867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F0F0F8A-1B99-4941-A9EE-84D917988589}"/>
              </a:ext>
            </a:extLst>
          </p:cNvPr>
          <p:cNvSpPr/>
          <p:nvPr/>
        </p:nvSpPr>
        <p:spPr>
          <a:xfrm>
            <a:off x="669047" y="440174"/>
            <a:ext cx="430278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sz="3200" b="1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Роль родительского </a:t>
            </a:r>
          </a:p>
          <a:p>
            <a:pPr algn="just">
              <a:spcAft>
                <a:spcPts val="0"/>
              </a:spcAft>
            </a:pPr>
            <a:r>
              <a:rPr lang="ru-RU" sz="3200" b="1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контроля</a:t>
            </a:r>
          </a:p>
        </p:txBody>
      </p:sp>
    </p:spTree>
    <p:extLst>
      <p:ext uri="{BB962C8B-B14F-4D97-AF65-F5344CB8AC3E}">
        <p14:creationId xmlns:p14="http://schemas.microsoft.com/office/powerpoint/2010/main" val="990894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77038C2-CEAC-4423-B6BD-868FB82DC251}"/>
              </a:ext>
            </a:extLst>
          </p:cNvPr>
          <p:cNvSpPr/>
          <p:nvPr/>
        </p:nvSpPr>
        <p:spPr>
          <a:xfrm>
            <a:off x="443989" y="511192"/>
            <a:ext cx="411074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49580" algn="just">
              <a:spcAft>
                <a:spcPts val="0"/>
              </a:spcAft>
            </a:pPr>
            <a:r>
              <a:rPr lang="ru-RU" sz="3200" b="1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Анализ судебной</a:t>
            </a:r>
            <a:endParaRPr lang="en-US" sz="3200" b="1" kern="50" dirty="0">
              <a:latin typeface="Book Antiqua" panose="0204060205030503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indent="449580" algn="just">
              <a:spcAft>
                <a:spcPts val="0"/>
              </a:spcAft>
            </a:pPr>
            <a:r>
              <a:rPr lang="ru-RU" sz="3200" b="1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практики</a:t>
            </a:r>
            <a:endParaRPr lang="ru-RU" sz="3200" kern="50" dirty="0">
              <a:latin typeface="Book Antiqua" panose="0204060205030503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ADBAE0B-9FBE-4AF6-ACC0-3A337E37A617}"/>
              </a:ext>
            </a:extLst>
          </p:cNvPr>
          <p:cNvSpPr/>
          <p:nvPr/>
        </p:nvSpPr>
        <p:spPr>
          <a:xfrm>
            <a:off x="3036025" y="3538075"/>
            <a:ext cx="640188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u="sng" dirty="0">
                <a:latin typeface="Book Antiqua" panose="02040602050305030304" pitchFamily="18" charset="0"/>
              </a:rPr>
              <a:t>Примеры судебных решений:</a:t>
            </a:r>
          </a:p>
          <a:p>
            <a:r>
              <a:rPr lang="ru-RU" sz="2000" dirty="0">
                <a:latin typeface="Book Antiqua" panose="02040602050305030304" pitchFamily="18" charset="0"/>
              </a:rPr>
              <a:t>1. </a:t>
            </a:r>
            <a:r>
              <a:rPr lang="ru-RU" sz="2000" dirty="0" err="1">
                <a:latin typeface="Book Antiqua" panose="02040602050305030304" pitchFamily="18" charset="0"/>
              </a:rPr>
              <a:t>Обязание</a:t>
            </a:r>
            <a:r>
              <a:rPr lang="ru-RU" sz="2000" dirty="0">
                <a:latin typeface="Book Antiqua" panose="02040602050305030304" pitchFamily="18" charset="0"/>
              </a:rPr>
              <a:t> Роскомнадзора блокировать сайты с насилием и порнографией.</a:t>
            </a:r>
          </a:p>
          <a:p>
            <a:r>
              <a:rPr lang="ru-RU" sz="2000" dirty="0">
                <a:latin typeface="Book Antiqua" panose="02040602050305030304" pitchFamily="18" charset="0"/>
              </a:rPr>
              <a:t>2. Наказания соцсетей за несоблюдение законов о защите детей.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084E3ED-3826-41D2-A61B-61533ADD5F24}"/>
              </a:ext>
            </a:extLst>
          </p:cNvPr>
          <p:cNvSpPr/>
          <p:nvPr/>
        </p:nvSpPr>
        <p:spPr>
          <a:xfrm>
            <a:off x="905256" y="5195276"/>
            <a:ext cx="984983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Book Antiqua" panose="02040602050305030304" pitchFamily="18" charset="0"/>
              </a:rPr>
              <a:t>Основная задача судов — принять решение, которое будет способствовать не только наказанию нарушителей, но и созданию прецедента, чтобы другие не повторяли ошибки.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EF71764-2626-4E32-AF56-160065FB7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256" y="1599083"/>
            <a:ext cx="936824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Судебная практика играет ключевую роль в применении законов о защите детей от вредной информации, определяя, как они работают в </a:t>
            </a:r>
            <a:r>
              <a:rPr lang="ru-RU" sz="2000" dirty="0">
                <a:latin typeface="Book Antiqua" panose="02040602050305030304" pitchFamily="18" charset="0"/>
              </a:rPr>
              <a:t>конкретных ситуациях.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В России уже есть решения по делам о блокировке опасных сайтов, распространении детской порнографии и ответственности за вредоносный онлайн-контент.</a:t>
            </a:r>
          </a:p>
        </p:txBody>
      </p:sp>
    </p:spTree>
    <p:extLst>
      <p:ext uri="{BB962C8B-B14F-4D97-AF65-F5344CB8AC3E}">
        <p14:creationId xmlns:p14="http://schemas.microsoft.com/office/powerpoint/2010/main" val="1476982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071B6EE-64B7-4F39-9B3D-515B3556D50F}"/>
              </a:ext>
            </a:extLst>
          </p:cNvPr>
          <p:cNvSpPr/>
          <p:nvPr/>
        </p:nvSpPr>
        <p:spPr>
          <a:xfrm>
            <a:off x="559511" y="506838"/>
            <a:ext cx="476797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49580" algn="just">
              <a:spcAft>
                <a:spcPts val="0"/>
              </a:spcAft>
            </a:pPr>
            <a:r>
              <a:rPr lang="ru-RU" sz="3200" b="1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Изучение реальных </a:t>
            </a:r>
            <a:endParaRPr lang="en-US" sz="3200" b="1" kern="50" dirty="0">
              <a:latin typeface="Book Antiqua" panose="0204060205030503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indent="449580" algn="just">
              <a:spcAft>
                <a:spcPts val="0"/>
              </a:spcAft>
            </a:pPr>
            <a:r>
              <a:rPr lang="ru-RU" sz="3200" b="1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примеров</a:t>
            </a:r>
            <a:endParaRPr lang="ru-RU" sz="3200" kern="50" dirty="0">
              <a:latin typeface="Book Antiqua" panose="0204060205030503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08EEEF1-590B-4FF7-AB95-E663DDB91779}"/>
              </a:ext>
            </a:extLst>
          </p:cNvPr>
          <p:cNvSpPr/>
          <p:nvPr/>
        </p:nvSpPr>
        <p:spPr>
          <a:xfrm>
            <a:off x="892630" y="2180790"/>
            <a:ext cx="757645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Book Antiqua" panose="02040602050305030304" pitchFamily="18" charset="0"/>
              </a:rPr>
              <a:t>📌 Блокировка опасного контента:</a:t>
            </a:r>
            <a:br>
              <a:rPr lang="ru-RU" dirty="0">
                <a:latin typeface="Book Antiqua" panose="02040602050305030304" pitchFamily="18" charset="0"/>
              </a:rPr>
            </a:br>
            <a:r>
              <a:rPr lang="ru-RU" dirty="0">
                <a:latin typeface="Book Antiqua" panose="02040602050305030304" pitchFamily="18" charset="0"/>
              </a:rPr>
              <a:t>Суд запретил группу в соцсети с призывами к насилию среди подростков. Сеть обязали удалить её и усилить модерацию.</a:t>
            </a:r>
          </a:p>
          <a:p>
            <a:endParaRPr lang="ru-RU" dirty="0">
              <a:latin typeface="Book Antiqua" panose="02040602050305030304" pitchFamily="18" charset="0"/>
            </a:endParaRPr>
          </a:p>
          <a:p>
            <a:r>
              <a:rPr lang="ru-RU" dirty="0">
                <a:latin typeface="Book Antiqua" panose="02040602050305030304" pitchFamily="18" charset="0"/>
              </a:rPr>
              <a:t>📌 Онлайн-груминг:</a:t>
            </a:r>
            <a:br>
              <a:rPr lang="ru-RU" dirty="0">
                <a:latin typeface="Book Antiqua" panose="02040602050305030304" pitchFamily="18" charset="0"/>
              </a:rPr>
            </a:br>
            <a:r>
              <a:rPr lang="ru-RU" dirty="0">
                <a:latin typeface="Book Antiqua" panose="02040602050305030304" pitchFamily="18" charset="0"/>
              </a:rPr>
              <a:t>Взрослый выдавал себя за подростка и убеждал ребёнка участвовать в опасных заданиях, угрожая разглашением личной информации.. Его осудили, сайт — заблокировали.</a:t>
            </a:r>
          </a:p>
          <a:p>
            <a:endParaRPr lang="ru-RU" dirty="0">
              <a:latin typeface="Book Antiqua" panose="02040602050305030304" pitchFamily="18" charset="0"/>
            </a:endParaRPr>
          </a:p>
          <a:p>
            <a:r>
              <a:rPr lang="ru-RU" dirty="0">
                <a:latin typeface="Book Antiqua" panose="02040602050305030304" pitchFamily="18" charset="0"/>
              </a:rPr>
              <a:t>📌 Утечка данных:</a:t>
            </a:r>
            <a:br>
              <a:rPr lang="ru-RU" dirty="0">
                <a:latin typeface="Book Antiqua" panose="02040602050305030304" pitchFamily="18" charset="0"/>
              </a:rPr>
            </a:br>
            <a:r>
              <a:rPr lang="ru-RU" dirty="0">
                <a:latin typeface="Book Antiqua" panose="02040602050305030304" pitchFamily="18" charset="0"/>
              </a:rPr>
              <a:t>Сеть не защитила личные данные несовершеннолетних. Суд обязал выплатить компенсацию и усилить безопасность.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CCE26B1-B50C-44B8-BC74-7F8660584945}"/>
              </a:ext>
            </a:extLst>
          </p:cNvPr>
          <p:cNvSpPr/>
          <p:nvPr/>
        </p:nvSpPr>
        <p:spPr>
          <a:xfrm>
            <a:off x="5327483" y="5566306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dirty="0">
                <a:latin typeface="Book Antiqua" panose="02040602050305030304" pitchFamily="18" charset="0"/>
              </a:rPr>
              <a:t>Эти примеры показывают, как суды защищают детей и применяют закон в цифровой среде.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600CF97-9359-4D89-88B3-2EA5361FAA26}"/>
              </a:ext>
            </a:extLst>
          </p:cNvPr>
          <p:cNvSpPr/>
          <p:nvPr/>
        </p:nvSpPr>
        <p:spPr>
          <a:xfrm>
            <a:off x="5094514" y="1260890"/>
            <a:ext cx="643345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Book Antiqua" panose="02040602050305030304" pitchFamily="18" charset="0"/>
              </a:rPr>
              <a:t>Чтобы лучше понять, как работает закон в жизни, важно рассмотреть конкретные ситуации из практики.</a:t>
            </a:r>
          </a:p>
        </p:txBody>
      </p:sp>
    </p:spTree>
    <p:extLst>
      <p:ext uri="{BB962C8B-B14F-4D97-AF65-F5344CB8AC3E}">
        <p14:creationId xmlns:p14="http://schemas.microsoft.com/office/powerpoint/2010/main" val="587188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192E9CF-E331-45D7-8799-E1F3EB6B2A6F}"/>
              </a:ext>
            </a:extLst>
          </p:cNvPr>
          <p:cNvSpPr/>
          <p:nvPr/>
        </p:nvSpPr>
        <p:spPr>
          <a:xfrm>
            <a:off x="5971505" y="283421"/>
            <a:ext cx="454409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atin typeface="Book Antiqua" panose="02040602050305030304" pitchFamily="18" charset="0"/>
              </a:rPr>
              <a:t>Недостатки</a:t>
            </a:r>
          </a:p>
          <a:p>
            <a:r>
              <a:rPr lang="ru-RU" sz="3200" b="1" dirty="0">
                <a:latin typeface="Book Antiqua" panose="02040602050305030304" pitchFamily="18" charset="0"/>
              </a:rPr>
              <a:t>существующего</a:t>
            </a:r>
          </a:p>
          <a:p>
            <a:r>
              <a:rPr lang="ru-RU" sz="3200" b="1" dirty="0">
                <a:latin typeface="Book Antiqua" panose="02040602050305030304" pitchFamily="18" charset="0"/>
              </a:rPr>
              <a:t>регулирования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4DC66E-AB0E-459E-A9B7-5CABB6482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8B42221-DD59-490C-A535-8F233601BA40}"/>
              </a:ext>
            </a:extLst>
          </p:cNvPr>
          <p:cNvSpPr/>
          <p:nvPr/>
        </p:nvSpPr>
        <p:spPr>
          <a:xfrm>
            <a:off x="5542002" y="2029851"/>
            <a:ext cx="553998" cy="4963493"/>
          </a:xfrm>
          <a:prstGeom prst="rect">
            <a:avLst/>
          </a:prstGeom>
        </p:spPr>
        <p:txBody>
          <a:bodyPr vert="vert" wrap="square">
            <a:spAutoFit/>
          </a:bodyPr>
          <a:lstStyle/>
          <a:p>
            <a:r>
              <a:rPr lang="ru-RU" sz="2400" b="1" dirty="0"/>
              <a:t>_____________________________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953F0D-A236-456F-B762-58B01A43DE18}"/>
              </a:ext>
            </a:extLst>
          </p:cNvPr>
          <p:cNvSpPr/>
          <p:nvPr/>
        </p:nvSpPr>
        <p:spPr>
          <a:xfrm>
            <a:off x="6096000" y="2170226"/>
            <a:ext cx="563444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Book Antiqua" panose="02040602050305030304" pitchFamily="18" charset="0"/>
              </a:rPr>
              <a:t>1. Недостаточная эффективность блокировки контента — существует проблема с тем, что не все вредоносные сайты удаётся заблокировать в кратчайшие сроки. </a:t>
            </a:r>
          </a:p>
          <a:p>
            <a:r>
              <a:rPr lang="ru-RU" dirty="0">
                <a:latin typeface="Book Antiqua" panose="02040602050305030304" pitchFamily="18" charset="0"/>
              </a:rPr>
              <a:t>2. Ограниченная доступность информации —в некоторых случаях образовательные учреждения и родительские сообщества не получают достаточной информации о новых угрозах.</a:t>
            </a:r>
          </a:p>
          <a:p>
            <a:r>
              <a:rPr lang="ru-RU" dirty="0">
                <a:latin typeface="Book Antiqua" panose="02040602050305030304" pitchFamily="18" charset="0"/>
              </a:rPr>
              <a:t>3. Регулированием цифровых платформ —  многие цифровые платформы не всегда соблюдают требования российского законодательства. </a:t>
            </a:r>
          </a:p>
          <a:p>
            <a:r>
              <a:rPr lang="ru-RU" dirty="0">
                <a:latin typeface="Book Antiqua" panose="02040602050305030304" pitchFamily="18" charset="0"/>
              </a:rPr>
              <a:t>4. Юридическая ответственность— законодательство не всегда чётко прописывает ответственность всех участников.</a:t>
            </a:r>
          </a:p>
        </p:txBody>
      </p:sp>
    </p:spTree>
    <p:extLst>
      <p:ext uri="{BB962C8B-B14F-4D97-AF65-F5344CB8AC3E}">
        <p14:creationId xmlns:p14="http://schemas.microsoft.com/office/powerpoint/2010/main" val="2267736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152E7BE-4377-4E8D-B037-CE9AF7DD6A37}"/>
              </a:ext>
            </a:extLst>
          </p:cNvPr>
          <p:cNvSpPr/>
          <p:nvPr/>
        </p:nvSpPr>
        <p:spPr>
          <a:xfrm>
            <a:off x="226421" y="421929"/>
            <a:ext cx="479362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49580" algn="just">
              <a:spcAft>
                <a:spcPts val="0"/>
              </a:spcAft>
            </a:pPr>
            <a:r>
              <a:rPr lang="ru-RU" sz="3200" b="1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Проблема контроля </a:t>
            </a:r>
            <a:endParaRPr lang="en-US" sz="3200" b="1" kern="50" dirty="0">
              <a:latin typeface="Book Antiqua" panose="0204060205030503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indent="449580" algn="just">
              <a:spcAft>
                <a:spcPts val="0"/>
              </a:spcAft>
            </a:pPr>
            <a:r>
              <a:rPr lang="ru-RU" sz="3200" b="1" kern="50" dirty="0">
                <a:latin typeface="Book Antiqua" panose="0204060205030503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соцсетей</a:t>
            </a:r>
            <a:endParaRPr lang="ru-RU" sz="3200" kern="50" dirty="0">
              <a:latin typeface="Book Antiqua" panose="02040602050305030304" pitchFamily="18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B486E3C-6A1F-4B9A-97CB-406AE7429B6C}"/>
              </a:ext>
            </a:extLst>
          </p:cNvPr>
          <p:cNvSpPr/>
          <p:nvPr/>
        </p:nvSpPr>
        <p:spPr>
          <a:xfrm>
            <a:off x="716279" y="1634757"/>
            <a:ext cx="549510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u="sng" dirty="0">
                <a:latin typeface="Book Antiqua" panose="02040602050305030304" pitchFamily="18" charset="0"/>
              </a:rPr>
              <a:t>1. </a:t>
            </a:r>
            <a:r>
              <a:rPr lang="ru-RU" u="sng" dirty="0">
                <a:latin typeface="Book Antiqua" panose="02040602050305030304" pitchFamily="18" charset="0"/>
              </a:rPr>
              <a:t>Анонимность</a:t>
            </a:r>
          </a:p>
          <a:p>
            <a:r>
              <a:rPr lang="ru-RU" dirty="0">
                <a:latin typeface="Book Antiqua" panose="02040602050305030304" pitchFamily="18" charset="0"/>
              </a:rPr>
              <a:t>Анонимность позволяет скрываться за фальшивыми профилями. Это затрудняет выявление распространителей опасного контента.</a:t>
            </a:r>
          </a:p>
          <a:p>
            <a:r>
              <a:rPr lang="en-US" u="sng" dirty="0">
                <a:latin typeface="Book Antiqua" panose="02040602050305030304" pitchFamily="18" charset="0"/>
              </a:rPr>
              <a:t>2. </a:t>
            </a:r>
            <a:r>
              <a:rPr lang="ru-RU" u="sng" dirty="0">
                <a:latin typeface="Book Antiqua" panose="02040602050305030304" pitchFamily="18" charset="0"/>
              </a:rPr>
              <a:t>Отсутствие контроля</a:t>
            </a:r>
          </a:p>
          <a:p>
            <a:r>
              <a:rPr lang="ru-RU" dirty="0">
                <a:latin typeface="Book Antiqua" panose="02040602050305030304" pitchFamily="18" charset="0"/>
              </a:rPr>
              <a:t>Не все соцсети тщательно проверяют контент пользователей. Это приводит к доступности опасного контента для детей.</a:t>
            </a:r>
          </a:p>
          <a:p>
            <a:r>
              <a:rPr lang="en-US" u="sng" dirty="0">
                <a:latin typeface="Book Antiqua" panose="02040602050305030304" pitchFamily="18" charset="0"/>
              </a:rPr>
              <a:t>3. </a:t>
            </a:r>
            <a:r>
              <a:rPr lang="ru-RU" u="sng" dirty="0">
                <a:latin typeface="Book Antiqua" panose="02040602050305030304" pitchFamily="18" charset="0"/>
              </a:rPr>
              <a:t>Вредные тренды</a:t>
            </a:r>
          </a:p>
          <a:p>
            <a:r>
              <a:rPr lang="ru-RU" dirty="0">
                <a:latin typeface="Book Antiqua" panose="02040602050305030304" pitchFamily="18" charset="0"/>
              </a:rPr>
              <a:t>Соцсети – источник вредных трендов, таких как опасные игры. Дети становятся частью сообществ без ведома родителей.</a:t>
            </a:r>
          </a:p>
          <a:p>
            <a:r>
              <a:rPr lang="en-US" u="sng" dirty="0">
                <a:latin typeface="Book Antiqua" panose="02040602050305030304" pitchFamily="18" charset="0"/>
              </a:rPr>
              <a:t>4. </a:t>
            </a:r>
            <a:r>
              <a:rPr lang="ru-RU" u="sng" dirty="0">
                <a:latin typeface="Book Antiqua" panose="02040602050305030304" pitchFamily="18" charset="0"/>
              </a:rPr>
              <a:t>Возрастная маркировка</a:t>
            </a:r>
          </a:p>
          <a:p>
            <a:r>
              <a:rPr lang="ru-RU" dirty="0">
                <a:latin typeface="Book Antiqua" panose="02040602050305030304" pitchFamily="18" charset="0"/>
              </a:rPr>
              <a:t>Не хватает чёткой возрастной маркировки контента. Дети сталкиваются с насилием и агрессией.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FA5A26-32C8-4615-88F2-FE972BE2E6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93" b="4037"/>
          <a:stretch/>
        </p:blipFill>
        <p:spPr>
          <a:xfrm>
            <a:off x="6640286" y="1499147"/>
            <a:ext cx="4343399" cy="448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133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EC646EA-9755-419A-9866-19DEBE595212}"/>
              </a:ext>
            </a:extLst>
          </p:cNvPr>
          <p:cNvSpPr/>
          <p:nvPr/>
        </p:nvSpPr>
        <p:spPr>
          <a:xfrm>
            <a:off x="3733986" y="1588224"/>
            <a:ext cx="58721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Усилить контроль над социальными сетями.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80F4D9A-A494-4997-8A1A-B6408E83D07E}"/>
              </a:ext>
            </a:extLst>
          </p:cNvPr>
          <p:cNvSpPr/>
          <p:nvPr/>
        </p:nvSpPr>
        <p:spPr>
          <a:xfrm>
            <a:off x="4726626" y="2200146"/>
            <a:ext cx="46458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Развивать цифровую грамотность.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6679B1B-DC61-4023-A682-BC12C8CBF27E}"/>
              </a:ext>
            </a:extLst>
          </p:cNvPr>
          <p:cNvSpPr/>
          <p:nvPr/>
        </p:nvSpPr>
        <p:spPr>
          <a:xfrm>
            <a:off x="4998145" y="3105834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Внедрить новые технологии для мониторинга контента.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DD4A480-863F-4E9E-9A77-D2E339EFFAC3}"/>
              </a:ext>
            </a:extLst>
          </p:cNvPr>
          <p:cNvSpPr/>
          <p:nvPr/>
        </p:nvSpPr>
        <p:spPr>
          <a:xfrm>
            <a:off x="4726626" y="4150023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Создать новые законы для регулирования интернет-культуры.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AE0A5E7-EA6B-4F89-AFED-83DBDB4E69A2}"/>
              </a:ext>
            </a:extLst>
          </p:cNvPr>
          <p:cNvSpPr/>
          <p:nvPr/>
        </p:nvSpPr>
        <p:spPr>
          <a:xfrm>
            <a:off x="3733986" y="5085111"/>
            <a:ext cx="56813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Book Antiqua" panose="02040602050305030304" pitchFamily="18" charset="0"/>
              </a:rPr>
              <a:t>Укрепить международное сотрудничество.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AA6C832-2D44-4736-86E1-22AA3FE20D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90" r="15790"/>
          <a:stretch/>
        </p:blipFill>
        <p:spPr>
          <a:xfrm>
            <a:off x="1097855" y="1706948"/>
            <a:ext cx="3628771" cy="3628771"/>
          </a:xfrm>
          <a:prstGeom prst="ellipse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F796F5F-2CBA-44C4-8BE4-627E50AD7168}"/>
              </a:ext>
            </a:extLst>
          </p:cNvPr>
          <p:cNvSpPr/>
          <p:nvPr/>
        </p:nvSpPr>
        <p:spPr>
          <a:xfrm>
            <a:off x="1077443" y="532711"/>
            <a:ext cx="36695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Book Antiqua" panose="02040602050305030304" pitchFamily="18" charset="0"/>
              </a:rPr>
              <a:t>Пути улучшения</a:t>
            </a:r>
          </a:p>
        </p:txBody>
      </p:sp>
    </p:spTree>
    <p:extLst>
      <p:ext uri="{BB962C8B-B14F-4D97-AF65-F5344CB8AC3E}">
        <p14:creationId xmlns:p14="http://schemas.microsoft.com/office/powerpoint/2010/main" val="765910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27876EA-AAAD-4B71-AF5D-3423DB14436E}"/>
              </a:ext>
            </a:extLst>
          </p:cNvPr>
          <p:cNvSpPr/>
          <p:nvPr/>
        </p:nvSpPr>
        <p:spPr>
          <a:xfrm>
            <a:off x="6239025" y="501134"/>
            <a:ext cx="50064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latin typeface="Book Antiqua" panose="02040602050305030304" pitchFamily="18" charset="0"/>
              </a:rPr>
              <a:t>Выводы и перспективы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1C2120E-E51E-4F35-94B6-C96D29E8F02D}"/>
              </a:ext>
            </a:extLst>
          </p:cNvPr>
          <p:cNvSpPr/>
          <p:nvPr/>
        </p:nvSpPr>
        <p:spPr>
          <a:xfrm>
            <a:off x="6239025" y="1448025"/>
            <a:ext cx="5833698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000" dirty="0">
                <a:latin typeface="Book Antiqua" panose="02040602050305030304" pitchFamily="18" charset="0"/>
              </a:rPr>
              <a:t>Российское законодательство в сфере защиты детей от вредной информации активно развивается. Однако проблемы  все еще остаются.</a:t>
            </a:r>
          </a:p>
          <a:p>
            <a:pPr lvl="0"/>
            <a:r>
              <a:rPr lang="ru-RU" sz="2000" dirty="0">
                <a:latin typeface="Book Antiqua" panose="02040602050305030304" pitchFamily="18" charset="0"/>
              </a:rPr>
              <a:t> </a:t>
            </a:r>
          </a:p>
          <a:p>
            <a:r>
              <a:rPr lang="ru-RU" sz="2000" dirty="0">
                <a:latin typeface="Book Antiqua" panose="02040602050305030304" pitchFamily="18" charset="0"/>
              </a:rPr>
              <a:t>Из-за быстрого развития интернета обеспечение реальной безопасности детей в интернете требует синергии всех участников — государства, частных компаний и общества в целом. </a:t>
            </a:r>
          </a:p>
          <a:p>
            <a:endParaRPr lang="ru-RU" sz="2000" dirty="0">
              <a:latin typeface="Book Antiqua" panose="02040602050305030304" pitchFamily="18" charset="0"/>
            </a:endParaRPr>
          </a:p>
          <a:p>
            <a:r>
              <a:rPr lang="ru-RU" sz="2000" dirty="0">
                <a:latin typeface="Book Antiqua" panose="02040602050305030304" pitchFamily="18" charset="0"/>
              </a:rPr>
              <a:t>Перспективы совершенствования законодательства и практики в области защиты детей от вредной информации направлены на более глубокую интеграцию новых технологий в процесс мониторинга и контроля.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9E474E0-4392-4B52-8835-9E8C6386C4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" t="1112" r="1"/>
          <a:stretch/>
        </p:blipFill>
        <p:spPr>
          <a:xfrm>
            <a:off x="0" y="0"/>
            <a:ext cx="59105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049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226BC1A-689D-43C6-8CFF-043024B57900}"/>
              </a:ext>
            </a:extLst>
          </p:cNvPr>
          <p:cNvSpPr/>
          <p:nvPr/>
        </p:nvSpPr>
        <p:spPr>
          <a:xfrm>
            <a:off x="4145280" y="2644170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4800" b="1" dirty="0">
                <a:latin typeface="Book Antiqua" panose="02040602050305030304" pitchFamily="18" charset="0"/>
              </a:rPr>
              <a:t>Спасибо за </a:t>
            </a:r>
          </a:p>
          <a:p>
            <a:r>
              <a:rPr lang="ru-RU" sz="4800" b="1" dirty="0">
                <a:latin typeface="Book Antiqua" panose="02040602050305030304" pitchFamily="18" charset="0"/>
              </a:rPr>
              <a:t>внимание!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18570802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1306</Words>
  <Application>Microsoft Office PowerPoint</Application>
  <PresentationFormat>Широкоэкранный</PresentationFormat>
  <Paragraphs>129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Arial</vt:lpstr>
      <vt:lpstr>Book Antiqua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Ульяна Середенко</dc:creator>
  <cp:lastModifiedBy>Ульяна Середенко</cp:lastModifiedBy>
  <cp:revision>21</cp:revision>
  <dcterms:created xsi:type="dcterms:W3CDTF">2025-04-08T16:08:53Z</dcterms:created>
  <dcterms:modified xsi:type="dcterms:W3CDTF">2025-04-11T04:30:13Z</dcterms:modified>
</cp:coreProperties>
</file>