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09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presentation-creation.ru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3339" y="2564904"/>
            <a:ext cx="11713301" cy="1728192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fld id="{03FA2ECA-0B23-40BE-9924-A6E871AE5038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fld id="{0A7C993B-910B-4666-96EC-68519416B5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000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917" y="45855"/>
            <a:ext cx="1010349" cy="757762"/>
          </a:xfrm>
          <a:prstGeom prst="rect">
            <a:avLst/>
          </a:prstGeom>
        </p:spPr>
      </p:pic>
      <p:sp>
        <p:nvSpPr>
          <p:cNvPr id="10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03FA2ECA-0B23-40BE-9924-A6E871AE5038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11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2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0A7C993B-910B-4666-96EC-68519416B5B8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0" y="437447"/>
            <a:ext cx="7920203" cy="11508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9" name="Текст 2"/>
          <p:cNvSpPr>
            <a:spLocks noGrp="1"/>
          </p:cNvSpPr>
          <p:nvPr>
            <p:ph idx="1"/>
          </p:nvPr>
        </p:nvSpPr>
        <p:spPr>
          <a:xfrm>
            <a:off x="0" y="1772816"/>
            <a:ext cx="12192000" cy="3960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774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03FA2ECA-0B23-40BE-9924-A6E871AE5038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0A7C993B-910B-4666-96EC-68519416B5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1371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27382" y="1999382"/>
            <a:ext cx="5664629" cy="4525963"/>
          </a:xfrm>
        </p:spPr>
        <p:txBody>
          <a:bodyPr/>
          <a:lstStyle>
            <a:lvl1pPr>
              <a:defRPr sz="28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1800">
                <a:solidFill>
                  <a:schemeClr val="tx2">
                    <a:lumMod val="7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88022" y="1999382"/>
            <a:ext cx="5664629" cy="4525963"/>
          </a:xfrm>
        </p:spPr>
        <p:txBody>
          <a:bodyPr/>
          <a:lstStyle>
            <a:lvl1pPr>
              <a:defRPr sz="28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1800">
                <a:solidFill>
                  <a:schemeClr val="tx2">
                    <a:lumMod val="7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03FA2ECA-0B23-40BE-9924-A6E871AE5038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0A7C993B-910B-4666-96EC-68519416B5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48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8748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502048"/>
            <a:ext cx="5386917" cy="3951288"/>
          </a:xfrm>
        </p:spPr>
        <p:txBody>
          <a:bodyPr/>
          <a:lstStyle>
            <a:lvl1pPr>
              <a:defRPr sz="24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7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925142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502048"/>
            <a:ext cx="5389033" cy="3951288"/>
          </a:xfrm>
        </p:spPr>
        <p:txBody>
          <a:bodyPr/>
          <a:lstStyle>
            <a:lvl1pPr>
              <a:defRPr sz="24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7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03FA2ECA-0B23-40BE-9924-A6E871AE5038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0A7C993B-910B-4666-96EC-68519416B5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38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03FA2ECA-0B23-40BE-9924-A6E871AE5038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0A7C993B-910B-4666-96EC-68519416B5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413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03FA2ECA-0B23-40BE-9924-A6E871AE5038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0A7C993B-910B-4666-96EC-68519416B5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43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513622"/>
            <a:ext cx="4011084" cy="921478"/>
          </a:xfrm>
        </p:spPr>
        <p:txBody>
          <a:bodyPr anchor="b"/>
          <a:lstStyle>
            <a:lvl1pPr algn="l">
              <a:defRPr sz="2000"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51851" y="1916833"/>
            <a:ext cx="6815667" cy="4353347"/>
          </a:xfrm>
        </p:spPr>
        <p:txBody>
          <a:bodyPr/>
          <a:lstStyle>
            <a:lvl1pPr>
              <a:defRPr sz="32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800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2400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2000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2000">
                <a:solidFill>
                  <a:schemeClr val="tx2">
                    <a:lumMod val="75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03FA2ECA-0B23-40BE-9924-A6E871AE5038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0A7C993B-910B-4666-96EC-68519416B5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2713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03FA2ECA-0B23-40BE-9924-A6E871AE5038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0A7C993B-910B-4666-96EC-68519416B5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328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03FA2ECA-0B23-40BE-9924-A6E871AE5038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0A7C993B-910B-4666-96EC-68519416B5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2315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03FA2ECA-0B23-40BE-9924-A6E871AE5038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0A7C993B-910B-4666-96EC-68519416B5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102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290F93-2408-F4F1-6636-BE8A1F436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268B47C-7F95-CDD6-4544-6274EBAD1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2D4882-7717-F2C6-BDDE-FAFFC726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A2ECA-0B23-40BE-9924-A6E871AE5038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4AABD1-50B4-8980-9DCC-0D67D2FDC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6AF9E7-E888-1AB6-9186-3D3EC465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C993B-910B-4666-96EC-68519416B5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7221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presentation-creation.ru/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37447"/>
            <a:ext cx="7920203" cy="11508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0" y="1772816"/>
            <a:ext cx="12192000" cy="3960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03FA2ECA-0B23-40BE-9924-A6E871AE5038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0A7C993B-910B-4666-96EC-68519416B5B8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5"/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917" y="45855"/>
            <a:ext cx="1010349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06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2">
              <a:lumMod val="75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5CC7EA-DE2D-9D7B-9555-9B1184476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76921"/>
          </a:xfrm>
        </p:spPr>
        <p:txBody>
          <a:bodyPr>
            <a:normAutofit fontScale="90000"/>
          </a:bodyPr>
          <a:lstStyle/>
          <a:p>
            <a:r>
              <a:rPr lang="ru-RU" sz="5300" b="1" dirty="0">
                <a:solidFill>
                  <a:srgbClr val="465E9C">
                    <a:lumMod val="75000"/>
                  </a:srgbClr>
                </a:solidFill>
                <a:latin typeface="Calibri"/>
              </a:rPr>
              <a:t>Программное обеспечение. </a:t>
            </a:r>
            <a:r>
              <a:rPr lang="ru-RU" sz="4000" b="1" dirty="0">
                <a:solidFill>
                  <a:srgbClr val="465E9C">
                    <a:lumMod val="75000"/>
                  </a:srgbClr>
                </a:solidFill>
                <a:latin typeface="Calibri"/>
              </a:rPr>
              <a:t>Лицензии, их виды. Условно свободное распространяемое ПО. Законодательство РФ. Мировая практика</a:t>
            </a:r>
            <a:endParaRPr lang="ru-RU" sz="4400" b="1" dirty="0">
              <a:solidFill>
                <a:srgbClr val="465E9C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9FD8F59E-EDA5-4A53-8248-4856A389A0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6363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117DE3-5FB1-E42D-11AD-1FE66806B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Программное обеспечение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5A0545-BF22-0C7E-80A7-737494C58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06" y="1772816"/>
            <a:ext cx="11283885" cy="396044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ru-RU" dirty="0"/>
              <a:t>	</a:t>
            </a:r>
            <a:r>
              <a:rPr lang="ru-RU" b="1" dirty="0"/>
              <a:t>Программное обеспечение (ПО) </a:t>
            </a:r>
            <a:r>
              <a:rPr lang="ru-RU" dirty="0"/>
              <a:t>—компьютерные программы  и  данные, предназначенные для решения определённого круга задач и хранящиеся на машинных носителях. Программное обеспечение представляет собой либо данные для использования в других программах, либо  алгоритм, реализованный в виде последовательности инструкций для  процессора.</a:t>
            </a:r>
          </a:p>
          <a:p>
            <a:pPr marL="0" indent="0" algn="just">
              <a:buNone/>
            </a:pPr>
            <a:r>
              <a:rPr lang="ru-RU" dirty="0"/>
              <a:t>	</a:t>
            </a:r>
            <a:r>
              <a:rPr lang="ru-RU" b="1" dirty="0"/>
              <a:t>Программой для ЭВМ </a:t>
            </a:r>
            <a:r>
              <a:rPr lang="ru-RU" dirty="0"/>
              <a:t>является представленная в объективной форме совокупность данных и команд, предназначенных для функционирования ЭВМ и других компьютерных устройств в целях получения определенного результата, включая подготовительные материалы, полученные в ходе разработки программы для ЭВМ, и порождаемые ею аудиовизуальные отображения.</a:t>
            </a:r>
          </a:p>
          <a:p>
            <a:pPr marL="0" indent="0" algn="just">
              <a:buNone/>
            </a:pPr>
            <a:r>
              <a:rPr lang="ru-RU" sz="2400" dirty="0"/>
              <a:t>Гражданский кодекс. Часть 4, статья 1261</a:t>
            </a:r>
          </a:p>
        </p:txBody>
      </p:sp>
    </p:spTree>
    <p:extLst>
      <p:ext uri="{BB962C8B-B14F-4D97-AF65-F5344CB8AC3E}">
        <p14:creationId xmlns:p14="http://schemas.microsoft.com/office/powerpoint/2010/main" val="3092043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117DE3-5FB1-E42D-11AD-1FE66806B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Программное обеспечение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5A0545-BF22-0C7E-80A7-737494C58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06" y="1772816"/>
            <a:ext cx="11283885" cy="3960440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ru-RU" dirty="0"/>
              <a:t>	Авторские права на все виды программ для ЭВМ, которые могут быть выражены на любом языке и в любой форме, включая исходный текст и объектный код, охраняются также, как авторские права на произведения литературы.</a:t>
            </a:r>
          </a:p>
          <a:p>
            <a:pPr marL="0" indent="0" algn="just">
              <a:buNone/>
            </a:pPr>
            <a:r>
              <a:rPr lang="ru-RU" sz="2300" dirty="0"/>
              <a:t>Гражданский кодекс. Часть 4, статья 1261</a:t>
            </a:r>
          </a:p>
          <a:p>
            <a:pPr marL="0" indent="0" algn="just">
              <a:buNone/>
            </a:pPr>
            <a:r>
              <a:rPr lang="ru-RU" dirty="0"/>
              <a:t>	Правообладатель в течение срока действия исключительного права на программу для ЭВМ или на базу данных может по своему желанию зарегистрировать такую программу или такую базу данных в федеральном органе исполнительной власти по интеллектуальной собственности.</a:t>
            </a:r>
          </a:p>
          <a:p>
            <a:pPr marL="0" indent="0" algn="just">
              <a:buNone/>
            </a:pPr>
            <a:r>
              <a:rPr lang="ru-RU" sz="2400" dirty="0"/>
              <a:t>Гражданский кодекс. Часть 4, статья 1262</a:t>
            </a:r>
            <a:endParaRPr lang="ru-RU" sz="1900" dirty="0"/>
          </a:p>
        </p:txBody>
      </p:sp>
    </p:spTree>
    <p:extLst>
      <p:ext uri="{BB962C8B-B14F-4D97-AF65-F5344CB8AC3E}">
        <p14:creationId xmlns:p14="http://schemas.microsoft.com/office/powerpoint/2010/main" val="2529949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117DE3-5FB1-E42D-11AD-1FE66806B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Лицензии и их виды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5A0545-BF22-0C7E-80A7-737494C58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06" y="1333500"/>
            <a:ext cx="11283885" cy="4800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000" dirty="0"/>
              <a:t>	По </a:t>
            </a:r>
            <a:r>
              <a:rPr lang="ru-RU" sz="2000" b="1" dirty="0"/>
              <a:t>лицензионному</a:t>
            </a:r>
            <a:r>
              <a:rPr lang="ru-RU" sz="2000" dirty="0"/>
              <a:t> договору одна сторона - обладатель исключительного права на результат интеллектуальной деятельности или на средство индивидуализации (</a:t>
            </a:r>
            <a:r>
              <a:rPr lang="ru-RU" sz="2000" b="1" dirty="0"/>
              <a:t>лицензиар</a:t>
            </a:r>
            <a:r>
              <a:rPr lang="ru-RU" sz="2000" dirty="0"/>
              <a:t>) предоставляет или обязуется предоставить другой стороне (</a:t>
            </a:r>
            <a:r>
              <a:rPr lang="ru-RU" sz="2000" b="1" dirty="0"/>
              <a:t>лицензиату</a:t>
            </a:r>
            <a:r>
              <a:rPr lang="ru-RU" sz="2000" dirty="0"/>
              <a:t>) право использования такого результата или такого средства в предусмотренных договором пределах.</a:t>
            </a:r>
          </a:p>
          <a:p>
            <a:pPr marL="0" indent="0" algn="just">
              <a:buNone/>
            </a:pPr>
            <a:r>
              <a:rPr lang="ru-RU" sz="2000" dirty="0"/>
              <a:t>Гражданский кодекс. Часть 4, статья 1235. </a:t>
            </a:r>
          </a:p>
          <a:p>
            <a:pPr marL="0" indent="0" algn="just">
              <a:buNone/>
            </a:pPr>
            <a:r>
              <a:rPr lang="ru-RU" sz="2000" dirty="0"/>
              <a:t>При письменном согласии лицензиара лицензиат может по договору предоставить</a:t>
            </a:r>
            <a:r>
              <a:rPr lang="en-US" sz="2000" dirty="0"/>
              <a:t> </a:t>
            </a:r>
            <a:r>
              <a:rPr lang="ru-RU" sz="2000" dirty="0"/>
              <a:t>право использования результата интеллектуальной деятельности или средства</a:t>
            </a:r>
            <a:r>
              <a:rPr lang="en-US" sz="2000" dirty="0"/>
              <a:t> </a:t>
            </a:r>
            <a:r>
              <a:rPr lang="ru-RU" sz="2000" dirty="0"/>
              <a:t>индивидуализации другому лицу (</a:t>
            </a:r>
            <a:r>
              <a:rPr lang="ru-RU" sz="2000" b="1" dirty="0" err="1"/>
              <a:t>сублицензионный</a:t>
            </a:r>
            <a:r>
              <a:rPr lang="ru-RU" sz="2000" dirty="0"/>
              <a:t> договор).</a:t>
            </a:r>
          </a:p>
          <a:p>
            <a:pPr marL="0" indent="0" algn="just">
              <a:buNone/>
            </a:pPr>
            <a:r>
              <a:rPr lang="ru-RU" sz="2000" dirty="0"/>
              <a:t>По </a:t>
            </a:r>
            <a:r>
              <a:rPr lang="ru-RU" sz="2000" b="1" dirty="0" err="1"/>
              <a:t>сублицензионному</a:t>
            </a:r>
            <a:r>
              <a:rPr lang="ru-RU" sz="2000" dirty="0"/>
              <a:t> договору сублицензиату могут быть предоставлены права</a:t>
            </a:r>
            <a:r>
              <a:rPr lang="en-US" sz="2000" dirty="0"/>
              <a:t> </a:t>
            </a:r>
            <a:r>
              <a:rPr lang="ru-RU" sz="2000" dirty="0"/>
              <a:t>использования результата интеллектуальной деятельности или средства</a:t>
            </a:r>
            <a:r>
              <a:rPr lang="en-US" sz="2000" dirty="0"/>
              <a:t> </a:t>
            </a:r>
            <a:r>
              <a:rPr lang="ru-RU" sz="2000" dirty="0"/>
              <a:t>индивидуализации только в пределах тех прав и тех способов использования, которые</a:t>
            </a:r>
            <a:r>
              <a:rPr lang="en-US" sz="2000" dirty="0"/>
              <a:t> </a:t>
            </a:r>
            <a:r>
              <a:rPr lang="ru-RU" sz="2000" dirty="0"/>
              <a:t>предусмотрены лицензионным договором для лицензиата.</a:t>
            </a:r>
          </a:p>
          <a:p>
            <a:pPr marL="0" indent="0" algn="just">
              <a:buNone/>
            </a:pPr>
            <a:r>
              <a:rPr lang="ru-RU" sz="2000" dirty="0"/>
              <a:t>Гражданский кодекс. Часть 4, статья 1238. </a:t>
            </a:r>
            <a:r>
              <a:rPr lang="ru-RU" sz="2000" dirty="0" err="1"/>
              <a:t>Сублицензионный</a:t>
            </a:r>
            <a:r>
              <a:rPr lang="ru-RU" sz="2000" dirty="0"/>
              <a:t> договор</a:t>
            </a:r>
          </a:p>
        </p:txBody>
      </p:sp>
    </p:spTree>
    <p:extLst>
      <p:ext uri="{BB962C8B-B14F-4D97-AF65-F5344CB8AC3E}">
        <p14:creationId xmlns:p14="http://schemas.microsoft.com/office/powerpoint/2010/main" val="203287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8E67F5-58E7-8531-1CBF-0883AC815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лицензий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C1C21E-5FCA-230B-2E5E-247465BDC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300" y="1772816"/>
            <a:ext cx="10765279" cy="3960440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30000"/>
              </a:lnSpc>
              <a:buFont typeface="Symbol" panose="05050102010706020507" pitchFamily="18" charset="2"/>
              <a:buChar char=""/>
            </a:pPr>
            <a:r>
              <a:rPr lang="ru-RU" sz="2400" dirty="0">
                <a:effectLst/>
                <a:latin typeface="+mj-lt"/>
                <a:ea typeface="Times New Roman" panose="02020603050405020304" pitchFamily="18" charset="0"/>
              </a:rPr>
              <a:t>предоставление лицензиату права использования результата интеллектуальной деятельности или средства индивидуализации с сохранением за лицензиаром права выдачи лицензий другим лицам </a:t>
            </a:r>
            <a:r>
              <a:rPr lang="ru-RU" sz="2400" b="1" dirty="0">
                <a:effectLst/>
                <a:latin typeface="+mj-lt"/>
                <a:ea typeface="Times New Roman" panose="02020603050405020304" pitchFamily="18" charset="0"/>
              </a:rPr>
              <a:t>(простая (неисключительная) лицензия)</a:t>
            </a:r>
            <a:r>
              <a:rPr lang="ru-RU" sz="2400" dirty="0">
                <a:effectLst/>
                <a:latin typeface="+mj-lt"/>
                <a:ea typeface="Times New Roman" panose="02020603050405020304" pitchFamily="18" charset="0"/>
              </a:rPr>
              <a:t>;</a:t>
            </a:r>
          </a:p>
          <a:p>
            <a:pPr marL="342900" lvl="0" indent="-342900" algn="just">
              <a:lnSpc>
                <a:spcPct val="130000"/>
              </a:lnSpc>
              <a:buFont typeface="Symbol" panose="05050102010706020507" pitchFamily="18" charset="2"/>
              <a:buChar char=""/>
            </a:pPr>
            <a:r>
              <a:rPr lang="ru-RU" sz="2400" dirty="0">
                <a:effectLst/>
                <a:latin typeface="+mj-lt"/>
                <a:ea typeface="Times New Roman" panose="02020603050405020304" pitchFamily="18" charset="0"/>
              </a:rPr>
              <a:t>предоставление лицензиату права использования результата интеллектуальной деятельности или средства индивидуализации без сохранения за лицензиаром права выдачи лицензий другим лицам </a:t>
            </a:r>
            <a:r>
              <a:rPr lang="ru-RU" sz="2400" b="1" dirty="0">
                <a:effectLst/>
                <a:latin typeface="+mj-lt"/>
                <a:ea typeface="Times New Roman" panose="02020603050405020304" pitchFamily="18" charset="0"/>
              </a:rPr>
              <a:t>(исключительная лицензия)</a:t>
            </a:r>
            <a:r>
              <a:rPr lang="ru-RU" sz="2400" dirty="0">
                <a:effectLst/>
                <a:latin typeface="+mj-lt"/>
                <a:ea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941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7544C4-CB4F-A926-896F-B79F6B53E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лицензий</a:t>
            </a:r>
          </a:p>
        </p:txBody>
      </p:sp>
      <p:pic>
        <p:nvPicPr>
          <p:cNvPr id="5" name="Объект 4" descr="Изображение выглядит как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102CC70C-AC2D-2F4E-A3A3-E9D905201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33" y="1773238"/>
            <a:ext cx="11580733" cy="3959225"/>
          </a:xfrm>
        </p:spPr>
      </p:pic>
    </p:spTree>
    <p:extLst>
      <p:ext uri="{BB962C8B-B14F-4D97-AF65-F5344CB8AC3E}">
        <p14:creationId xmlns:p14="http://schemas.microsoft.com/office/powerpoint/2010/main" val="217517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142FF0-D6C5-A94E-A20B-C768E1515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Условно свободное распространяемое ПО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8CC478-8ED8-C475-6784-31E8D7103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168" y="1772816"/>
            <a:ext cx="10624009" cy="3960440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	</a:t>
            </a:r>
            <a:r>
              <a:rPr lang="ru-RU" dirty="0" err="1"/>
              <a:t>Shareware</a:t>
            </a:r>
            <a:r>
              <a:rPr lang="ru-RU" dirty="0"/>
              <a:t> (или условно-бесплатные программы) – это коммерческое ПО с безвозмездным использованием. Но обычно функциональность таких программ ограничена:</a:t>
            </a:r>
          </a:p>
          <a:p>
            <a:pPr algn="just"/>
            <a:r>
              <a:rPr lang="ru-RU" dirty="0"/>
              <a:t>имеются функциональные ограничения (</a:t>
            </a:r>
            <a:r>
              <a:rPr lang="en-US" dirty="0"/>
              <a:t>demo);</a:t>
            </a:r>
          </a:p>
          <a:p>
            <a:pPr algn="just"/>
            <a:r>
              <a:rPr lang="ru-RU" dirty="0"/>
              <a:t>имеются временные ограничения </a:t>
            </a:r>
            <a:r>
              <a:rPr lang="en-US" dirty="0"/>
              <a:t>(trial).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172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616ABE-461C-A201-6AE8-92424F7FC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Условно свободное распространяемое ПО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4E9E2DE-44C5-B53A-6845-4E9413B52E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23029" y="2187811"/>
            <a:ext cx="5451805" cy="2482378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D5C78D-EE12-297E-EA2A-363BFF2AA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873" y="2154634"/>
            <a:ext cx="4926499" cy="25332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F28012-25D9-9A1B-954C-18A5430F334D}"/>
              </a:ext>
            </a:extLst>
          </p:cNvPr>
          <p:cNvSpPr txBox="1"/>
          <p:nvPr/>
        </p:nvSpPr>
        <p:spPr>
          <a:xfrm>
            <a:off x="1060516" y="4687862"/>
            <a:ext cx="4774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u="none" strike="noStrike" baseline="0" dirty="0">
                <a:latin typeface="Open Sans Light" panose="020B0306030504020204" pitchFamily="34" charset="0"/>
              </a:rPr>
              <a:t>Рисунок 1 — Окно о покупке </a:t>
            </a:r>
            <a:r>
              <a:rPr lang="en-US" sz="1800" b="0" i="0" u="none" strike="noStrike" baseline="0" dirty="0">
                <a:latin typeface="Open Sans Light" panose="020B0306030504020204" pitchFamily="34" charset="0"/>
              </a:rPr>
              <a:t>WinRAR 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8AF82-7F34-B8C8-93B3-F59F25126BC6}"/>
              </a:ext>
            </a:extLst>
          </p:cNvPr>
          <p:cNvSpPr txBox="1"/>
          <p:nvPr/>
        </p:nvSpPr>
        <p:spPr>
          <a:xfrm>
            <a:off x="6858553" y="4670189"/>
            <a:ext cx="4380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0" i="0" u="none" strike="noStrike" baseline="0" dirty="0">
                <a:latin typeface="Open Sans Light" panose="020B0306030504020204" pitchFamily="34" charset="0"/>
              </a:rPr>
              <a:t>Рисунок 2 — Окно </a:t>
            </a:r>
            <a:r>
              <a:rPr lang="ru-RU" dirty="0">
                <a:latin typeface="Open Sans Light" panose="020B0306030504020204" pitchFamily="34" charset="0"/>
              </a:rPr>
              <a:t>предложение о </a:t>
            </a:r>
            <a:r>
              <a:rPr lang="ru-RU" dirty="0" err="1">
                <a:latin typeface="Open Sans Light" panose="020B0306030504020204" pitchFamily="34" charset="0"/>
              </a:rPr>
              <a:t>триальной</a:t>
            </a:r>
            <a:r>
              <a:rPr lang="ru-RU" dirty="0">
                <a:latin typeface="Open Sans Light" panose="020B0306030504020204" pitchFamily="34" charset="0"/>
              </a:rPr>
              <a:t> версии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366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7C2D6C-EF89-D49B-8943-609EB9C35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Законодательство РФ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9E0A99-504B-1A02-C4F8-730162EDF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72816"/>
            <a:ext cx="10844463" cy="396044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ru-RU" dirty="0"/>
              <a:t>	Каждому гарантируется свобода литературного, художественного, научного, технического и других видов творчества, преподавания. Интеллектуальная собственность охраняется законом.</a:t>
            </a:r>
          </a:p>
          <a:p>
            <a:pPr marL="0" indent="0" algn="just">
              <a:buNone/>
            </a:pPr>
            <a:r>
              <a:rPr lang="ru-RU" sz="2400" dirty="0"/>
              <a:t>Конституция РФ (ст. 44)</a:t>
            </a:r>
          </a:p>
          <a:p>
            <a:pPr marL="0" indent="0" algn="just">
              <a:buNone/>
            </a:pPr>
            <a:r>
              <a:rPr lang="ru-RU" dirty="0"/>
              <a:t>	Определение авторского права (ст. 1255), лицензионного договора (ст. 1235-1238), программ для ЭВМ (ст. 1261), условия государственной регистрации (ст. 1261), определение интеллектуальных прав (ст. 1226), способы использования (ст. 1270) и т.д. содержатся в ГК РФ часть 4.</a:t>
            </a:r>
          </a:p>
          <a:p>
            <a:pPr marL="0" indent="0" algn="just">
              <a:buNone/>
            </a:pPr>
            <a:r>
              <a:rPr lang="ru-RU" dirty="0"/>
              <a:t>	ГОСТ Р 54593-2011 «Информационные технологии. Свободное программное обеспечение. Общие положения»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005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9B6B6F-33EE-0139-06CE-0057138FD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Законодательство РФ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282EB6-217B-579B-8B6F-5215EB610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936" y="1772816"/>
            <a:ext cx="10809899" cy="396044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/>
              <a:t>	КоАП РФ Статья 7.12. Нарушение авторских и смежных прав, изобретательских и патентных прав</a:t>
            </a:r>
          </a:p>
          <a:p>
            <a:pPr marL="0" indent="0" algn="just">
              <a:buNone/>
            </a:pPr>
            <a:r>
              <a:rPr lang="ru-RU" dirty="0"/>
              <a:t>	Штрафы за нарушение:</a:t>
            </a:r>
          </a:p>
          <a:p>
            <a:pPr algn="just"/>
            <a:r>
              <a:rPr lang="ru-RU" dirty="0"/>
              <a:t>на граждан от 1 до 2 тысяч рублей</a:t>
            </a:r>
            <a:r>
              <a:rPr lang="en-US" dirty="0"/>
              <a:t>;</a:t>
            </a:r>
            <a:endParaRPr lang="ru-RU" dirty="0"/>
          </a:p>
          <a:p>
            <a:pPr algn="just"/>
            <a:r>
              <a:rPr lang="ru-RU" dirty="0"/>
              <a:t>на должностных лиц от 10 до 20 тысяч рублей</a:t>
            </a:r>
            <a:r>
              <a:rPr lang="en-US" dirty="0"/>
              <a:t>;</a:t>
            </a:r>
          </a:p>
          <a:p>
            <a:pPr algn="just"/>
            <a:r>
              <a:rPr lang="ru-RU" dirty="0"/>
              <a:t>на юридических лиц от 30 до 40 тысяч рублей.</a:t>
            </a:r>
          </a:p>
          <a:p>
            <a:pPr algn="just"/>
            <a:endParaRPr lang="ru-RU" dirty="0"/>
          </a:p>
          <a:p>
            <a:pPr marL="0" indent="0" algn="just">
              <a:buNone/>
            </a:pPr>
            <a:r>
              <a:rPr lang="ru-RU" dirty="0"/>
              <a:t>	УК РФ Статья 146. Нарушение авторских и смежных прав</a:t>
            </a:r>
          </a:p>
        </p:txBody>
      </p:sp>
    </p:spTree>
    <p:extLst>
      <p:ext uri="{BB962C8B-B14F-4D97-AF65-F5344CB8AC3E}">
        <p14:creationId xmlns:p14="http://schemas.microsoft.com/office/powerpoint/2010/main" val="2044820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8A734-701C-F60F-F6AC-534B2DE71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Мировая практика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580F50-563D-EEF8-E82C-4CEC93FFF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884" y="1448780"/>
            <a:ext cx="11300640" cy="3960440"/>
          </a:xfrm>
        </p:spPr>
        <p:txBody>
          <a:bodyPr/>
          <a:lstStyle/>
          <a:p>
            <a:pPr algn="just"/>
            <a:r>
              <a:rPr lang="ru-RU" sz="3000" dirty="0"/>
              <a:t>DMCA (англ. Digital Millennium </a:t>
            </a:r>
            <a:r>
              <a:rPr lang="ru-RU" sz="3000" dirty="0" err="1"/>
              <a:t>Copyright</a:t>
            </a:r>
            <a:r>
              <a:rPr lang="ru-RU" sz="3000" dirty="0"/>
              <a:t> Act — Закон об авторском праве в цифровую эпоху) </a:t>
            </a:r>
          </a:p>
          <a:p>
            <a:pPr algn="just"/>
            <a:endParaRPr lang="ru-RU" sz="3000" dirty="0"/>
          </a:p>
          <a:p>
            <a:pPr algn="just"/>
            <a:endParaRPr lang="en-US" sz="3000" dirty="0"/>
          </a:p>
          <a:p>
            <a:pPr algn="just"/>
            <a:r>
              <a:rPr lang="ru-RU" sz="3000" dirty="0"/>
              <a:t>Директива 2001/29/ЕС Европейского парламента и Совета Европейского Союза «О гармонизации некоторых аспектов авторских и смежных прав в информационном обществе»</a:t>
            </a:r>
          </a:p>
        </p:txBody>
      </p:sp>
      <p:pic>
        <p:nvPicPr>
          <p:cNvPr id="5" name="Рисунок 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D1E530E9-49EE-A406-430E-4B17D70117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3" t="34778" r="8727" b="32702"/>
          <a:stretch/>
        </p:blipFill>
        <p:spPr>
          <a:xfrm>
            <a:off x="554476" y="2509736"/>
            <a:ext cx="3122579" cy="9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453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CE8BCFCC-DA7B-35A8-FB14-2A828C2F78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9202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18A274EF-2E01-D673-B311-CEF8EC2FF5CE}"/>
              </a:ext>
            </a:extLst>
          </p:cNvPr>
          <p:cNvSpPr txBox="1">
            <a:spLocks/>
          </p:cNvSpPr>
          <p:nvPr/>
        </p:nvSpPr>
        <p:spPr>
          <a:xfrm>
            <a:off x="7920203" y="4877780"/>
            <a:ext cx="4271797" cy="3960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u-RU" sz="2000" dirty="0"/>
              <a:t>*</a:t>
            </a:r>
            <a:r>
              <a:rPr lang="ru-RU" sz="1400" dirty="0">
                <a:solidFill>
                  <a:srgbClr val="11111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000" dirty="0"/>
              <a:t>Если нет письменного разрешения об использовании наименования продукта создателей лицензии.</a:t>
            </a:r>
            <a:br>
              <a:rPr lang="ru-RU" sz="2000" dirty="0"/>
            </a:br>
            <a:r>
              <a:rPr lang="ru-RU" sz="2000" dirty="0"/>
              <a:t>** В данном случае речь идет об исходном тексте.</a:t>
            </a:r>
          </a:p>
        </p:txBody>
      </p:sp>
      <p:pic>
        <p:nvPicPr>
          <p:cNvPr id="3" name="Рисунок 2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BEC1F90C-465D-00EA-B4DF-2915CFE3E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273" y="1424464"/>
            <a:ext cx="2875547" cy="143058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2CB5BC-8CA2-286E-A4F5-1FA14757AC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168" y="3535316"/>
            <a:ext cx="1993232" cy="930175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0D54CF9A-A21D-F150-28E1-33C05B9741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2400" y="3023670"/>
            <a:ext cx="1685489" cy="168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815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5218E7-A631-5AE7-4C88-2E72F0E13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источников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FDAD15-4DB6-A35E-7F3C-106D2198D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558" y="1772816"/>
            <a:ext cx="10690327" cy="3960440"/>
          </a:xfrm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ru-RU" sz="2400" dirty="0"/>
              <a:t>Гражданский кодекс РФ, часть 4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400" dirty="0"/>
              <a:t>Конституция РФ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400" dirty="0"/>
              <a:t>Административный кодекс РФ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400" dirty="0"/>
              <a:t>Уголовный кодекс РФ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400" dirty="0"/>
              <a:t>ГОСТ Р 54593-2011 «Информационные технологии. Свободное программное обеспечение. Общие положения»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400" dirty="0"/>
              <a:t>https://habr.com/ru/articles/275995/</a:t>
            </a:r>
          </a:p>
        </p:txBody>
      </p:sp>
    </p:spTree>
    <p:extLst>
      <p:ext uri="{BB962C8B-B14F-4D97-AF65-F5344CB8AC3E}">
        <p14:creationId xmlns:p14="http://schemas.microsoft.com/office/powerpoint/2010/main" val="4263216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1">
  <a:themeElements>
    <a:clrScheme name="Кнопка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94E05CAC-8B0F-4D3C-965B-BAF83786F332}" vid="{6F7799CF-7C0A-43D6-AF60-8D62FC3103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142</TotalTime>
  <Words>202</Words>
  <Application>Microsoft Office PowerPoint</Application>
  <PresentationFormat>Широкоэкранный</PresentationFormat>
  <Paragraphs>53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Open Sans Light</vt:lpstr>
      <vt:lpstr>Symbol</vt:lpstr>
      <vt:lpstr>Times New Roman</vt:lpstr>
      <vt:lpstr>Тема1</vt:lpstr>
      <vt:lpstr>Программное обеспечение. Лицензии, их виды. Условно свободное распространяемое ПО. Законодательство РФ. Мировая практика</vt:lpstr>
      <vt:lpstr>Программное обеспечение</vt:lpstr>
      <vt:lpstr>Программное обеспечение</vt:lpstr>
      <vt:lpstr>Лицензии и их виды</vt:lpstr>
      <vt:lpstr>Виды лицензий</vt:lpstr>
      <vt:lpstr>Виды лицензий</vt:lpstr>
      <vt:lpstr>Условно свободное распространяемое ПО</vt:lpstr>
      <vt:lpstr>Условно свободное распространяемое ПО</vt:lpstr>
      <vt:lpstr>Законодательство РФ</vt:lpstr>
      <vt:lpstr>Законодательство РФ</vt:lpstr>
      <vt:lpstr>Мировая практика</vt:lpstr>
      <vt:lpstr>Презентация PowerPoint</vt:lpstr>
      <vt:lpstr>Список источников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Программное обеспечение. Лицензии, их виды. Условно свободное распространяемое ПО. Законодательство РФ. Мировая практика</dc:title>
  <dc:creator>Ташкова Анна Юрьевна</dc:creator>
  <cp:lastModifiedBy>Маша Шабалкина</cp:lastModifiedBy>
  <cp:revision>4</cp:revision>
  <dcterms:created xsi:type="dcterms:W3CDTF">2023-04-13T22:17:23Z</dcterms:created>
  <dcterms:modified xsi:type="dcterms:W3CDTF">2025-06-15T23:00:33Z</dcterms:modified>
</cp:coreProperties>
</file>