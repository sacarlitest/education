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3" r:id="rId2"/>
    <p:sldId id="278" r:id="rId3"/>
    <p:sldId id="267" r:id="rId4"/>
    <p:sldId id="257" r:id="rId5"/>
    <p:sldId id="266" r:id="rId6"/>
    <p:sldId id="275" r:id="rId7"/>
    <p:sldId id="259" r:id="rId8"/>
    <p:sldId id="276" r:id="rId9"/>
    <p:sldId id="260" r:id="rId10"/>
    <p:sldId id="263" r:id="rId11"/>
    <p:sldId id="265" r:id="rId12"/>
    <p:sldId id="261" r:id="rId13"/>
    <p:sldId id="264" r:id="rId14"/>
    <p:sldId id="277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5F1"/>
    <a:srgbClr val="FF93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E43B00-FE12-45B0-97AA-0EB11542C742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E68E3C-7611-41AA-A95C-89FD48C8CD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033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68E3C-7611-41AA-A95C-89FD48C8CD3D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751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C98485-40D0-410C-8295-B4CDA6C88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42F9E2-D3D6-41DE-AECE-26519D3177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2388B2-7682-47BA-9C6B-3A8E16B71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2294-1863-4316-97B9-33BA200827A4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6496A3-9186-4041-BBB5-4FB79D91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4C601E-76F8-42EE-BC00-B75D3FD91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8B7F6-5B34-43F5-8195-B82789A893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5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C5E1A-308B-44A2-A82D-1EE7BC8AB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F8D830-2D01-4858-8727-695052152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9E3897-9F95-4504-91C3-C629439C8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2294-1863-4316-97B9-33BA200827A4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22F3FB-2FAC-424E-BAC7-37C5E7C9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0A76B2-D619-43D7-965C-E919F51C5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8B7F6-5B34-43F5-8195-B82789A893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35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222B0-B200-4B6A-806C-3FAFDE382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60A3C4-E96A-44AA-BFEF-54F4DC121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97418E-1496-4AF1-B7C5-17E52DCC4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2294-1863-4316-97B9-33BA200827A4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EC9F27-631A-4EBB-9460-85C2A9604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8E2AA0-D373-40FC-B8E0-7260421D0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8B7F6-5B34-43F5-8195-B82789A893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746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F45D2-D6D1-4E9B-91B7-ECEB9A580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483BC9-7DAF-4190-83A4-529F8C765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191CC5-DF2E-46E9-BF39-97B92361D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1D5C95-72D7-4744-ACDD-05E5193C5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2294-1863-4316-97B9-33BA200827A4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A61507-4F4C-458A-B598-F3B68D74D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B809CF-8482-4D2E-BB96-E76C1065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8B7F6-5B34-43F5-8195-B82789A893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548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E20D8D-55F4-4921-83EA-AA98B9882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904B8C-5463-414B-B65A-80AD7EB63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484DD85-B888-4439-9B8E-AAA62481D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821047A-2C55-42C8-B22A-D6824AA4FE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7D4856C-1D78-4E23-BC1D-0FE5C6F1D6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A82CBAF-2060-4A6F-A3AA-92EBBDF07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2294-1863-4316-97B9-33BA200827A4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9B29F74-E431-4F68-A10B-62641EB1F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34AE771-2410-4DD8-8DD6-D02CB9098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8B7F6-5B34-43F5-8195-B82789A893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307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5C4AD-81D2-4D8D-AF74-555BEC430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997DED9-3DDC-4E4B-A4AC-E0385470E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2294-1863-4316-97B9-33BA200827A4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12354C3-33A1-4C21-AC88-FA4138EBE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8B4481-FCAD-404C-9ACD-41B77FC2E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8B7F6-5B34-43F5-8195-B82789A893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126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5A3513D-1190-4F3C-87E4-FD94C5E2C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2294-1863-4316-97B9-33BA200827A4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79C2A43-4F31-4D95-B7FE-5E8986A1F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772C60-A691-4830-9EF8-9875DE98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8B7F6-5B34-43F5-8195-B82789A893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906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C1E3C-ACAF-4503-92C4-EEAD6974A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3AA457-B735-49E1-9988-BC6485551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6854B0-8561-4E64-BE44-3D379E7DF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EBA976-31C0-445A-A583-A54166892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2294-1863-4316-97B9-33BA200827A4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D87425-259B-45A8-B434-74A55377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F0D9B9-907B-47AF-A687-50E0F6103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8B7F6-5B34-43F5-8195-B82789A893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9379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C2AB3A-275E-4649-9557-872B466E3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EEBF006-893D-4A43-BB2F-8044C402C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C7A72E4-B55C-4E33-8E8A-692D60304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79DF3B-1566-44FF-BD1D-E7822F6AC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2294-1863-4316-97B9-33BA200827A4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EF41CB-8EDD-469A-8D58-70A56458F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8900C-BF9C-4A74-989F-265184E3B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8B7F6-5B34-43F5-8195-B82789A893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173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E8F6AE-23E4-471F-8BCC-EEA338150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55D0EB-5E6B-41EC-8934-652553440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96D62D-CF73-4579-B6EB-CA20DC94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2294-1863-4316-97B9-33BA200827A4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F71F30-AEF8-4956-95F5-788C4FF97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86A6A5-6811-4434-88AD-AB5346EA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8B7F6-5B34-43F5-8195-B82789A893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335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A7AD18F-05EA-4FAE-9DC7-8B37422E4C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DEA463-06B6-401B-B935-4E5796331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BBF737-A1CE-413D-9A90-E48E466F3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2294-1863-4316-97B9-33BA200827A4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4CA906-187C-481B-A314-4BCC2DD26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BB94C4-4CE2-47D6-BFD3-DFFDA648F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8B7F6-5B34-43F5-8195-B82789A893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76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356518-8BFC-4593-84F6-BC720B253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E507F6-0AD8-418A-A97A-04C4AB13C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8FE85B-71A1-434C-B1C4-841168A29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82294-1863-4316-97B9-33BA200827A4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9FF403-E54D-4B0B-9CAE-031C49FF4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90E001-802C-4D97-A26C-E086727F8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8B7F6-5B34-43F5-8195-B82789A893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890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51F46F-D058-4510-99CF-5CE9ED9CD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862" y="244403"/>
            <a:ext cx="9411129" cy="1278740"/>
          </a:xfrm>
        </p:spPr>
        <p:txBody>
          <a:bodyPr>
            <a:normAutofit/>
          </a:bodyPr>
          <a:lstStyle/>
          <a:p>
            <a:pPr algn="ctr"/>
            <a:r>
              <a:rPr lang="ru-RU" sz="1600" b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Минобранауки</a:t>
            </a:r>
            <a:r>
              <a:rPr lang="ru-RU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 России </a:t>
            </a:r>
            <a:b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</a:br>
            <a:b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</a:br>
            <a:r>
              <a:rPr lang="ru-RU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Федеральное государственное бюджетное образовательное учреждение высшего образования Санкт-Петербургский государственный технологический институт (технический университет)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9DB947-25D8-41FB-AA3B-92D783EB5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43865" y="1723855"/>
            <a:ext cx="9544692" cy="15508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Направление подготовки 09.03.03 «Прикладная информатика» </a:t>
            </a:r>
          </a:p>
          <a:p>
            <a:pPr marL="0" indent="0">
              <a:buNone/>
            </a:pPr>
            <a:r>
              <a:rPr lang="ru-RU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Направленность образовательной программы «Прикладная информатика в химии» </a:t>
            </a:r>
          </a:p>
          <a:p>
            <a:pPr marL="0" indent="0">
              <a:buNone/>
            </a:pPr>
            <a:r>
              <a:rPr lang="ru-RU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Факультет информационных технологий и управления </a:t>
            </a:r>
          </a:p>
          <a:p>
            <a:pPr marL="0" indent="0">
              <a:buNone/>
            </a:pPr>
            <a:r>
              <a:rPr lang="ru-RU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Кафедра систем автоматизированного проектирования и управления 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1CC6D0-79C8-48E3-BD6F-50161FCA9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78703" y="3259926"/>
            <a:ext cx="10141449" cy="17367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Доклад по дисциплине «Правовые основы информатики»</a:t>
            </a:r>
          </a:p>
          <a:p>
            <a:pPr marL="0" indent="0" algn="ctr">
              <a:buNone/>
            </a:pPr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Законы о СМИ. Законодательство, классификация. Психология влияния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140B33D6-B550-46E1-AE26-9E3EF2B30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688060"/>
              </p:ext>
            </p:extLst>
          </p:nvPr>
        </p:nvGraphicFramePr>
        <p:xfrm>
          <a:off x="0" y="4404098"/>
          <a:ext cx="12192000" cy="1550827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029219">
                  <a:extLst>
                    <a:ext uri="{9D8B030D-6E8A-4147-A177-3AD203B41FA5}">
                      <a16:colId xmlns:a16="http://schemas.microsoft.com/office/drawing/2014/main" val="2006387238"/>
                    </a:ext>
                  </a:extLst>
                </a:gridCol>
                <a:gridCol w="6162781">
                  <a:extLst>
                    <a:ext uri="{9D8B030D-6E8A-4147-A177-3AD203B41FA5}">
                      <a16:colId xmlns:a16="http://schemas.microsoft.com/office/drawing/2014/main" val="4198484977"/>
                    </a:ext>
                  </a:extLst>
                </a:gridCol>
              </a:tblGrid>
              <a:tr h="1008038">
                <a:tc>
                  <a:txBody>
                    <a:bodyPr/>
                    <a:lstStyle/>
                    <a:p>
                      <a:pPr algn="l"/>
                      <a:r>
                        <a:rPr lang="ru-RU" b="0" dirty="0"/>
                        <a:t>Обучающаяся 415 группы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Шабалкина Мария Михайловна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044638"/>
                  </a:ext>
                </a:extLst>
              </a:tr>
              <a:tr h="542789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Руководитель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Кузнецова Галина Викторовна</a:t>
                      </a:r>
                      <a:endParaRPr lang="ru-RU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01202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9A36D9C-0883-47AB-8C93-7E66CEDF4766}"/>
              </a:ext>
            </a:extLst>
          </p:cNvPr>
          <p:cNvSpPr txBox="1"/>
          <p:nvPr/>
        </p:nvSpPr>
        <p:spPr>
          <a:xfrm>
            <a:off x="5154515" y="6428931"/>
            <a:ext cx="2389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Санкт-Петербург, 2024</a:t>
            </a:r>
          </a:p>
        </p:txBody>
      </p:sp>
      <p:pic>
        <p:nvPicPr>
          <p:cNvPr id="1026" name="Picture 2" descr="Санкт-Петербургский государственный технологический институт (СПбГТИ) |  EDU-inform">
            <a:extLst>
              <a:ext uri="{FF2B5EF4-FFF2-40B4-BE49-F238E27FC236}">
                <a16:creationId xmlns:a16="http://schemas.microsoft.com/office/drawing/2014/main" id="{886B94A8-3784-437F-A2F6-78B6E7A26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37" y="445115"/>
            <a:ext cx="1550827" cy="155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84B99B3-E934-45FB-9516-D0BA3B755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108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BE6B83-58E3-43EF-9552-3E8607018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7" y="1347537"/>
            <a:ext cx="6962518" cy="5150988"/>
          </a:xfrm>
        </p:spPr>
        <p:txBody>
          <a:bodyPr>
            <a:no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Закон Российской Федерации «О средствах массовой информации» от 27.12.1991 № 2124-1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 — это нормативно-правовой акт, который регулирует отношения между участниками производства массовой информации в России.</a:t>
            </a:r>
            <a:b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Закон устанавливает: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запрет цензуры;</a:t>
            </a:r>
            <a:b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создание юридических возможностей для учреждения и регистрации не зависящих от государства и политических партий газет, журналов, теле- и радиопрограмм, агентств новостей.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Закон состоит из 7 глав, включающих в себя 62 статьи.</a:t>
            </a:r>
            <a:b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19570F2-A192-4084-9FFA-66086AD56F08}"/>
              </a:ext>
            </a:extLst>
          </p:cNvPr>
          <p:cNvSpPr/>
          <p:nvPr/>
        </p:nvSpPr>
        <p:spPr>
          <a:xfrm>
            <a:off x="8461309" y="5338483"/>
            <a:ext cx="32657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Кто регулирует деятельность СМИ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</a:p>
          <a:p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Роскомнадзор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0237780-ECFD-497A-8455-F7F6BB86280D}"/>
              </a:ext>
            </a:extLst>
          </p:cNvPr>
          <p:cNvSpPr/>
          <p:nvPr/>
        </p:nvSpPr>
        <p:spPr>
          <a:xfrm>
            <a:off x="8461309" y="3429000"/>
            <a:ext cx="3030815" cy="1544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В каком году принят закон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Закон Российской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Федерации от 27 декабря 1991 года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1BD60FE-D2E4-46E7-A32A-380A3D6E5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309" y="332874"/>
            <a:ext cx="2578768" cy="257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57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F2AEFB-9B3D-4134-9A38-6B2849EF1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105312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ru-RU" sz="3600" dirty="0">
                <a:latin typeface="Verdana" panose="020B0604030504040204" pitchFamily="34" charset="0"/>
                <a:ea typeface="Verdana" panose="020B0604030504040204" pitchFamily="34" charset="0"/>
              </a:rPr>
              <a:t>Что такое СМИ</a:t>
            </a: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ru-RU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22850E-DBA1-482D-89F3-E56484FF3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0967" y="1779494"/>
            <a:ext cx="6694305" cy="3716237"/>
          </a:xfrm>
        </p:spPr>
        <p:txBody>
          <a:bodyPr>
            <a:normAutofit/>
          </a:bodyPr>
          <a:lstStyle/>
          <a:p>
            <a:pPr algn="just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СМИ (англ.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mass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media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) - в Российской Федерации периодическое печатное издание, радио-, теле-, видеопрограмма, кинохроникальная программа, иная форма периодического распространения массовой информации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D8E474-EEFC-4045-87D8-ED09751E9F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95" t="31813" r="56842" b="12748"/>
          <a:stretch/>
        </p:blipFill>
        <p:spPr>
          <a:xfrm>
            <a:off x="0" y="2053389"/>
            <a:ext cx="4620126" cy="439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00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4E75B9-2619-458B-8003-630171D2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725738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	</a:t>
            </a:r>
            <a:r>
              <a:rPr lang="ru-RU" sz="3600" dirty="0">
                <a:latin typeface="Verdana" panose="020B0604030504040204" pitchFamily="34" charset="0"/>
                <a:ea typeface="Verdana" panose="020B0604030504040204" pitchFamily="34" charset="0"/>
              </a:rPr>
              <a:t>Какие виды СМИ бывают</a:t>
            </a: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D5061BC-31E1-43FF-B361-ED99881AE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716" y="1555123"/>
            <a:ext cx="6160170" cy="4733174"/>
          </a:xfrm>
        </p:spPr>
        <p:txBody>
          <a:bodyPr>
            <a:normAutofit fontScale="70000" lnSpcReduction="20000"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 форме собственности (государственные, частные,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корпоративные);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 жанрам (общественно-политические,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отраслевые, рекламные и т.д.)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 стилю (серьезные, бульварные или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массовые, желтые или скандальные и т.д.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 периодичности ( ежедневные и еженедельники);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 широте распространения (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центральне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и региональные).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Печатные (газета, журнал, альманах,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бюллетень)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;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Электронные (ТВ и радио);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Интернет-СМИ (электронные газеты,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журналы, сайты, должным образом зарегистрированные)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050" name="Picture 2" descr="https://i.pinimg.com/564x/eb/20/3b/eb203b1169cbe13541f1b5b9efbc27e7.jpg">
            <a:extLst>
              <a:ext uri="{FF2B5EF4-FFF2-40B4-BE49-F238E27FC236}">
                <a16:creationId xmlns:a16="http://schemas.microsoft.com/office/drawing/2014/main" id="{1F20FB55-E29F-4D9F-A5D3-BAA44BA98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686" y="1696620"/>
            <a:ext cx="4127598" cy="445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143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6216147F-1885-4CAF-B994-5CE03B6EA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220" y="953890"/>
            <a:ext cx="9145560" cy="5416749"/>
          </a:xfrm>
        </p:spPr>
      </p:pic>
      <p:sp>
        <p:nvSpPr>
          <p:cNvPr id="4" name="AutoShape 2" descr="https://studme.org/imag/manag/sal_repm/image010.jpg">
            <a:extLst>
              <a:ext uri="{FF2B5EF4-FFF2-40B4-BE49-F238E27FC236}">
                <a16:creationId xmlns:a16="http://schemas.microsoft.com/office/drawing/2014/main" id="{0BFF2635-CC12-4C5F-853A-84A65BCB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F6A83E2-E62B-4CA7-A32B-9378DEEB7335}"/>
              </a:ext>
            </a:extLst>
          </p:cNvPr>
          <p:cNvSpPr/>
          <p:nvPr/>
        </p:nvSpPr>
        <p:spPr>
          <a:xfrm>
            <a:off x="0" y="220664"/>
            <a:ext cx="12192000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Классификация СМИ 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252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96">
            <a:extLst>
              <a:ext uri="{FF2B5EF4-FFF2-40B4-BE49-F238E27FC236}">
                <a16:creationId xmlns:a16="http://schemas.microsoft.com/office/drawing/2014/main" id="{94ED8A0C-985A-42E7-84C0-352BCC9FC64C}"/>
              </a:ext>
            </a:extLst>
          </p:cNvPr>
          <p:cNvSpPr/>
          <p:nvPr/>
        </p:nvSpPr>
        <p:spPr>
          <a:xfrm>
            <a:off x="759340" y="1161262"/>
            <a:ext cx="3404365" cy="587415"/>
          </a:xfrm>
          <a:prstGeom prst="roundRect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Учредителем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СМИ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может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быть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/>
            </a:endParaRPr>
          </a:p>
        </p:txBody>
      </p:sp>
      <p:sp>
        <p:nvSpPr>
          <p:cNvPr id="8" name="Shape 198">
            <a:extLst>
              <a:ext uri="{FF2B5EF4-FFF2-40B4-BE49-F238E27FC236}">
                <a16:creationId xmlns:a16="http://schemas.microsoft.com/office/drawing/2014/main" id="{40E84BBA-2163-491E-96F6-9EA0D3E086A0}"/>
              </a:ext>
            </a:extLst>
          </p:cNvPr>
          <p:cNvSpPr/>
          <p:nvPr/>
        </p:nvSpPr>
        <p:spPr>
          <a:xfrm>
            <a:off x="4531083" y="1140839"/>
            <a:ext cx="3404365" cy="587415"/>
          </a:xfrm>
          <a:prstGeom prst="roundRect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Издателем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СМИ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может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быть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/>
            </a:endParaRPr>
          </a:p>
        </p:txBody>
      </p:sp>
      <p:sp>
        <p:nvSpPr>
          <p:cNvPr id="9" name="Shape 199">
            <a:extLst>
              <a:ext uri="{FF2B5EF4-FFF2-40B4-BE49-F238E27FC236}">
                <a16:creationId xmlns:a16="http://schemas.microsoft.com/office/drawing/2014/main" id="{47E6E07F-CA98-45E9-8873-4282CDBDB480}"/>
              </a:ext>
            </a:extLst>
          </p:cNvPr>
          <p:cNvSpPr/>
          <p:nvPr/>
        </p:nvSpPr>
        <p:spPr>
          <a:xfrm>
            <a:off x="759340" y="1946158"/>
            <a:ext cx="3404365" cy="504055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Гражданин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/>
            </a:endParaRPr>
          </a:p>
        </p:txBody>
      </p:sp>
      <p:sp>
        <p:nvSpPr>
          <p:cNvPr id="10" name="Shape 200">
            <a:extLst>
              <a:ext uri="{FF2B5EF4-FFF2-40B4-BE49-F238E27FC236}">
                <a16:creationId xmlns:a16="http://schemas.microsoft.com/office/drawing/2014/main" id="{6B748DEA-99D9-4FD0-9BD5-2A64D8FC7A01}"/>
              </a:ext>
            </a:extLst>
          </p:cNvPr>
          <p:cNvSpPr/>
          <p:nvPr/>
        </p:nvSpPr>
        <p:spPr>
          <a:xfrm>
            <a:off x="759340" y="2669206"/>
            <a:ext cx="3404365" cy="1101956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Объединение граждан (соучредительство либо зарегистрированное объединение)</a:t>
            </a:r>
          </a:p>
        </p:txBody>
      </p:sp>
      <p:sp>
        <p:nvSpPr>
          <p:cNvPr id="11" name="Shape 201">
            <a:extLst>
              <a:ext uri="{FF2B5EF4-FFF2-40B4-BE49-F238E27FC236}">
                <a16:creationId xmlns:a16="http://schemas.microsoft.com/office/drawing/2014/main" id="{01407304-31FA-433B-A8EE-1F154B094817}"/>
              </a:ext>
            </a:extLst>
          </p:cNvPr>
          <p:cNvSpPr/>
          <p:nvPr/>
        </p:nvSpPr>
        <p:spPr>
          <a:xfrm>
            <a:off x="759339" y="3916470"/>
            <a:ext cx="3404365" cy="504056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Организация</a:t>
            </a:r>
          </a:p>
        </p:txBody>
      </p:sp>
      <p:sp>
        <p:nvSpPr>
          <p:cNvPr id="12" name="Shape 202">
            <a:extLst>
              <a:ext uri="{FF2B5EF4-FFF2-40B4-BE49-F238E27FC236}">
                <a16:creationId xmlns:a16="http://schemas.microsoft.com/office/drawing/2014/main" id="{D4667170-C364-44FD-8B92-EF7E66946E4A}"/>
              </a:ext>
            </a:extLst>
          </p:cNvPr>
          <p:cNvSpPr/>
          <p:nvPr/>
        </p:nvSpPr>
        <p:spPr>
          <a:xfrm>
            <a:off x="759339" y="4569594"/>
            <a:ext cx="3404365" cy="504056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Государственный орган (с ограничениями)</a:t>
            </a:r>
          </a:p>
        </p:txBody>
      </p:sp>
      <p:sp>
        <p:nvSpPr>
          <p:cNvPr id="13" name="Shape 203">
            <a:extLst>
              <a:ext uri="{FF2B5EF4-FFF2-40B4-BE49-F238E27FC236}">
                <a16:creationId xmlns:a16="http://schemas.microsoft.com/office/drawing/2014/main" id="{64A5E958-5732-4607-99AC-2AAE390A309F}"/>
              </a:ext>
            </a:extLst>
          </p:cNvPr>
          <p:cNvSpPr/>
          <p:nvPr/>
        </p:nvSpPr>
        <p:spPr>
          <a:xfrm>
            <a:off x="759339" y="5356399"/>
            <a:ext cx="3418996" cy="1060767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Орган местного самоуправления ( учредителем печатного и сетевого издания) </a:t>
            </a:r>
          </a:p>
        </p:txBody>
      </p:sp>
      <p:sp>
        <p:nvSpPr>
          <p:cNvPr id="14" name="Shape 205">
            <a:extLst>
              <a:ext uri="{FF2B5EF4-FFF2-40B4-BE49-F238E27FC236}">
                <a16:creationId xmlns:a16="http://schemas.microsoft.com/office/drawing/2014/main" id="{0C53C89B-BDFA-4CDF-A1D0-93F020A78130}"/>
              </a:ext>
            </a:extLst>
          </p:cNvPr>
          <p:cNvSpPr/>
          <p:nvPr/>
        </p:nvSpPr>
        <p:spPr>
          <a:xfrm>
            <a:off x="4531082" y="2020958"/>
            <a:ext cx="3404365" cy="504056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Учредитель СМИ</a:t>
            </a:r>
          </a:p>
        </p:txBody>
      </p:sp>
      <p:sp>
        <p:nvSpPr>
          <p:cNvPr id="15" name="Shape 206">
            <a:extLst>
              <a:ext uri="{FF2B5EF4-FFF2-40B4-BE49-F238E27FC236}">
                <a16:creationId xmlns:a16="http://schemas.microsoft.com/office/drawing/2014/main" id="{A6264D20-42BA-4249-801F-76CEC20E677B}"/>
              </a:ext>
            </a:extLst>
          </p:cNvPr>
          <p:cNvSpPr/>
          <p:nvPr/>
        </p:nvSpPr>
        <p:spPr>
          <a:xfrm>
            <a:off x="4531081" y="2732534"/>
            <a:ext cx="3404365" cy="975299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Редакция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СМИ,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если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является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самостоятельным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хозяйствующим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субъектом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/>
            </a:endParaRPr>
          </a:p>
        </p:txBody>
      </p:sp>
      <p:sp>
        <p:nvSpPr>
          <p:cNvPr id="16" name="Shape 207">
            <a:extLst>
              <a:ext uri="{FF2B5EF4-FFF2-40B4-BE49-F238E27FC236}">
                <a16:creationId xmlns:a16="http://schemas.microsoft.com/office/drawing/2014/main" id="{B4A99A02-CB07-482B-BB9F-14B1355CDF73}"/>
              </a:ext>
            </a:extLst>
          </p:cNvPr>
          <p:cNvSpPr/>
          <p:nvPr/>
        </p:nvSpPr>
        <p:spPr>
          <a:xfrm>
            <a:off x="4531081" y="4002148"/>
            <a:ext cx="3404365" cy="504056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Организация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8506538-BB5B-47BC-BC68-AA698E7670D8}"/>
              </a:ext>
            </a:extLst>
          </p:cNvPr>
          <p:cNvSpPr/>
          <p:nvPr/>
        </p:nvSpPr>
        <p:spPr>
          <a:xfrm>
            <a:off x="0" y="294175"/>
            <a:ext cx="12243686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Организация деятельности средств массовой информации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Shape 208">
            <a:extLst>
              <a:ext uri="{FF2B5EF4-FFF2-40B4-BE49-F238E27FC236}">
                <a16:creationId xmlns:a16="http://schemas.microsoft.com/office/drawing/2014/main" id="{C0A4EFDF-A096-4EDE-B501-713405F301FF}"/>
              </a:ext>
            </a:extLst>
          </p:cNvPr>
          <p:cNvSpPr/>
          <p:nvPr/>
        </p:nvSpPr>
        <p:spPr>
          <a:xfrm>
            <a:off x="8028298" y="4870581"/>
            <a:ext cx="3690360" cy="1623004"/>
          </a:xfrm>
          <a:prstGeom prst="roundRect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Издатель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может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выступать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в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качестве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учредителя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средства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массовой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информации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редакции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распространителя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собственника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имущества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редакции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.</a:t>
            </a:r>
          </a:p>
        </p:txBody>
      </p:sp>
      <p:sp>
        <p:nvSpPr>
          <p:cNvPr id="21" name="Shape 198">
            <a:extLst>
              <a:ext uri="{FF2B5EF4-FFF2-40B4-BE49-F238E27FC236}">
                <a16:creationId xmlns:a16="http://schemas.microsoft.com/office/drawing/2014/main" id="{66B9CF9B-61AF-4E91-971B-2060069F4941}"/>
              </a:ext>
            </a:extLst>
          </p:cNvPr>
          <p:cNvSpPr/>
          <p:nvPr/>
        </p:nvSpPr>
        <p:spPr>
          <a:xfrm>
            <a:off x="8302826" y="1122859"/>
            <a:ext cx="3404365" cy="587415"/>
          </a:xfrm>
          <a:prstGeom prst="roundRect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Редакцией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СМИ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может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быть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/>
            </a:endParaRPr>
          </a:p>
        </p:txBody>
      </p:sp>
      <p:sp>
        <p:nvSpPr>
          <p:cNvPr id="22" name="Shape 205">
            <a:extLst>
              <a:ext uri="{FF2B5EF4-FFF2-40B4-BE49-F238E27FC236}">
                <a16:creationId xmlns:a16="http://schemas.microsoft.com/office/drawing/2014/main" id="{C284879E-32C0-412E-A36B-F5E5DED06AC1}"/>
              </a:ext>
            </a:extLst>
          </p:cNvPr>
          <p:cNvSpPr/>
          <p:nvPr/>
        </p:nvSpPr>
        <p:spPr>
          <a:xfrm>
            <a:off x="8302824" y="2054680"/>
            <a:ext cx="3404365" cy="504056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Учредитель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СМИ</a:t>
            </a:r>
          </a:p>
        </p:txBody>
      </p:sp>
      <p:sp>
        <p:nvSpPr>
          <p:cNvPr id="24" name="Shape 207">
            <a:extLst>
              <a:ext uri="{FF2B5EF4-FFF2-40B4-BE49-F238E27FC236}">
                <a16:creationId xmlns:a16="http://schemas.microsoft.com/office/drawing/2014/main" id="{631DAFE5-598F-4C35-AA89-8D3E4F2B35D8}"/>
              </a:ext>
            </a:extLst>
          </p:cNvPr>
          <p:cNvSpPr/>
          <p:nvPr/>
        </p:nvSpPr>
        <p:spPr>
          <a:xfrm>
            <a:off x="8314293" y="2924944"/>
            <a:ext cx="3404365" cy="504056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Организация</a:t>
            </a:r>
          </a:p>
        </p:txBody>
      </p:sp>
    </p:spTree>
    <p:extLst>
      <p:ext uri="{BB962C8B-B14F-4D97-AF65-F5344CB8AC3E}">
        <p14:creationId xmlns:p14="http://schemas.microsoft.com/office/powerpoint/2010/main" val="298196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15">
            <a:extLst>
              <a:ext uri="{FF2B5EF4-FFF2-40B4-BE49-F238E27FC236}">
                <a16:creationId xmlns:a16="http://schemas.microsoft.com/office/drawing/2014/main" id="{DFCACA96-E75A-4B75-9F13-10B66B9175F7}"/>
              </a:ext>
            </a:extLst>
          </p:cNvPr>
          <p:cNvSpPr/>
          <p:nvPr/>
        </p:nvSpPr>
        <p:spPr>
          <a:xfrm>
            <a:off x="3771900" y="2061194"/>
            <a:ext cx="4648200" cy="991025"/>
          </a:xfrm>
          <a:prstGeom prst="roundRect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Возникновение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прав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и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обязанностей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/>
            </a:endParaRPr>
          </a:p>
        </p:txBody>
      </p:sp>
      <p:sp>
        <p:nvSpPr>
          <p:cNvPr id="9" name="Shape 216">
            <a:extLst>
              <a:ext uri="{FF2B5EF4-FFF2-40B4-BE49-F238E27FC236}">
                <a16:creationId xmlns:a16="http://schemas.microsoft.com/office/drawing/2014/main" id="{A641C717-8E5D-4824-985B-370BA9ABC17E}"/>
              </a:ext>
            </a:extLst>
          </p:cNvPr>
          <p:cNvSpPr/>
          <p:nvPr/>
        </p:nvSpPr>
        <p:spPr>
          <a:xfrm flipH="1">
            <a:off x="4178559" y="3275586"/>
            <a:ext cx="540060" cy="306827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prstDash val="solid"/>
            <a:tailEnd type="arrow" w="med" len="me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10" name="Shape 217">
            <a:extLst>
              <a:ext uri="{FF2B5EF4-FFF2-40B4-BE49-F238E27FC236}">
                <a16:creationId xmlns:a16="http://schemas.microsoft.com/office/drawing/2014/main" id="{E1319F5F-77CA-42A8-8046-2AE81EA8693B}"/>
              </a:ext>
            </a:extLst>
          </p:cNvPr>
          <p:cNvSpPr/>
          <p:nvPr/>
        </p:nvSpPr>
        <p:spPr>
          <a:xfrm>
            <a:off x="7203353" y="3262157"/>
            <a:ext cx="540060" cy="306827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prstDash val="solid"/>
            <a:tailEnd type="arrow" w="med" len="me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11" name="Shape 218">
            <a:extLst>
              <a:ext uri="{FF2B5EF4-FFF2-40B4-BE49-F238E27FC236}">
                <a16:creationId xmlns:a16="http://schemas.microsoft.com/office/drawing/2014/main" id="{EEC94F55-BECF-4AC0-B444-697D8E16F32A}"/>
              </a:ext>
            </a:extLst>
          </p:cNvPr>
          <p:cNvSpPr/>
          <p:nvPr/>
        </p:nvSpPr>
        <p:spPr>
          <a:xfrm>
            <a:off x="774518" y="4069029"/>
            <a:ext cx="3844136" cy="2003703"/>
          </a:xfrm>
          <a:prstGeom prst="roundRect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Права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и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обязанности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,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предусмотренные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Законом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«О СМИ»,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возникают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с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момента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регистрации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средства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массовой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информации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(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ст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. 17)</a:t>
            </a:r>
          </a:p>
        </p:txBody>
      </p:sp>
      <p:sp>
        <p:nvSpPr>
          <p:cNvPr id="12" name="Shape 219">
            <a:extLst>
              <a:ext uri="{FF2B5EF4-FFF2-40B4-BE49-F238E27FC236}">
                <a16:creationId xmlns:a16="http://schemas.microsoft.com/office/drawing/2014/main" id="{2298119B-D78D-4F7F-9CEB-CA2BC2F0EC8C}"/>
              </a:ext>
            </a:extLst>
          </p:cNvPr>
          <p:cNvSpPr/>
          <p:nvPr/>
        </p:nvSpPr>
        <p:spPr>
          <a:xfrm>
            <a:off x="7573347" y="4069030"/>
            <a:ext cx="3844135" cy="2003702"/>
          </a:xfrm>
          <a:prstGeom prst="roundRect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Права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и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обязанности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,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предусмотренные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уставом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редакции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/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договором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* - с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момента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его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утверждения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(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ст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. 17)</a:t>
            </a:r>
          </a:p>
        </p:txBody>
      </p:sp>
      <p:sp>
        <p:nvSpPr>
          <p:cNvPr id="13" name="Shape 221">
            <a:extLst>
              <a:ext uri="{FF2B5EF4-FFF2-40B4-BE49-F238E27FC236}">
                <a16:creationId xmlns:a16="http://schemas.microsoft.com/office/drawing/2014/main" id="{1FA36252-CDF2-4364-A92F-E2071EEC6542}"/>
              </a:ext>
            </a:extLst>
          </p:cNvPr>
          <p:cNvSpPr/>
          <p:nvPr/>
        </p:nvSpPr>
        <p:spPr>
          <a:xfrm>
            <a:off x="460310" y="368195"/>
            <a:ext cx="11271380" cy="11845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В водной части устава редакции должны быть отражены основные термины и понятия (редакция СМИ, главный редактор, коллектив журналистов, штатные сотрудники, учредитель, журналист, издатель и другие), юридический статус участников, организационно-правовая форма юридического лица.</a:t>
            </a:r>
          </a:p>
        </p:txBody>
      </p:sp>
    </p:spTree>
    <p:extLst>
      <p:ext uri="{BB962C8B-B14F-4D97-AF65-F5344CB8AC3E}">
        <p14:creationId xmlns:p14="http://schemas.microsoft.com/office/powerpoint/2010/main" val="1432019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96">
            <a:extLst>
              <a:ext uri="{FF2B5EF4-FFF2-40B4-BE49-F238E27FC236}">
                <a16:creationId xmlns:a16="http://schemas.microsoft.com/office/drawing/2014/main" id="{94ED8A0C-985A-42E7-84C0-352BCC9FC64C}"/>
              </a:ext>
            </a:extLst>
          </p:cNvPr>
          <p:cNvSpPr/>
          <p:nvPr/>
        </p:nvSpPr>
        <p:spPr>
          <a:xfrm>
            <a:off x="712687" y="1191049"/>
            <a:ext cx="3404365" cy="587415"/>
          </a:xfrm>
          <a:prstGeom prst="roundRect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Учредителем</a:t>
            </a: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СМИ </a:t>
            </a:r>
            <a:r>
              <a:rPr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может</a:t>
            </a: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быть</a:t>
            </a:r>
            <a:endParaRPr sz="1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Shape 198">
            <a:extLst>
              <a:ext uri="{FF2B5EF4-FFF2-40B4-BE49-F238E27FC236}">
                <a16:creationId xmlns:a16="http://schemas.microsoft.com/office/drawing/2014/main" id="{40E84BBA-2163-491E-96F6-9EA0D3E086A0}"/>
              </a:ext>
            </a:extLst>
          </p:cNvPr>
          <p:cNvSpPr/>
          <p:nvPr/>
        </p:nvSpPr>
        <p:spPr>
          <a:xfrm>
            <a:off x="4513486" y="1188766"/>
            <a:ext cx="3404365" cy="587415"/>
          </a:xfrm>
          <a:prstGeom prst="roundRect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Издателем</a:t>
            </a: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СМИ </a:t>
            </a:r>
            <a:r>
              <a:rPr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может</a:t>
            </a: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быть</a:t>
            </a:r>
            <a:endParaRPr sz="1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199">
            <a:extLst>
              <a:ext uri="{FF2B5EF4-FFF2-40B4-BE49-F238E27FC236}">
                <a16:creationId xmlns:a16="http://schemas.microsoft.com/office/drawing/2014/main" id="{47E6E07F-CA98-45E9-8873-4282CDBDB480}"/>
              </a:ext>
            </a:extLst>
          </p:cNvPr>
          <p:cNvSpPr/>
          <p:nvPr/>
        </p:nvSpPr>
        <p:spPr>
          <a:xfrm>
            <a:off x="712687" y="2016242"/>
            <a:ext cx="3404365" cy="504055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Гражданин</a:t>
            </a:r>
            <a:endParaRPr sz="1800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Shape 200">
            <a:extLst>
              <a:ext uri="{FF2B5EF4-FFF2-40B4-BE49-F238E27FC236}">
                <a16:creationId xmlns:a16="http://schemas.microsoft.com/office/drawing/2014/main" id="{6B748DEA-99D9-4FD0-9BD5-2A64D8FC7A01}"/>
              </a:ext>
            </a:extLst>
          </p:cNvPr>
          <p:cNvSpPr/>
          <p:nvPr/>
        </p:nvSpPr>
        <p:spPr>
          <a:xfrm>
            <a:off x="712687" y="2677795"/>
            <a:ext cx="3404365" cy="1101956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Объединение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граждан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соучредительство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либо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зарегистрированное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объединение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1" name="Shape 201">
            <a:extLst>
              <a:ext uri="{FF2B5EF4-FFF2-40B4-BE49-F238E27FC236}">
                <a16:creationId xmlns:a16="http://schemas.microsoft.com/office/drawing/2014/main" id="{01407304-31FA-433B-A8EE-1F154B094817}"/>
              </a:ext>
            </a:extLst>
          </p:cNvPr>
          <p:cNvSpPr/>
          <p:nvPr/>
        </p:nvSpPr>
        <p:spPr>
          <a:xfrm>
            <a:off x="712687" y="3889943"/>
            <a:ext cx="3404365" cy="504056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Организация</a:t>
            </a:r>
          </a:p>
        </p:txBody>
      </p:sp>
      <p:sp>
        <p:nvSpPr>
          <p:cNvPr id="12" name="Shape 202">
            <a:extLst>
              <a:ext uri="{FF2B5EF4-FFF2-40B4-BE49-F238E27FC236}">
                <a16:creationId xmlns:a16="http://schemas.microsoft.com/office/drawing/2014/main" id="{D4667170-C364-44FD-8B92-EF7E66946E4A}"/>
              </a:ext>
            </a:extLst>
          </p:cNvPr>
          <p:cNvSpPr/>
          <p:nvPr/>
        </p:nvSpPr>
        <p:spPr>
          <a:xfrm>
            <a:off x="712687" y="4504191"/>
            <a:ext cx="3404365" cy="504056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Государственный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орган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(с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ограничениями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3" name="Shape 203">
            <a:extLst>
              <a:ext uri="{FF2B5EF4-FFF2-40B4-BE49-F238E27FC236}">
                <a16:creationId xmlns:a16="http://schemas.microsoft.com/office/drawing/2014/main" id="{64A5E958-5732-4607-99AC-2AAE390A309F}"/>
              </a:ext>
            </a:extLst>
          </p:cNvPr>
          <p:cNvSpPr/>
          <p:nvPr/>
        </p:nvSpPr>
        <p:spPr>
          <a:xfrm>
            <a:off x="712687" y="5136567"/>
            <a:ext cx="3418996" cy="1060767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Орган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местного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самоуправления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(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учредителем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печатного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сетевого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издания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) </a:t>
            </a:r>
          </a:p>
        </p:txBody>
      </p:sp>
      <p:sp>
        <p:nvSpPr>
          <p:cNvPr id="14" name="Shape 205">
            <a:extLst>
              <a:ext uri="{FF2B5EF4-FFF2-40B4-BE49-F238E27FC236}">
                <a16:creationId xmlns:a16="http://schemas.microsoft.com/office/drawing/2014/main" id="{0C53C89B-BDFA-4CDF-A1D0-93F020A78130}"/>
              </a:ext>
            </a:extLst>
          </p:cNvPr>
          <p:cNvSpPr/>
          <p:nvPr/>
        </p:nvSpPr>
        <p:spPr>
          <a:xfrm>
            <a:off x="4513489" y="2153809"/>
            <a:ext cx="3404365" cy="504056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Учредитель СМИ</a:t>
            </a:r>
          </a:p>
        </p:txBody>
      </p:sp>
      <p:sp>
        <p:nvSpPr>
          <p:cNvPr id="15" name="Shape 206">
            <a:extLst>
              <a:ext uri="{FF2B5EF4-FFF2-40B4-BE49-F238E27FC236}">
                <a16:creationId xmlns:a16="http://schemas.microsoft.com/office/drawing/2014/main" id="{A6264D20-42BA-4249-801F-76CEC20E677B}"/>
              </a:ext>
            </a:extLst>
          </p:cNvPr>
          <p:cNvSpPr/>
          <p:nvPr/>
        </p:nvSpPr>
        <p:spPr>
          <a:xfrm>
            <a:off x="4513485" y="2914644"/>
            <a:ext cx="3404365" cy="975299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Редакция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СМИ,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если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является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самостоятельным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хозяйствующим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субъектом</a:t>
            </a:r>
            <a:endParaRPr sz="1800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Shape 207">
            <a:extLst>
              <a:ext uri="{FF2B5EF4-FFF2-40B4-BE49-F238E27FC236}">
                <a16:creationId xmlns:a16="http://schemas.microsoft.com/office/drawing/2014/main" id="{B4A99A02-CB07-482B-BB9F-14B1355CDF73}"/>
              </a:ext>
            </a:extLst>
          </p:cNvPr>
          <p:cNvSpPr/>
          <p:nvPr/>
        </p:nvSpPr>
        <p:spPr>
          <a:xfrm>
            <a:off x="4513484" y="4255432"/>
            <a:ext cx="3404365" cy="504056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Организация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8506538-BB5B-47BC-BC68-AA698E7670D8}"/>
              </a:ext>
            </a:extLst>
          </p:cNvPr>
          <p:cNvSpPr/>
          <p:nvPr/>
        </p:nvSpPr>
        <p:spPr>
          <a:xfrm>
            <a:off x="-25843" y="349474"/>
            <a:ext cx="12217843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rPr>
              <a:t>	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rPr>
              <a:t>Организация деятельности средств массовой информации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Shape 208">
            <a:extLst>
              <a:ext uri="{FF2B5EF4-FFF2-40B4-BE49-F238E27FC236}">
                <a16:creationId xmlns:a16="http://schemas.microsoft.com/office/drawing/2014/main" id="{C0A4EFDF-A096-4EDE-B501-713405F301FF}"/>
              </a:ext>
            </a:extLst>
          </p:cNvPr>
          <p:cNvSpPr/>
          <p:nvPr/>
        </p:nvSpPr>
        <p:spPr>
          <a:xfrm>
            <a:off x="8314281" y="4504191"/>
            <a:ext cx="3512506" cy="2004000"/>
          </a:xfrm>
          <a:prstGeom prst="roundRect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Издатель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может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выступать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в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качестве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учредителя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средства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массовой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информации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редакции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распространителя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собственника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имущества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редакции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21" name="Shape 198">
            <a:extLst>
              <a:ext uri="{FF2B5EF4-FFF2-40B4-BE49-F238E27FC236}">
                <a16:creationId xmlns:a16="http://schemas.microsoft.com/office/drawing/2014/main" id="{66B9CF9B-61AF-4E91-971B-2060069F4941}"/>
              </a:ext>
            </a:extLst>
          </p:cNvPr>
          <p:cNvSpPr/>
          <p:nvPr/>
        </p:nvSpPr>
        <p:spPr>
          <a:xfrm>
            <a:off x="8314293" y="1195797"/>
            <a:ext cx="3404365" cy="587415"/>
          </a:xfrm>
          <a:prstGeom prst="roundRect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Редакцией</a:t>
            </a: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СМИ </a:t>
            </a:r>
            <a:r>
              <a:rPr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может</a:t>
            </a: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быть</a:t>
            </a:r>
            <a:endParaRPr sz="1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Shape 205">
            <a:extLst>
              <a:ext uri="{FF2B5EF4-FFF2-40B4-BE49-F238E27FC236}">
                <a16:creationId xmlns:a16="http://schemas.microsoft.com/office/drawing/2014/main" id="{C284879E-32C0-412E-A36B-F5E5DED06AC1}"/>
              </a:ext>
            </a:extLst>
          </p:cNvPr>
          <p:cNvSpPr/>
          <p:nvPr/>
        </p:nvSpPr>
        <p:spPr>
          <a:xfrm>
            <a:off x="8314293" y="2098513"/>
            <a:ext cx="3404365" cy="504056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Учредитель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СМИ</a:t>
            </a:r>
          </a:p>
        </p:txBody>
      </p:sp>
      <p:sp>
        <p:nvSpPr>
          <p:cNvPr id="24" name="Shape 207">
            <a:extLst>
              <a:ext uri="{FF2B5EF4-FFF2-40B4-BE49-F238E27FC236}">
                <a16:creationId xmlns:a16="http://schemas.microsoft.com/office/drawing/2014/main" id="{631DAFE5-598F-4C35-AA89-8D3E4F2B35D8}"/>
              </a:ext>
            </a:extLst>
          </p:cNvPr>
          <p:cNvSpPr/>
          <p:nvPr/>
        </p:nvSpPr>
        <p:spPr>
          <a:xfrm>
            <a:off x="8314289" y="2917870"/>
            <a:ext cx="3404365" cy="504056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Организация</a:t>
            </a:r>
          </a:p>
        </p:txBody>
      </p:sp>
    </p:spTree>
    <p:extLst>
      <p:ext uri="{BB962C8B-B14F-4D97-AF65-F5344CB8AC3E}">
        <p14:creationId xmlns:p14="http://schemas.microsoft.com/office/powerpoint/2010/main" val="1571089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76">
            <a:extLst>
              <a:ext uri="{FF2B5EF4-FFF2-40B4-BE49-F238E27FC236}">
                <a16:creationId xmlns:a16="http://schemas.microsoft.com/office/drawing/2014/main" id="{A18CD464-1A39-469C-A72B-2A3D1AB3A476}"/>
              </a:ext>
            </a:extLst>
          </p:cNvPr>
          <p:cNvSpPr txBox="1"/>
          <p:nvPr/>
        </p:nvSpPr>
        <p:spPr>
          <a:xfrm>
            <a:off x="0" y="277646"/>
            <a:ext cx="12191999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marL="0" indent="0" algn="ctr"/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ПОЛНОМОЧИЯ КОЛЛЕКТИВА ЖУРНАЛИСТОВ – ШТАТНЫХ СОТРУДНИКОВ РЕДАКЦИИ</a:t>
            </a: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. ГЛАВНОГО РЕДАКТОРА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(П. 2 СТ. 20 ЗАКОНА О СМИ)</a:t>
            </a:r>
          </a:p>
        </p:txBody>
      </p:sp>
      <p:sp>
        <p:nvSpPr>
          <p:cNvPr id="8" name="Shape 279">
            <a:extLst>
              <a:ext uri="{FF2B5EF4-FFF2-40B4-BE49-F238E27FC236}">
                <a16:creationId xmlns:a16="http://schemas.microsoft.com/office/drawing/2014/main" id="{4A9F0D52-0F1E-4C4E-BE3D-6B81F3930D45}"/>
              </a:ext>
            </a:extLst>
          </p:cNvPr>
          <p:cNvSpPr/>
          <p:nvPr/>
        </p:nvSpPr>
        <p:spPr>
          <a:xfrm>
            <a:off x="6140213" y="3018468"/>
            <a:ext cx="5909056" cy="1679449"/>
          </a:xfrm>
          <a:prstGeom prst="roundRect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Журналист -</a:t>
            </a: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лицо, занимающееся редактированием, созданием, сбором или подготовкой сообщений и материалов для редакции зарегистрированного средства массовой информации, связанное с ней трудовыми или иными договорными отношениями либо занимающееся такой деятельностью по ее уполномочию.</a:t>
            </a:r>
          </a:p>
        </p:txBody>
      </p:sp>
      <p:sp>
        <p:nvSpPr>
          <p:cNvPr id="10" name="Shape 282">
            <a:extLst>
              <a:ext uri="{FF2B5EF4-FFF2-40B4-BE49-F238E27FC236}">
                <a16:creationId xmlns:a16="http://schemas.microsoft.com/office/drawing/2014/main" id="{3FC3FF8D-6C8A-4FCC-9676-5ED487AFFB35}"/>
              </a:ext>
            </a:extLst>
          </p:cNvPr>
          <p:cNvSpPr/>
          <p:nvPr/>
        </p:nvSpPr>
        <p:spPr>
          <a:xfrm>
            <a:off x="142731" y="3039032"/>
            <a:ext cx="5909056" cy="1679449"/>
          </a:xfrm>
          <a:prstGeom prst="roundRect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Коллектив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журналистов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–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это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штатные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сотрудники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организации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,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занимающиеся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редактированием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,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созданием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,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сбором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или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подготовкой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сообщений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и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материалов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.</a:t>
            </a:r>
          </a:p>
        </p:txBody>
      </p:sp>
      <p:sp>
        <p:nvSpPr>
          <p:cNvPr id="11" name="Shape 285">
            <a:extLst>
              <a:ext uri="{FF2B5EF4-FFF2-40B4-BE49-F238E27FC236}">
                <a16:creationId xmlns:a16="http://schemas.microsoft.com/office/drawing/2014/main" id="{198009CD-AB75-4853-9C09-5854327DD60B}"/>
              </a:ext>
            </a:extLst>
          </p:cNvPr>
          <p:cNvSpPr/>
          <p:nvPr/>
        </p:nvSpPr>
        <p:spPr>
          <a:xfrm>
            <a:off x="3141471" y="4900905"/>
            <a:ext cx="5909055" cy="1679449"/>
          </a:xfrm>
          <a:prstGeom prst="roundRect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Штатные сотрудники – </a:t>
            </a: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это лица, которые имеют профессиональную подготовку в определенной области и которые заключили с организацией договор об установлении трудовых отношений</a:t>
            </a:r>
          </a:p>
        </p:txBody>
      </p:sp>
      <p:sp>
        <p:nvSpPr>
          <p:cNvPr id="15" name="Shape 329">
            <a:extLst>
              <a:ext uri="{FF2B5EF4-FFF2-40B4-BE49-F238E27FC236}">
                <a16:creationId xmlns:a16="http://schemas.microsoft.com/office/drawing/2014/main" id="{1F331EE8-ADE0-4A79-A9DA-0FF9594E13DA}"/>
              </a:ext>
            </a:extLst>
          </p:cNvPr>
          <p:cNvSpPr/>
          <p:nvPr/>
        </p:nvSpPr>
        <p:spPr>
          <a:xfrm>
            <a:off x="3185685" y="1243331"/>
            <a:ext cx="5909056" cy="1679449"/>
          </a:xfrm>
          <a:prstGeom prst="roundRect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Главный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редактор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-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лицо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,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возглавляющее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редакцию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(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независимо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от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наименования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должности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) и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принимающее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окончательные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решения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в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отношении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производства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и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выпуска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средства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массовой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информации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8254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88">
            <a:extLst>
              <a:ext uri="{FF2B5EF4-FFF2-40B4-BE49-F238E27FC236}">
                <a16:creationId xmlns:a16="http://schemas.microsoft.com/office/drawing/2014/main" id="{FE071BF7-CC70-411C-A252-64B924377D62}"/>
              </a:ext>
            </a:extLst>
          </p:cNvPr>
          <p:cNvSpPr/>
          <p:nvPr/>
        </p:nvSpPr>
        <p:spPr>
          <a:xfrm>
            <a:off x="4016806" y="1153522"/>
            <a:ext cx="3432694" cy="1132478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Судом в порядке административного производства по иску регистрирующего органа</a:t>
            </a:r>
          </a:p>
        </p:txBody>
      </p:sp>
      <p:sp>
        <p:nvSpPr>
          <p:cNvPr id="46" name="Shape 489">
            <a:extLst>
              <a:ext uri="{FF2B5EF4-FFF2-40B4-BE49-F238E27FC236}">
                <a16:creationId xmlns:a16="http://schemas.microsoft.com/office/drawing/2014/main" id="{2024200B-9A1C-4856-8676-58315B7E4591}"/>
              </a:ext>
            </a:extLst>
          </p:cNvPr>
          <p:cNvSpPr/>
          <p:nvPr/>
        </p:nvSpPr>
        <p:spPr>
          <a:xfrm>
            <a:off x="7874497" y="1054589"/>
            <a:ext cx="4004810" cy="1224136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В принудительном порядке по искам государственных органов</a:t>
            </a:r>
          </a:p>
        </p:txBody>
      </p:sp>
      <p:sp>
        <p:nvSpPr>
          <p:cNvPr id="47" name="Shape 490">
            <a:extLst>
              <a:ext uri="{FF2B5EF4-FFF2-40B4-BE49-F238E27FC236}">
                <a16:creationId xmlns:a16="http://schemas.microsoft.com/office/drawing/2014/main" id="{60658B23-BFF3-4EEF-B707-F052BDF3C1F0}"/>
              </a:ext>
            </a:extLst>
          </p:cNvPr>
          <p:cNvSpPr/>
          <p:nvPr/>
        </p:nvSpPr>
        <p:spPr>
          <a:xfrm>
            <a:off x="4318508" y="2680698"/>
            <a:ext cx="2829289" cy="165618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В случае невыхода в свет СМИ более одного года</a:t>
            </a:r>
          </a:p>
        </p:txBody>
      </p:sp>
      <p:sp>
        <p:nvSpPr>
          <p:cNvPr id="48" name="Shape 491">
            <a:extLst>
              <a:ext uri="{FF2B5EF4-FFF2-40B4-BE49-F238E27FC236}">
                <a16:creationId xmlns:a16="http://schemas.microsoft.com/office/drawing/2014/main" id="{B498757E-7887-4F10-B0A5-9560882D313F}"/>
              </a:ext>
            </a:extLst>
          </p:cNvPr>
          <p:cNvSpPr/>
          <p:nvPr/>
        </p:nvSpPr>
        <p:spPr>
          <a:xfrm>
            <a:off x="8255473" y="2767692"/>
            <a:ext cx="3242857" cy="207976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В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случае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нарушения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редакцией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СМИ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положений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ст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. 4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Закона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«О СМИ»</a:t>
            </a:r>
          </a:p>
          <a:p>
            <a:pPr marL="0" indent="0" algn="ctr"/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По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основаниям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предусмотренным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ФЗ «О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противодействии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экстремисткой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деятельности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»</a:t>
            </a:r>
          </a:p>
        </p:txBody>
      </p:sp>
      <p:sp>
        <p:nvSpPr>
          <p:cNvPr id="49" name="Shape 493">
            <a:extLst>
              <a:ext uri="{FF2B5EF4-FFF2-40B4-BE49-F238E27FC236}">
                <a16:creationId xmlns:a16="http://schemas.microsoft.com/office/drawing/2014/main" id="{6C5365D2-B216-4A31-AA89-713C13ADAE72}"/>
              </a:ext>
            </a:extLst>
          </p:cNvPr>
          <p:cNvSpPr/>
          <p:nvPr/>
        </p:nvSpPr>
        <p:spPr>
          <a:xfrm>
            <a:off x="3283417" y="5318511"/>
            <a:ext cx="2101645" cy="1123327"/>
          </a:xfrm>
          <a:prstGeom prst="roundRect">
            <a:avLst>
              <a:gd name="adj" fmla="val 5657"/>
            </a:avLst>
          </a:prstGeom>
          <a:solidFill>
            <a:schemeClr val="bg1"/>
          </a:solidFill>
          <a:ln w="3175">
            <a:solidFill>
              <a:schemeClr val="accent2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txBody>
          <a:bodyPr lIns="91440" tIns="45720" rIns="91440" bIns="45720"/>
          <a:lstStyle/>
          <a:p>
            <a:pPr marL="0" indent="0" algn="ctr">
              <a:lnSpc>
                <a:spcPct val="120000"/>
              </a:lnSpc>
            </a:pP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Продолжает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ли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деятельность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редакция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после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смены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учредителя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?</a:t>
            </a:r>
          </a:p>
        </p:txBody>
      </p:sp>
      <p:sp>
        <p:nvSpPr>
          <p:cNvPr id="50" name="Shape 494">
            <a:extLst>
              <a:ext uri="{FF2B5EF4-FFF2-40B4-BE49-F238E27FC236}">
                <a16:creationId xmlns:a16="http://schemas.microsoft.com/office/drawing/2014/main" id="{33F93004-3C35-4C42-94E5-085B8F90A7F3}"/>
              </a:ext>
            </a:extLst>
          </p:cNvPr>
          <p:cNvSpPr/>
          <p:nvPr/>
        </p:nvSpPr>
        <p:spPr>
          <a:xfrm>
            <a:off x="6015356" y="5318512"/>
            <a:ext cx="1915385" cy="1123327"/>
          </a:xfrm>
          <a:prstGeom prst="roundRect">
            <a:avLst>
              <a:gd name="adj" fmla="val 5657"/>
            </a:avLst>
          </a:prstGeom>
          <a:solidFill>
            <a:schemeClr val="bg1"/>
          </a:solidFill>
          <a:ln w="3175">
            <a:solidFill>
              <a:schemeClr val="accent2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txBody>
          <a:bodyPr lIns="91440" tIns="45720" rIns="91440" bIns="45720"/>
          <a:lstStyle/>
          <a:p>
            <a:pPr marL="0" indent="0" algn="ctr">
              <a:lnSpc>
                <a:spcPct val="120000"/>
              </a:lnSpc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В случае реорганизации права переходят к правопреемнику?</a:t>
            </a:r>
          </a:p>
        </p:txBody>
      </p:sp>
      <p:sp>
        <p:nvSpPr>
          <p:cNvPr id="51" name="Shape 495">
            <a:extLst>
              <a:ext uri="{FF2B5EF4-FFF2-40B4-BE49-F238E27FC236}">
                <a16:creationId xmlns:a16="http://schemas.microsoft.com/office/drawing/2014/main" id="{C17E5EA2-C62A-45BB-8B26-A79AD787D907}"/>
              </a:ext>
            </a:extLst>
          </p:cNvPr>
          <p:cNvSpPr/>
          <p:nvPr/>
        </p:nvSpPr>
        <p:spPr>
          <a:xfrm>
            <a:off x="8561036" y="5390550"/>
            <a:ext cx="3318271" cy="955378"/>
          </a:xfrm>
          <a:prstGeom prst="roundRect">
            <a:avLst>
              <a:gd name="adj" fmla="val 5657"/>
            </a:avLst>
          </a:prstGeom>
          <a:solidFill>
            <a:schemeClr val="bg1"/>
          </a:solidFill>
          <a:ln w="3175">
            <a:solidFill>
              <a:schemeClr val="accent2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txBody>
          <a:bodyPr lIns="91440" tIns="45720" rIns="91440" bIns="45720"/>
          <a:lstStyle/>
          <a:p>
            <a:pPr marL="0" indent="0" algn="ctr">
              <a:lnSpc>
                <a:spcPct val="120000"/>
              </a:lnSpc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В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случае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изменения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организационно-правовой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формы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права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переходят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к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правопреемнику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?</a:t>
            </a:r>
          </a:p>
        </p:txBody>
      </p:sp>
      <p:sp>
        <p:nvSpPr>
          <p:cNvPr id="52" name="Shape 492">
            <a:extLst>
              <a:ext uri="{FF2B5EF4-FFF2-40B4-BE49-F238E27FC236}">
                <a16:creationId xmlns:a16="http://schemas.microsoft.com/office/drawing/2014/main" id="{55A4AFED-D8A4-4364-9442-A3E8FB6A6DEC}"/>
              </a:ext>
            </a:extLst>
          </p:cNvPr>
          <p:cNvSpPr/>
          <p:nvPr/>
        </p:nvSpPr>
        <p:spPr>
          <a:xfrm>
            <a:off x="382555" y="5404774"/>
            <a:ext cx="2206137" cy="1000917"/>
          </a:xfrm>
          <a:prstGeom prst="roundRect">
            <a:avLst>
              <a:gd name="adj" fmla="val 5657"/>
            </a:avLst>
          </a:prstGeom>
          <a:solidFill>
            <a:schemeClr val="bg1"/>
          </a:solidFill>
          <a:ln w="3175">
            <a:solidFill>
              <a:schemeClr val="accent2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txBody>
          <a:bodyPr lIns="91440" tIns="45720" rIns="91440" bIns="45720"/>
          <a:lstStyle/>
          <a:p>
            <a:pPr marL="0" indent="0" algn="ctr">
              <a:lnSpc>
                <a:spcPct val="120000"/>
              </a:lnSpc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В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уставе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должны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быть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даны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ответы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на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вопросы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/>
            </a:endParaRPr>
          </a:p>
        </p:txBody>
      </p:sp>
      <p:sp>
        <p:nvSpPr>
          <p:cNvPr id="55" name="Shape 487">
            <a:extLst>
              <a:ext uri="{FF2B5EF4-FFF2-40B4-BE49-F238E27FC236}">
                <a16:creationId xmlns:a16="http://schemas.microsoft.com/office/drawing/2014/main" id="{9253EEE9-C42F-497D-BD0D-7E21EFB5E632}"/>
              </a:ext>
            </a:extLst>
          </p:cNvPr>
          <p:cNvSpPr/>
          <p:nvPr/>
        </p:nvSpPr>
        <p:spPr>
          <a:xfrm>
            <a:off x="382555" y="1171955"/>
            <a:ext cx="3203848" cy="93610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По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решению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учредителя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СМИ</a:t>
            </a:r>
          </a:p>
        </p:txBody>
      </p:sp>
      <p:sp>
        <p:nvSpPr>
          <p:cNvPr id="56" name="Shape 486">
            <a:extLst>
              <a:ext uri="{FF2B5EF4-FFF2-40B4-BE49-F238E27FC236}">
                <a16:creationId xmlns:a16="http://schemas.microsoft.com/office/drawing/2014/main" id="{D30A8AD8-A0DF-445A-B117-506FDB9707FF}"/>
              </a:ext>
            </a:extLst>
          </p:cNvPr>
          <p:cNvSpPr/>
          <p:nvPr/>
        </p:nvSpPr>
        <p:spPr>
          <a:xfrm>
            <a:off x="635591" y="2508583"/>
            <a:ext cx="2697775" cy="2160240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Учредитель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имеет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право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прекратить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деятельность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СМИ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исключительно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в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случаях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и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порядке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,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предусмотренных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уставом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редакции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или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договором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/>
            </a:endParaRPr>
          </a:p>
        </p:txBody>
      </p:sp>
      <p:sp>
        <p:nvSpPr>
          <p:cNvPr id="57" name="Shape 485">
            <a:extLst>
              <a:ext uri="{FF2B5EF4-FFF2-40B4-BE49-F238E27FC236}">
                <a16:creationId xmlns:a16="http://schemas.microsoft.com/office/drawing/2014/main" id="{3987A944-BB60-4E70-ACE4-55DE52313D0E}"/>
              </a:ext>
            </a:extLst>
          </p:cNvPr>
          <p:cNvSpPr/>
          <p:nvPr/>
        </p:nvSpPr>
        <p:spPr>
          <a:xfrm>
            <a:off x="758265" y="354775"/>
            <a:ext cx="10412506" cy="57606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0">
            <a:scrgbClr r="0" g="0" b="0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Деятельность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средства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массовой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информации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может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быть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прекращена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/>
            </a:endParaRPr>
          </a:p>
        </p:txBody>
      </p: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6AE1EEFE-288C-404C-B056-B1C9A40C1185}"/>
              </a:ext>
            </a:extLst>
          </p:cNvPr>
          <p:cNvCxnSpPr>
            <a:stCxn id="55" idx="2"/>
            <a:endCxn id="56" idx="0"/>
          </p:cNvCxnSpPr>
          <p:nvPr/>
        </p:nvCxnSpPr>
        <p:spPr>
          <a:xfrm>
            <a:off x="1984479" y="2108058"/>
            <a:ext cx="0" cy="400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81C9DA8D-054F-4452-A77E-E778BB35B695}"/>
              </a:ext>
            </a:extLst>
          </p:cNvPr>
          <p:cNvCxnSpPr>
            <a:stCxn id="45" idx="2"/>
            <a:endCxn id="47" idx="0"/>
          </p:cNvCxnSpPr>
          <p:nvPr/>
        </p:nvCxnSpPr>
        <p:spPr>
          <a:xfrm>
            <a:off x="5733153" y="2286000"/>
            <a:ext cx="0" cy="394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D5453E44-D55B-4015-AD82-EA94E41A7976}"/>
              </a:ext>
            </a:extLst>
          </p:cNvPr>
          <p:cNvCxnSpPr>
            <a:stCxn id="46" idx="2"/>
            <a:endCxn id="48" idx="0"/>
          </p:cNvCxnSpPr>
          <p:nvPr/>
        </p:nvCxnSpPr>
        <p:spPr>
          <a:xfrm>
            <a:off x="9876902" y="2278725"/>
            <a:ext cx="0" cy="488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id="{12FF7857-94A1-4127-8697-DB2E963AF4D8}"/>
              </a:ext>
            </a:extLst>
          </p:cNvPr>
          <p:cNvCxnSpPr>
            <a:stCxn id="52" idx="3"/>
            <a:endCxn id="49" idx="1"/>
          </p:cNvCxnSpPr>
          <p:nvPr/>
        </p:nvCxnSpPr>
        <p:spPr>
          <a:xfrm flipV="1">
            <a:off x="2588692" y="5880175"/>
            <a:ext cx="694725" cy="25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BE4F5A6E-A0C4-403B-8194-0CD916293FDD}"/>
              </a:ext>
            </a:extLst>
          </p:cNvPr>
          <p:cNvCxnSpPr>
            <a:stCxn id="49" idx="3"/>
            <a:endCxn id="50" idx="1"/>
          </p:cNvCxnSpPr>
          <p:nvPr/>
        </p:nvCxnSpPr>
        <p:spPr>
          <a:xfrm>
            <a:off x="5385062" y="5880175"/>
            <a:ext cx="6302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Прямая со стрелкой 73">
            <a:extLst>
              <a:ext uri="{FF2B5EF4-FFF2-40B4-BE49-F238E27FC236}">
                <a16:creationId xmlns:a16="http://schemas.microsoft.com/office/drawing/2014/main" id="{B5CADA8F-D7C3-46E3-93AB-9CDA08DFA905}"/>
              </a:ext>
            </a:extLst>
          </p:cNvPr>
          <p:cNvCxnSpPr>
            <a:stCxn id="50" idx="3"/>
            <a:endCxn id="51" idx="1"/>
          </p:cNvCxnSpPr>
          <p:nvPr/>
        </p:nvCxnSpPr>
        <p:spPr>
          <a:xfrm flipV="1">
            <a:off x="7930741" y="5868239"/>
            <a:ext cx="630295" cy="11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" name="Прямая соединительная линия 81">
            <a:extLst>
              <a:ext uri="{FF2B5EF4-FFF2-40B4-BE49-F238E27FC236}">
                <a16:creationId xmlns:a16="http://schemas.microsoft.com/office/drawing/2014/main" id="{7CFC2141-CDCF-4BB6-B924-3C95FB089497}"/>
              </a:ext>
            </a:extLst>
          </p:cNvPr>
          <p:cNvCxnSpPr/>
          <p:nvPr/>
        </p:nvCxnSpPr>
        <p:spPr>
          <a:xfrm>
            <a:off x="2668555" y="5582716"/>
            <a:ext cx="0" cy="156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832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15">
            <a:extLst>
              <a:ext uri="{FF2B5EF4-FFF2-40B4-BE49-F238E27FC236}">
                <a16:creationId xmlns:a16="http://schemas.microsoft.com/office/drawing/2014/main" id="{A93F892D-6941-407A-B05F-1FF6E2436572}"/>
              </a:ext>
            </a:extLst>
          </p:cNvPr>
          <p:cNvSpPr/>
          <p:nvPr/>
        </p:nvSpPr>
        <p:spPr>
          <a:xfrm>
            <a:off x="4198858" y="269091"/>
            <a:ext cx="3382303" cy="523342"/>
          </a:xfrm>
          <a:prstGeom prst="roundRect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0" indent="0" algn="ctr"/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Влияние СМИ на общество</a:t>
            </a:r>
            <a:endParaRPr sz="1400" b="1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/>
            </a:endParaRPr>
          </a:p>
        </p:txBody>
      </p:sp>
      <p:sp>
        <p:nvSpPr>
          <p:cNvPr id="7" name="Shape 216">
            <a:extLst>
              <a:ext uri="{FF2B5EF4-FFF2-40B4-BE49-F238E27FC236}">
                <a16:creationId xmlns:a16="http://schemas.microsoft.com/office/drawing/2014/main" id="{A0FB732D-6C65-40BF-A0C8-1B40E42A29F3}"/>
              </a:ext>
            </a:extLst>
          </p:cNvPr>
          <p:cNvSpPr/>
          <p:nvPr/>
        </p:nvSpPr>
        <p:spPr>
          <a:xfrm flipH="1">
            <a:off x="4533122" y="3031150"/>
            <a:ext cx="551462" cy="318566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prstDash val="solid"/>
            <a:tailEnd type="arrow" w="med" len="me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8" name="Shape 217">
            <a:extLst>
              <a:ext uri="{FF2B5EF4-FFF2-40B4-BE49-F238E27FC236}">
                <a16:creationId xmlns:a16="http://schemas.microsoft.com/office/drawing/2014/main" id="{0F343BE4-C6C6-4476-B550-3D76328853ED}"/>
              </a:ext>
            </a:extLst>
          </p:cNvPr>
          <p:cNvSpPr/>
          <p:nvPr/>
        </p:nvSpPr>
        <p:spPr>
          <a:xfrm>
            <a:off x="7305430" y="3031150"/>
            <a:ext cx="551462" cy="318566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prstDash val="solid"/>
            <a:tailEnd type="arrow" w="med" len="me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9" name="Shape 218">
            <a:extLst>
              <a:ext uri="{FF2B5EF4-FFF2-40B4-BE49-F238E27FC236}">
                <a16:creationId xmlns:a16="http://schemas.microsoft.com/office/drawing/2014/main" id="{C461ED95-B56A-498D-AB89-0519D9ED5AA4}"/>
              </a:ext>
            </a:extLst>
          </p:cNvPr>
          <p:cNvSpPr/>
          <p:nvPr/>
        </p:nvSpPr>
        <p:spPr>
          <a:xfrm>
            <a:off x="230099" y="1044359"/>
            <a:ext cx="5659910" cy="5721203"/>
          </a:xfrm>
          <a:prstGeom prst="roundRect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Положительное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Информируют о важных событиях, знакомят с новостями, важными для жизни и деятельности различных людей.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Способствуют приобщению к событиям, значимым для больших масс людей.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Сообщают и предупреждают о серьезных природных и общественных катастрофах, знакомят с яркими поступками, действиями людей.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Поддерживают осуществление определенных социальных норм.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Знакомят аудиторию с талантливыми, значимыми и интересными людьми, создают и усиливают авторитеты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Заполняют свободное время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Снижают чувство одиночества, отчужденности, способствуют сплочению людей</a:t>
            </a:r>
          </a:p>
        </p:txBody>
      </p:sp>
      <p:sp>
        <p:nvSpPr>
          <p:cNvPr id="10" name="Shape 219">
            <a:extLst>
              <a:ext uri="{FF2B5EF4-FFF2-40B4-BE49-F238E27FC236}">
                <a16:creationId xmlns:a16="http://schemas.microsoft.com/office/drawing/2014/main" id="{FC42E90C-263D-4925-AC1C-412BDA147737}"/>
              </a:ext>
            </a:extLst>
          </p:cNvPr>
          <p:cNvSpPr/>
          <p:nvPr/>
        </p:nvSpPr>
        <p:spPr>
          <a:xfrm>
            <a:off x="6096000" y="1044359"/>
            <a:ext cx="5865901" cy="5721204"/>
          </a:xfrm>
          <a:prstGeom prst="roundRect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Отрицательное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Манипулируют общественным мнением с помощью искаженной или неполной информации.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Создают «</a:t>
            </a:r>
            <a:r>
              <a:rPr lang="ru-RU" sz="1100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псевдособытия</a:t>
            </a: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», «раздувают из мухи слона»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Способствуют уходу от событий и проблем собственной жизни.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Способствуют панике, а также повторению и распространению негативных поступков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Делают обыденными, допустимыми негативные поступки, прежде всего агрессию, насилие.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Способствуют закреплению стереотипов, усиливают конформизм.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Создают ложные авторитеты, способствуют «раскрутке» ложных талантов и лиц.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Содействуют резкому сужению круга реального общения, социальных контактов.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Ведут к стандартизации взглядов, вкусов, ухудшая их. 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Ведут к пассивному досугу, замене активного действия созерцанием.</a:t>
            </a:r>
          </a:p>
        </p:txBody>
      </p:sp>
      <p:sp>
        <p:nvSpPr>
          <p:cNvPr id="13" name="Shape 216">
            <a:extLst>
              <a:ext uri="{FF2B5EF4-FFF2-40B4-BE49-F238E27FC236}">
                <a16:creationId xmlns:a16="http://schemas.microsoft.com/office/drawing/2014/main" id="{754379BD-CD52-480A-9B9A-0A11BD6DDFDC}"/>
              </a:ext>
            </a:extLst>
          </p:cNvPr>
          <p:cNvSpPr/>
          <p:nvPr/>
        </p:nvSpPr>
        <p:spPr>
          <a:xfrm flipH="1">
            <a:off x="2974910" y="530762"/>
            <a:ext cx="540060" cy="306827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prstDash val="solid"/>
            <a:tailEnd type="arrow" w="med" len="me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  <p:sp>
        <p:nvSpPr>
          <p:cNvPr id="14" name="Shape 217">
            <a:extLst>
              <a:ext uri="{FF2B5EF4-FFF2-40B4-BE49-F238E27FC236}">
                <a16:creationId xmlns:a16="http://schemas.microsoft.com/office/drawing/2014/main" id="{7CF42A38-0C2C-4818-BABC-C0DF1E587F8A}"/>
              </a:ext>
            </a:extLst>
          </p:cNvPr>
          <p:cNvSpPr/>
          <p:nvPr/>
        </p:nvSpPr>
        <p:spPr>
          <a:xfrm>
            <a:off x="8265049" y="530762"/>
            <a:ext cx="540060" cy="306827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prstDash val="solid"/>
            <a:tailEnd type="arrow" w="med" len="med"/>
          </a:ln>
        </p:spPr>
        <p:style>
          <a:lnRef idx="0">
            <a:scrgbClr r="0" g="0" b="0"/>
          </a:lnRef>
          <a:fillRef idx="0">
            <a:schemeClr val="accent1"/>
          </a:fillRef>
          <a:effectRef idx="0">
            <a:scrgbClr r="0" g="0" b="0"/>
          </a:effectRef>
          <a:fontRef idx="none"/>
        </p:style>
      </p:sp>
    </p:spTree>
    <p:extLst>
      <p:ext uri="{BB962C8B-B14F-4D97-AF65-F5344CB8AC3E}">
        <p14:creationId xmlns:p14="http://schemas.microsoft.com/office/powerpoint/2010/main" val="3328666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390161A-D085-41CE-8AEC-028E869F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8873"/>
            <a:ext cx="12192000" cy="561551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ru-RU" sz="2800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br>
              <a:rPr lang="ru-RU" sz="2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dirty="0">
                <a:latin typeface="Verdana" panose="020B0604030504040204" pitchFamily="34" charset="0"/>
                <a:ea typeface="Verdana" panose="020B0604030504040204" pitchFamily="34" charset="0"/>
              </a:rPr>
              <a:t>	Методы воздействия СМИ</a:t>
            </a:r>
            <a:br>
              <a:rPr lang="ru-RU" sz="2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Shape 218">
            <a:extLst>
              <a:ext uri="{FF2B5EF4-FFF2-40B4-BE49-F238E27FC236}">
                <a16:creationId xmlns:a16="http://schemas.microsoft.com/office/drawing/2014/main" id="{9A8F8971-8481-4C4D-AA35-1387966ADCE4}"/>
              </a:ext>
            </a:extLst>
          </p:cNvPr>
          <p:cNvSpPr/>
          <p:nvPr/>
        </p:nvSpPr>
        <p:spPr>
          <a:xfrm>
            <a:off x="230099" y="1044360"/>
            <a:ext cx="6133380" cy="5544767"/>
          </a:xfrm>
          <a:prstGeom prst="roundRect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rgbClr r="0" g="0" b="0"/>
          </a:effectRef>
          <a:fontRef idx="none"/>
        </p:style>
        <p:txBody>
          <a:bodyPr lIns="91440" tIns="45720" rIns="91440" bIns="45720" anchor="ctr"/>
          <a:lstStyle/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Личное свидетельство (авторитет или «простой человек», Анонимный авторитет (Когда “ученые рекомендуют”, а “анонимные источники” сообщают))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Цифры и рейтинги (безотносительные цифры выглядят убедительно, а соцопросы создают эффект «спирали молчания»)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Ассоциативное связывание (семантическое манипулирование)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Эффект присутствия и показания очевидцев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Информационная волна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Сенсационность или срочность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Повторение(«Ложь, повторенная тысячу раз, становится правдой»)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Психологический шок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Конструирование «повестки дня»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Подмена понятия (Использование «красивых» слов для «некрасивых» дел)</a:t>
            </a:r>
          </a:p>
          <a:p>
            <a:pPr marL="171450" indent="-1714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Умолчание</a:t>
            </a:r>
          </a:p>
        </p:txBody>
      </p:sp>
      <p:pic>
        <p:nvPicPr>
          <p:cNvPr id="1028" name="Picture 4" descr="https://i.pinimg.com/564x/bd/18/94/bd18948421a299ebd8077c42b234a273.jpg">
            <a:extLst>
              <a:ext uri="{FF2B5EF4-FFF2-40B4-BE49-F238E27FC236}">
                <a16:creationId xmlns:a16="http://schemas.microsoft.com/office/drawing/2014/main" id="{1F9956B4-1152-4E96-A1D9-EADB068BC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057" y="1712036"/>
            <a:ext cx="5178546" cy="4347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4003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4">
            <a:extLst>
              <a:ext uri="{FF2B5EF4-FFF2-40B4-BE49-F238E27FC236}">
                <a16:creationId xmlns:a16="http://schemas.microsoft.com/office/drawing/2014/main" id="{7F656147-8CCF-4882-9630-81D27B45B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4816"/>
            <a:ext cx="12192000" cy="561551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ru-RU" sz="2800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br>
              <a:rPr lang="ru-RU" sz="2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Заключение</a:t>
            </a:r>
            <a:br>
              <a:rPr lang="ru-RU" sz="2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A5CB384-5131-42B2-9EEC-966629B740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95" t="22216" r="16889" b="19898"/>
          <a:stretch/>
        </p:blipFill>
        <p:spPr>
          <a:xfrm>
            <a:off x="1257074" y="1232010"/>
            <a:ext cx="9677852" cy="439398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2296941-2948-4473-9F1F-4CC593F897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105" t="58714" r="59474" b="29590"/>
          <a:stretch/>
        </p:blipFill>
        <p:spPr>
          <a:xfrm>
            <a:off x="1925053" y="5591078"/>
            <a:ext cx="3465094" cy="80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31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10424-E8FF-4012-AA00-FCDC4E90E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65" y="1736725"/>
            <a:ext cx="6924869" cy="1286393"/>
          </a:xfrm>
        </p:spPr>
        <p:txBody>
          <a:bodyPr/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1392233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953</Words>
  <Application>Microsoft Office PowerPoint</Application>
  <PresentationFormat>Широкоэкранный</PresentationFormat>
  <Paragraphs>115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Times New Roman</vt:lpstr>
      <vt:lpstr>Verdana</vt:lpstr>
      <vt:lpstr>Тема Office</vt:lpstr>
      <vt:lpstr>Минобранауки России   Федеральное государственное бюджетное образовательное учреждение высшего образования Санкт-Петербургский государственный технологический институт (технический университет)</vt:lpstr>
      <vt:lpstr>Закон Российской Федерации «О средствах массовой информации» от 27.12.1991 № 2124-1 — это нормативно-правовой акт, который регулирует отношения между участниками производства массовой информации в России. Закон устанавливает:  запрет цензуры; создание юридических возможностей для учреждения и регистрации не зависящих от государства и политических партий газет, журналов, теле- и радиопрограмм, агентств новостей.  Закон состоит из 7 глав, включающих в себя 62 статьи.   </vt:lpstr>
      <vt:lpstr> Что такое СМИ?</vt:lpstr>
      <vt:lpstr> Какие виды СМИ бывают?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  Методы воздействия СМИ </vt:lpstr>
      <vt:lpstr>   Заключение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Законы о СМИ. Законодательство, классификация, особенности использования. Психология влияния </dc:title>
  <dc:creator>Маша Шабалкина</dc:creator>
  <cp:lastModifiedBy>Маша Шабалкина</cp:lastModifiedBy>
  <cp:revision>34</cp:revision>
  <dcterms:created xsi:type="dcterms:W3CDTF">2024-04-18T19:14:13Z</dcterms:created>
  <dcterms:modified xsi:type="dcterms:W3CDTF">2025-04-11T10:26:39Z</dcterms:modified>
</cp:coreProperties>
</file>