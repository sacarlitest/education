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6" r:id="rId3"/>
    <p:sldId id="257" r:id="rId4"/>
    <p:sldId id="258" r:id="rId5"/>
    <p:sldId id="259" r:id="rId6"/>
    <p:sldId id="260" r:id="rId7"/>
    <p:sldId id="268" r:id="rId8"/>
    <p:sldId id="269" r:id="rId9"/>
    <p:sldId id="261" r:id="rId10"/>
    <p:sldId id="271" r:id="rId11"/>
    <p:sldId id="272" r:id="rId12"/>
    <p:sldId id="262" r:id="rId13"/>
    <p:sldId id="263" r:id="rId14"/>
    <p:sldId id="273" r:id="rId15"/>
    <p:sldId id="264" r:id="rId16"/>
    <p:sldId id="265" r:id="rId17"/>
    <p:sldId id="267" r:id="rId18"/>
    <p:sldId id="274" r:id="rId19"/>
  </p:sldIdLst>
  <p:sldSz cx="14630400" cy="8229600"/>
  <p:notesSz cx="8229600" cy="146304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Merriweather" panose="020B0604020202020204" charset="-52"/>
      <p:regular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71F"/>
    <a:srgbClr val="091A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65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nsultant.ru/" TargetMode="Externa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628418"/>
            <a:ext cx="7416403" cy="231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endParaRPr lang="en-US" sz="4850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50198" y="4312444"/>
            <a:ext cx="7416403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F819FD1-4298-487C-B4E2-94AEE423EA15}"/>
              </a:ext>
            </a:extLst>
          </p:cNvPr>
          <p:cNvSpPr txBox="1">
            <a:spLocks/>
          </p:cNvSpPr>
          <p:nvPr/>
        </p:nvSpPr>
        <p:spPr>
          <a:xfrm>
            <a:off x="5325818" y="1347831"/>
            <a:ext cx="9143999" cy="36933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800" b="1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Минобрнауки России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E8CF0-8C8D-4FA4-87B9-A934E9BDBE6A}"/>
              </a:ext>
            </a:extLst>
          </p:cNvPr>
          <p:cNvSpPr txBox="1"/>
          <p:nvPr/>
        </p:nvSpPr>
        <p:spPr>
          <a:xfrm>
            <a:off x="5498377" y="1682245"/>
            <a:ext cx="89831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</a:t>
            </a:r>
            <a:r>
              <a:rPr lang="en-US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образования Санкт-Петербургский государственный технологический институт (Технический университет)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8F6CB0-4F44-4B8B-B463-43AF2EEED424}"/>
              </a:ext>
            </a:extLst>
          </p:cNvPr>
          <p:cNvSpPr txBox="1"/>
          <p:nvPr/>
        </p:nvSpPr>
        <p:spPr>
          <a:xfrm>
            <a:off x="5832629" y="2605575"/>
            <a:ext cx="87977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Направление подготовки</a:t>
            </a:r>
            <a:r>
              <a:rPr lang="en-US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 09.03.01 </a:t>
            </a:r>
            <a:r>
              <a:rPr lang="en-US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“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Информатика и вычислительная техника</a:t>
            </a:r>
            <a:r>
              <a:rPr lang="en-US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”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Направленность образовательной программы</a:t>
            </a:r>
            <a:r>
              <a:rPr lang="en-US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: “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Системы автоматизированного проектирования</a:t>
            </a:r>
            <a:r>
              <a:rPr lang="en-US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”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Факультет информационных технологий и управления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Кафедра систем автоматизированного проектирования и управления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B72B68-3E87-46D7-8895-682C1BA866BC}"/>
              </a:ext>
            </a:extLst>
          </p:cNvPr>
          <p:cNvSpPr txBox="1"/>
          <p:nvPr/>
        </p:nvSpPr>
        <p:spPr>
          <a:xfrm>
            <a:off x="5820966" y="4582337"/>
            <a:ext cx="8648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Дисциплина: «Правовые основы информатики»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AB04E7-A4A9-4E6F-BFC0-9286EC0F373E}"/>
              </a:ext>
            </a:extLst>
          </p:cNvPr>
          <p:cNvSpPr txBox="1"/>
          <p:nvPr/>
        </p:nvSpPr>
        <p:spPr>
          <a:xfrm>
            <a:off x="5395630" y="5073580"/>
            <a:ext cx="89831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Правовая охрана программ для ЭВМ и БД как объектов интеллектуальной собственности в РФ, Европе и США. Сравнение. Особенности</a:t>
            </a:r>
            <a:endParaRPr lang="ru-RU" sz="2000" b="1" dirty="0">
              <a:solidFill>
                <a:schemeClr val="bg1"/>
              </a:solidFill>
              <a:latin typeface="Merriweather" panose="020B0604020202020204" charset="-52"/>
              <a:cs typeface="Times New Roman" panose="02020603050405020304" pitchFamily="18" charset="0"/>
            </a:endParaRP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0A0A012B-D643-4439-8100-3E7DA750F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757863"/>
              </p:ext>
            </p:extLst>
          </p:nvPr>
        </p:nvGraphicFramePr>
        <p:xfrm>
          <a:off x="5885471" y="6090847"/>
          <a:ext cx="8208912" cy="954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133">
                <a:tc>
                  <a:txBody>
                    <a:bodyPr/>
                    <a:lstStyle/>
                    <a:p>
                      <a:r>
                        <a:rPr lang="ru-RU" sz="16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Merriweather" panose="020B0604020202020204" charset="-52"/>
                          <a:cs typeface="Times New Roman" panose="02020603050405020304" pitchFamily="18" charset="0"/>
                        </a:rPr>
                        <a:t>Студент 423 группы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Merriweather" panose="020B0604020202020204" charset="-52"/>
                          <a:cs typeface="Times New Roman" panose="02020603050405020304" pitchFamily="18" charset="0"/>
                        </a:rPr>
                        <a:t>Рунина А. С.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133">
                <a:tc>
                  <a:txBody>
                    <a:bodyPr/>
                    <a:lstStyle/>
                    <a:p>
                      <a:r>
                        <a:rPr lang="ru-RU" sz="16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Merriweather" panose="020B0604020202020204" charset="-52"/>
                          <a:cs typeface="Times New Roman" panose="02020603050405020304" pitchFamily="18" charset="0"/>
                        </a:rPr>
                        <a:t>Руководитель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Merriweather" panose="020B0604020202020204" charset="-52"/>
                          <a:cs typeface="Times New Roman" panose="02020603050405020304" pitchFamily="18" charset="0"/>
                        </a:rPr>
                        <a:t>Кузнецова Г.В.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FD2DDA8-63DC-4858-A569-2726F66BF100}"/>
              </a:ext>
            </a:extLst>
          </p:cNvPr>
          <p:cNvSpPr txBox="1"/>
          <p:nvPr/>
        </p:nvSpPr>
        <p:spPr>
          <a:xfrm>
            <a:off x="7010399" y="734949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ru-RU" alt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Санкт-Петербург</a:t>
            </a:r>
          </a:p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ru-RU" alt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202</a:t>
            </a:r>
            <a:r>
              <a:rPr lang="en-US" alt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5</a:t>
            </a:r>
            <a:endParaRPr lang="ru-RU" altLang="ru-RU" dirty="0">
              <a:solidFill>
                <a:schemeClr val="bg1"/>
              </a:solidFill>
              <a:latin typeface="Merriweather" panose="020B0604020202020204" charset="-52"/>
              <a:cs typeface="Times New Roman" panose="02020603050405020304" pitchFamily="18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5B0D2B5-86AC-4E71-AAEF-F02AD88093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7572" y="267340"/>
            <a:ext cx="791162" cy="1010930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FE7F256-2E02-4529-9E5D-F28182219277}"/>
              </a:ext>
            </a:extLst>
          </p:cNvPr>
          <p:cNvSpPr/>
          <p:nvPr/>
        </p:nvSpPr>
        <p:spPr>
          <a:xfrm>
            <a:off x="12790967" y="7505479"/>
            <a:ext cx="1839431" cy="646331"/>
          </a:xfrm>
          <a:prstGeom prst="rect">
            <a:avLst/>
          </a:prstGeom>
          <a:solidFill>
            <a:srgbClr val="09171F"/>
          </a:solidFill>
          <a:ln>
            <a:solidFill>
              <a:srgbClr val="091A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5EB0EE-2F5A-49D9-91E4-79F72327B0C6}"/>
              </a:ext>
            </a:extLst>
          </p:cNvPr>
          <p:cNvSpPr/>
          <p:nvPr/>
        </p:nvSpPr>
        <p:spPr>
          <a:xfrm>
            <a:off x="171893" y="846874"/>
            <a:ext cx="10345479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1 Теоретические основы правовой охраны программ для ЭВМ и баз данных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1.1 Понятие и правовая природа программ для ЭВМ и баз данных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1.2 Место программ и баз данных в системе объектов авторского права	</a:t>
            </a:r>
          </a:p>
          <a:p>
            <a:r>
              <a:rPr lang="ru-RU" b="1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2 Правовая охрана программ для ЭВМ и баз данных в Российской Федерации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2.1. Законодательная база (ГК РФ, международные соглашения)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2.2. Регистрация и охрана прав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2.3. Сроки охраны и особенности защиты	</a:t>
            </a:r>
          </a:p>
          <a:p>
            <a:r>
              <a:rPr lang="ru-RU" b="1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3 Правовая охрана программ для ЭВМ и баз данных в Европейском Союзе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3.1 Основные нормативные акты ЕС в области охраны программ для ЭВМ и баз данных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3.2 Правовой статус программ для ЭВМ как объектов авторского права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3.3 Особенности правовой охраны баз данных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3.4 Исключительные права и их объем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3.5 Механизмы защиты прав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3.6 Патентная охрана программного обеспечения в ЕС	</a:t>
            </a:r>
          </a:p>
          <a:p>
            <a:r>
              <a:rPr lang="ru-RU" b="1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4 Правовая охрана программ для ЭВМ и баз данных в США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4.1 Законодательная база (</a:t>
            </a:r>
            <a:r>
              <a:rPr lang="ru-RU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Copyright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Act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, DMCA)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4.2 Регистрация и особенности правоприменения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4.3 Охрана баз данных в отсутствие </a:t>
            </a:r>
            <a:r>
              <a:rPr lang="ru-RU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sui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generis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 защиты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4.4 Прецедентная практика	</a:t>
            </a:r>
          </a:p>
          <a:p>
            <a:r>
              <a:rPr lang="ru-RU" b="1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5 Сравнительный анализ подходов РФ, ЕС и США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5.1 Сходства в регулировании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5.2 Ключевые различия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5.3 Подходы к охране интерфейсов, исходного кода и алгоритмов	</a:t>
            </a:r>
          </a:p>
          <a:p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5.4 Практические последствия для разработчиков и компаний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C1155E8-021E-4C89-A725-769896B57345}"/>
              </a:ext>
            </a:extLst>
          </p:cNvPr>
          <p:cNvSpPr/>
          <p:nvPr/>
        </p:nvSpPr>
        <p:spPr>
          <a:xfrm>
            <a:off x="467833" y="366397"/>
            <a:ext cx="129028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ru-RU" sz="4850" dirty="0">
                <a:solidFill>
                  <a:srgbClr val="F5F0F0"/>
                </a:solidFill>
                <a:latin typeface="Merriweather" pitchFamily="34" charset="0"/>
              </a:rPr>
              <a:t>Перечень рассмотренных вопросов</a:t>
            </a:r>
            <a:endParaRPr lang="en-US" sz="4850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9C44FE5-5D81-4FEB-97BE-4584F2A21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4780" y="4516611"/>
            <a:ext cx="5571461" cy="3133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4C371FD-2BD3-4087-92F6-086D4A0DD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2129" y="1160187"/>
            <a:ext cx="3821071" cy="2865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F07CADB-8C9F-4108-875C-BC1831AF546F}"/>
              </a:ext>
            </a:extLst>
          </p:cNvPr>
          <p:cNvSpPr/>
          <p:nvPr/>
        </p:nvSpPr>
        <p:spPr>
          <a:xfrm>
            <a:off x="12610215" y="7665410"/>
            <a:ext cx="1903226" cy="486400"/>
          </a:xfrm>
          <a:prstGeom prst="rect">
            <a:avLst/>
          </a:prstGeom>
          <a:solidFill>
            <a:srgbClr val="09171F"/>
          </a:solidFill>
          <a:ln>
            <a:solidFill>
              <a:srgbClr val="091A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0E97EF1-F7FB-4CE4-A476-FDBBDB753F31}"/>
              </a:ext>
            </a:extLst>
          </p:cNvPr>
          <p:cNvSpPr/>
          <p:nvPr/>
        </p:nvSpPr>
        <p:spPr>
          <a:xfrm>
            <a:off x="13485366" y="7430214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1/17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82283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692348"/>
            <a:ext cx="129028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Теоретические основы правовой охраны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2851904"/>
            <a:ext cx="330719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Программы для ЭВМ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3484245"/>
            <a:ext cx="6150293" cy="23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Программы для ЭВМ - это совокупность инструкций, выраженных в форме исходного или объектного кода, предназначенных для выполнения определённых функций на компьютере</a:t>
            </a: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 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2851904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Базы данных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23929" y="3484245"/>
            <a:ext cx="6150293" cy="23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Базы данных - это систематизированные собрания данных, организованные для обеспечения их поиска и обработки с использованием ЭВМ. В правовом смысле база данных </a:t>
            </a:r>
            <a:r>
              <a:rPr lang="ru-RU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- 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объект интеллектуальной собственности.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6352818"/>
            <a:ext cx="1290280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Программы для ЭВМ и базы данных обладают двойственной природой: они являются одновременно техническими и творческими объектами. Их правовая охрана основана на признании творческого вклада или инвестиций.</a:t>
            </a:r>
            <a:endParaRPr lang="en-US" sz="19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CD7CA1F-FE94-4A5F-9A20-88D90388E261}"/>
              </a:ext>
            </a:extLst>
          </p:cNvPr>
          <p:cNvSpPr/>
          <p:nvPr/>
        </p:nvSpPr>
        <p:spPr>
          <a:xfrm>
            <a:off x="12674009" y="7505479"/>
            <a:ext cx="1839431" cy="646331"/>
          </a:xfrm>
          <a:prstGeom prst="rect">
            <a:avLst/>
          </a:prstGeom>
          <a:solidFill>
            <a:srgbClr val="09171F"/>
          </a:solidFill>
          <a:ln>
            <a:solidFill>
              <a:srgbClr val="091A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B1EA7B6-B8AF-4BEE-958D-11F62B99FF3A}"/>
              </a:ext>
            </a:extLst>
          </p:cNvPr>
          <p:cNvSpPr/>
          <p:nvPr/>
        </p:nvSpPr>
        <p:spPr>
          <a:xfrm>
            <a:off x="13253844" y="7237571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2/17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8749" y="588288"/>
            <a:ext cx="7759303" cy="1236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Место программ и баз данных в системе авторского права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178748" y="2660571"/>
            <a:ext cx="445056" cy="445056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630" y="2711532"/>
            <a:ext cx="296704" cy="3708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21567" y="2660571"/>
            <a:ext cx="2649855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Программы для ЭВМ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6821567" y="3088243"/>
            <a:ext cx="7116485" cy="949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Программы для ЭВМ занимают особое место в системе объектов авторского права, сочетая творческий и функциональный аспекты. Охраняются как литературные произведения.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6178748" y="4458295"/>
            <a:ext cx="445056" cy="445056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2924" y="4495383"/>
            <a:ext cx="296704" cy="370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21567" y="4458295"/>
            <a:ext cx="2472809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Базы данных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6821567" y="4885968"/>
            <a:ext cx="7116485" cy="949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Базы данных занимают менее однозначное место, так как их охрана зависит от наличия творческого вклада. Защищаются как «сборники произведений», если их структура или подбор данных оригинальны.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6178749" y="6239130"/>
            <a:ext cx="7759303" cy="1266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Программы для ЭВМ и базы данных выделяются среди других объектов авторского права из-за их технической природы и экономической ценности. Ограничения авторского права компенсируются другими видами ИС (патенты, право sui generis, коммерческая тайна).</a:t>
            </a:r>
            <a:endParaRPr lang="en-US" sz="15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E5909E1-D0A9-4AB2-B90F-AA1374AC8579}"/>
              </a:ext>
            </a:extLst>
          </p:cNvPr>
          <p:cNvSpPr/>
          <p:nvPr/>
        </p:nvSpPr>
        <p:spPr>
          <a:xfrm>
            <a:off x="12790967" y="7505479"/>
            <a:ext cx="1839431" cy="646331"/>
          </a:xfrm>
          <a:prstGeom prst="rect">
            <a:avLst/>
          </a:prstGeom>
          <a:solidFill>
            <a:srgbClr val="09171F"/>
          </a:solidFill>
          <a:ln>
            <a:solidFill>
              <a:srgbClr val="091A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EC22E09-36AD-4718-9271-D8CC5A494EB6}"/>
              </a:ext>
            </a:extLst>
          </p:cNvPr>
          <p:cNvSpPr/>
          <p:nvPr/>
        </p:nvSpPr>
        <p:spPr>
          <a:xfrm>
            <a:off x="13485366" y="7430214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3/17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8424" y="658416"/>
            <a:ext cx="7687151" cy="1300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Правовая охрана в Российской Федерации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8424" y="2271236"/>
            <a:ext cx="3739515" cy="3211711"/>
          </a:xfrm>
          <a:prstGeom prst="roundRect">
            <a:avLst>
              <a:gd name="adj" fmla="val 2722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4166" y="2486978"/>
            <a:ext cx="2923103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Законодательная база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44166" y="2936915"/>
            <a:ext cx="3308033" cy="2330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Регулируется нормами авторского права, закрепленными в части четвертой Гражданского кодекса РФ (ГК РФ), а также международными соглашениями.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76061" y="2271236"/>
            <a:ext cx="3739515" cy="3211711"/>
          </a:xfrm>
          <a:prstGeom prst="roundRect">
            <a:avLst>
              <a:gd name="adj" fmla="val 2722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1802" y="2486978"/>
            <a:ext cx="3308033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Регистрация и охрана прав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891802" y="3262074"/>
            <a:ext cx="3308033" cy="1331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Регистрация программ для ЭВМ и баз данных в России является добровольной и осуществляется Роспатентом.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8424" y="5691068"/>
            <a:ext cx="7687151" cy="1880116"/>
          </a:xfrm>
          <a:prstGeom prst="roundRect">
            <a:avLst>
              <a:gd name="adj" fmla="val 465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4166" y="5906810"/>
            <a:ext cx="507432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Сроки охраны и особенности защиты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44166" y="6356747"/>
            <a:ext cx="7255669" cy="99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Имущественные права действуют в течение жизни автора и 70 лет после его смерти. Особенности защиты включают возможность применения альтернативных механизмов.</a:t>
            </a:r>
            <a:endParaRPr lang="en-US" sz="16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63D0EF9-BDA4-4FEB-AEE8-E75CE9CCDE4B}"/>
              </a:ext>
            </a:extLst>
          </p:cNvPr>
          <p:cNvSpPr/>
          <p:nvPr/>
        </p:nvSpPr>
        <p:spPr>
          <a:xfrm>
            <a:off x="13485366" y="7430214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4/17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1959" y="562689"/>
            <a:ext cx="7812881" cy="1188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Правовая охрана в Европейском Союзе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959" y="2036326"/>
            <a:ext cx="950833" cy="13999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87947" y="2226469"/>
            <a:ext cx="2673906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Директива 91/250/EEC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387947" y="2637711"/>
            <a:ext cx="6576893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Устанавливает правовую охрану компьютерных программ как объектов авторского права.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1959" y="3436263"/>
            <a:ext cx="950833" cy="139993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87947" y="3626406"/>
            <a:ext cx="237720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Директива 96/9/EC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87947" y="4037648"/>
            <a:ext cx="6576893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Регулирует защиту баз данных через два механизма — авторское право и право sui generis.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1959" y="4836200"/>
            <a:ext cx="950833" cy="139993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87947" y="5026343"/>
            <a:ext cx="275248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Международные акты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387947" y="5437584"/>
            <a:ext cx="6576893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Бернская конвенция и Соглашение ТРИПС задают минимальные стандарты охраны авторских прав.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6151959" y="6449973"/>
            <a:ext cx="7812881" cy="1216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Согласно Директиве 2009/24/EC, программы для ЭВМ (включая исходный и объектный код) охраняются как литературные произведения. Авторское право распространяется только на форму выражения программы (код, интерфейс), но не на идеи, алгоритмы, методы или функциональность.</a:t>
            </a:r>
            <a:endParaRPr lang="en-US" sz="14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73EEC44-FB89-44ED-8DF3-4C1BBED715D2}"/>
              </a:ext>
            </a:extLst>
          </p:cNvPr>
          <p:cNvSpPr/>
          <p:nvPr/>
        </p:nvSpPr>
        <p:spPr>
          <a:xfrm>
            <a:off x="12790969" y="7767322"/>
            <a:ext cx="1839431" cy="355199"/>
          </a:xfrm>
          <a:prstGeom prst="rect">
            <a:avLst/>
          </a:prstGeom>
          <a:solidFill>
            <a:srgbClr val="09171F"/>
          </a:solidFill>
          <a:ln>
            <a:solidFill>
              <a:srgbClr val="091A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18A04C3-964A-4283-95C1-DD34EA42DF4A}"/>
              </a:ext>
            </a:extLst>
          </p:cNvPr>
          <p:cNvSpPr/>
          <p:nvPr/>
        </p:nvSpPr>
        <p:spPr>
          <a:xfrm>
            <a:off x="13485366" y="7430214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5/17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351BCE3-8922-4DE6-A854-CB2FDD46D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6EDE04D-4DCE-4329-9A36-86DFC7D46CBF}"/>
              </a:ext>
            </a:extLst>
          </p:cNvPr>
          <p:cNvSpPr/>
          <p:nvPr/>
        </p:nvSpPr>
        <p:spPr>
          <a:xfrm>
            <a:off x="394549" y="368227"/>
            <a:ext cx="9405139" cy="1231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700" dirty="0">
                <a:solidFill>
                  <a:schemeClr val="bg1"/>
                </a:solidFill>
                <a:latin typeface="Merriweather" panose="020B0604020202020204" charset="-52"/>
              </a:rPr>
              <a:t>Правовой статус программ для ЭВМ </a:t>
            </a:r>
          </a:p>
          <a:p>
            <a:r>
              <a:rPr lang="ru-RU" sz="3700" dirty="0">
                <a:solidFill>
                  <a:schemeClr val="bg1"/>
                </a:solidFill>
                <a:latin typeface="Merriweather" panose="020B0604020202020204" charset="-52"/>
              </a:rPr>
              <a:t>как объектов авторского права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0FC7719-2844-46F1-812D-ABA1B461C80F}"/>
              </a:ext>
            </a:extLst>
          </p:cNvPr>
          <p:cNvSpPr/>
          <p:nvPr/>
        </p:nvSpPr>
        <p:spPr>
          <a:xfrm>
            <a:off x="518016" y="1524905"/>
            <a:ext cx="8502517" cy="6588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Классификация как литературных произведений: Согласно Директиве 2009/24/EC, программы для ЭВМ (включая исходный и объектный код) охраняются как литературные произведения. Это обеспечивает единый подход к защите ПО в странах ЕС.</a:t>
            </a:r>
            <a:endParaRPr lang="ru-RU" sz="1400" dirty="0">
              <a:solidFill>
                <a:schemeClr val="bg1"/>
              </a:solidFill>
              <a:effectLst/>
              <a:latin typeface="Merriweather" panose="020B0604020202020204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Критерий </a:t>
            </a:r>
            <a:r>
              <a:rPr lang="ru-RU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охраноспособности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: Программа должна быть оригинальной, то есть представлять собой результат творческой деятельности автора. Суд ЕС в деле BSA v </a:t>
            </a:r>
            <a:r>
              <a:rPr lang="ru-RU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Ministry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Culture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(2010) уточнил, что оригинальность подразумевает «интеллектуальное творчество».</a:t>
            </a:r>
            <a:endParaRPr lang="ru-RU" sz="1400" dirty="0">
              <a:solidFill>
                <a:schemeClr val="bg1"/>
              </a:solidFill>
              <a:effectLst/>
              <a:latin typeface="Merriweather" panose="020B0604020202020204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Ограничения охраны: Авторское право распространяется только на форму выражения программы (код, интерфейс), но не на идеи, алгоритмы, методы или функциональность. </a:t>
            </a: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Графические элементы и интерфейсы: Графические интерфейсы могут охраняться авторским правом, если они оригинальны.</a:t>
            </a:r>
            <a:endParaRPr lang="ru-RU" sz="1400" dirty="0">
              <a:solidFill>
                <a:schemeClr val="bg1"/>
              </a:solidFill>
              <a:effectLst/>
              <a:latin typeface="Merriweather" panose="020B0604020202020204" charset="-52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F6E55E3-9935-46DF-B7B0-144B4B330215}"/>
              </a:ext>
            </a:extLst>
          </p:cNvPr>
          <p:cNvSpPr/>
          <p:nvPr/>
        </p:nvSpPr>
        <p:spPr>
          <a:xfrm>
            <a:off x="13485366" y="7430214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6/17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233464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6A88A51-886A-460C-A998-392E4EF2F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A210458-C6F5-442B-827D-59C3F5378E9E}"/>
              </a:ext>
            </a:extLst>
          </p:cNvPr>
          <p:cNvSpPr/>
          <p:nvPr/>
        </p:nvSpPr>
        <p:spPr>
          <a:xfrm>
            <a:off x="5837275" y="119766"/>
            <a:ext cx="7973658" cy="1231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700" b="1" dirty="0">
                <a:solidFill>
                  <a:schemeClr val="bg1"/>
                </a:solidFill>
                <a:latin typeface="Merriweather" panose="020B0604020202020204" charset="-52"/>
              </a:rPr>
              <a:t>Особенности правовой охраны </a:t>
            </a:r>
          </a:p>
          <a:p>
            <a:r>
              <a:rPr lang="ru-RU" sz="3700" b="1" dirty="0">
                <a:solidFill>
                  <a:schemeClr val="bg1"/>
                </a:solidFill>
                <a:latin typeface="Merriweather" panose="020B0604020202020204" charset="-52"/>
              </a:rPr>
              <a:t>баз данных</a:t>
            </a:r>
            <a:endParaRPr lang="ru-RU" sz="3700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41F34BC-A9DB-40C5-8ED7-F33A0AE3717D}"/>
              </a:ext>
            </a:extLst>
          </p:cNvPr>
          <p:cNvSpPr/>
          <p:nvPr/>
        </p:nvSpPr>
        <p:spPr>
          <a:xfrm>
            <a:off x="5986129" y="1441277"/>
            <a:ext cx="8463517" cy="6070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Авторское право на базы данных: Согласно Директиве 96/9/EC, база данных охраняется авторским правом, если ее структура или выбор содержимого оригинальны. Например, база данных с уникальной систематизацией данных (например, научные архивы) может подпадать под эту защиту.</a:t>
            </a:r>
            <a:endParaRPr lang="ru-RU" sz="1400" dirty="0">
              <a:solidFill>
                <a:schemeClr val="bg1"/>
              </a:solidFill>
              <a:effectLst/>
              <a:latin typeface="Merriweather" panose="020B0604020202020204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Право </a:t>
            </a:r>
            <a:r>
              <a:rPr lang="ru-RU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sui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generis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: если база данных не отвечает критериям оригинальности, но ее создание потребовало значительных инвестиций (финансовых, временных, трудовых), она защищается правом </a:t>
            </a:r>
            <a:r>
              <a:rPr lang="ru-RU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sui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generis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. Это право защищает содержимое базы данных, а не только ее структуру.</a:t>
            </a:r>
            <a:endParaRPr lang="ru-RU" sz="1400" dirty="0">
              <a:solidFill>
                <a:schemeClr val="bg1"/>
              </a:solidFill>
              <a:effectLst/>
              <a:latin typeface="Merriweather" panose="020B0604020202020204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Срок действия: Авторское право действует в течение жизни автора плюс 70 лет после его смерти. Право </a:t>
            </a:r>
            <a:r>
              <a:rPr lang="ru-RU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sui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generis</a:t>
            </a:r>
            <a:r>
              <a:rPr lang="ru-RU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длится 15 лет с момента создания базы или ее существенного обновления, что позволяет продлевать защиту при регулярных инвестициях.</a:t>
            </a:r>
            <a:endParaRPr lang="ru-RU" sz="1400" dirty="0">
              <a:solidFill>
                <a:schemeClr val="bg1"/>
              </a:solidFill>
              <a:effectLst/>
              <a:latin typeface="Merriweather" panose="020B0604020202020204" charset="-52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83034C-D4B1-490A-8551-688FEA6C14FE}"/>
              </a:ext>
            </a:extLst>
          </p:cNvPr>
          <p:cNvSpPr/>
          <p:nvPr/>
        </p:nvSpPr>
        <p:spPr>
          <a:xfrm>
            <a:off x="12790967" y="7505479"/>
            <a:ext cx="1839431" cy="646331"/>
          </a:xfrm>
          <a:prstGeom prst="rect">
            <a:avLst/>
          </a:prstGeom>
          <a:solidFill>
            <a:srgbClr val="09171F"/>
          </a:solidFill>
          <a:ln>
            <a:solidFill>
              <a:srgbClr val="091A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C8DCC9-9DC9-4C71-9EB8-0E857739D8FC}"/>
              </a:ext>
            </a:extLst>
          </p:cNvPr>
          <p:cNvSpPr/>
          <p:nvPr/>
        </p:nvSpPr>
        <p:spPr>
          <a:xfrm>
            <a:off x="13485366" y="7430214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7/17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8289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785" y="611148"/>
            <a:ext cx="6557843" cy="67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Правовая охрана в США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53785" y="1714976"/>
            <a:ext cx="2187059" cy="1585555"/>
          </a:xfrm>
          <a:prstGeom prst="roundRect">
            <a:avLst>
              <a:gd name="adj" fmla="val 5706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95807" y="2318385"/>
            <a:ext cx="302895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3156228" y="1930360"/>
            <a:ext cx="2692479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Copyright Act (1976)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156228" y="2396014"/>
            <a:ext cx="10505003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Основной закон, регулирующий авторское право в США. Программы охраняются как литературные произведения.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048476" y="3285292"/>
            <a:ext cx="10720507" cy="15240"/>
          </a:xfrm>
          <a:prstGeom prst="roundRect">
            <a:avLst>
              <a:gd name="adj" fmla="val 593623"/>
            </a:avLst>
          </a:prstGeom>
          <a:solidFill>
            <a:srgbClr val="194A99"/>
          </a:solidFill>
          <a:ln/>
        </p:spPr>
      </p:sp>
      <p:sp>
        <p:nvSpPr>
          <p:cNvPr id="8" name="Shape 6"/>
          <p:cNvSpPr/>
          <p:nvPr/>
        </p:nvSpPr>
        <p:spPr>
          <a:xfrm>
            <a:off x="753785" y="3408164"/>
            <a:ext cx="4374237" cy="1585555"/>
          </a:xfrm>
          <a:prstGeom prst="roundRect">
            <a:avLst>
              <a:gd name="adj" fmla="val 5706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9396" y="4011573"/>
            <a:ext cx="302895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5343406" y="3623548"/>
            <a:ext cx="2692479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DMCA (1998)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343406" y="4089202"/>
            <a:ext cx="831782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Усиливает защиту авторских прав в цифровой среде. Вводит меры против обхода технических средств защиты.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35654" y="4978479"/>
            <a:ext cx="8533328" cy="15240"/>
          </a:xfrm>
          <a:prstGeom prst="roundRect">
            <a:avLst>
              <a:gd name="adj" fmla="val 593623"/>
            </a:avLst>
          </a:prstGeom>
          <a:solidFill>
            <a:srgbClr val="194A99"/>
          </a:solidFill>
          <a:ln/>
        </p:spPr>
      </p:sp>
      <p:sp>
        <p:nvSpPr>
          <p:cNvPr id="13" name="Shape 11"/>
          <p:cNvSpPr/>
          <p:nvPr/>
        </p:nvSpPr>
        <p:spPr>
          <a:xfrm>
            <a:off x="753785" y="5101352"/>
            <a:ext cx="6561415" cy="1585555"/>
          </a:xfrm>
          <a:prstGeom prst="roundRect">
            <a:avLst>
              <a:gd name="adj" fmla="val 5706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2985" y="5704761"/>
            <a:ext cx="302895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7530584" y="5316736"/>
            <a:ext cx="2692479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Patent Act (1952)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530584" y="5782389"/>
            <a:ext cx="6130647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Позволяет патентовать программное обеспечение, если оно связано с техническим изобретением.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53785" y="6929199"/>
            <a:ext cx="13122831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Авторское право на программы и базы данных возникает автоматически с момента создания, но регистрация в Бюро авторских прав усиливает защиту. Умышленное нарушение авторских прав влечет штрафы и тюремное заключение.</a:t>
            </a:r>
            <a:endParaRPr lang="en-US" sz="16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D7F6B45-50A4-4DAF-A258-6A8B4DCAE55B}"/>
              </a:ext>
            </a:extLst>
          </p:cNvPr>
          <p:cNvSpPr/>
          <p:nvPr/>
        </p:nvSpPr>
        <p:spPr>
          <a:xfrm>
            <a:off x="12790969" y="7767322"/>
            <a:ext cx="1839431" cy="355199"/>
          </a:xfrm>
          <a:prstGeom prst="rect">
            <a:avLst/>
          </a:prstGeom>
          <a:solidFill>
            <a:srgbClr val="09171F"/>
          </a:solidFill>
          <a:ln>
            <a:solidFill>
              <a:srgbClr val="091A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130D400-C8EE-47DB-B288-D24BC2BF5422}"/>
              </a:ext>
            </a:extLst>
          </p:cNvPr>
          <p:cNvSpPr/>
          <p:nvPr/>
        </p:nvSpPr>
        <p:spPr>
          <a:xfrm>
            <a:off x="13485366" y="7430214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8/17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EBFA172-0073-4C40-AD85-EEBCB2133B26}"/>
              </a:ext>
            </a:extLst>
          </p:cNvPr>
          <p:cNvSpPr/>
          <p:nvPr/>
        </p:nvSpPr>
        <p:spPr>
          <a:xfrm>
            <a:off x="12790967" y="7505479"/>
            <a:ext cx="1839431" cy="646331"/>
          </a:xfrm>
          <a:prstGeom prst="rect">
            <a:avLst/>
          </a:prstGeom>
          <a:solidFill>
            <a:srgbClr val="09171F"/>
          </a:solidFill>
          <a:ln>
            <a:solidFill>
              <a:srgbClr val="091A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C26CF15-045A-48EC-B8A2-173FC9C60D13}"/>
              </a:ext>
            </a:extLst>
          </p:cNvPr>
          <p:cNvSpPr/>
          <p:nvPr/>
        </p:nvSpPr>
        <p:spPr>
          <a:xfrm>
            <a:off x="194258" y="1257615"/>
            <a:ext cx="13875489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Регистрация авторских прав в США не является обязательной, но предоставляет значительные преимущества.</a:t>
            </a:r>
          </a:p>
          <a:p>
            <a:pPr indent="457200" algn="just"/>
            <a:endParaRPr lang="ru-RU" sz="1600" dirty="0">
              <a:solidFill>
                <a:schemeClr val="bg1"/>
              </a:solidFill>
              <a:latin typeface="Merriweather" panose="020B0604020202020204" charset="-52"/>
            </a:endParaRPr>
          </a:p>
          <a:p>
            <a:pPr indent="457200" algn="just"/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Регистрация в Бюро авторских прав США (U.S. </a:t>
            </a:r>
            <a:r>
              <a:rPr lang="ru-RU" sz="1600" dirty="0" err="1">
                <a:solidFill>
                  <a:schemeClr val="bg1"/>
                </a:solidFill>
                <a:latin typeface="Merriweather" panose="020B0604020202020204" charset="-52"/>
              </a:rPr>
              <a:t>Copyright</a:t>
            </a:r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Merriweather" panose="020B0604020202020204" charset="-52"/>
              </a:rPr>
              <a:t>Office</a:t>
            </a:r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):</a:t>
            </a:r>
          </a:p>
          <a:p>
            <a:pPr indent="457200" algn="just"/>
            <a:endParaRPr lang="ru-RU" sz="1600" dirty="0">
              <a:solidFill>
                <a:schemeClr val="bg1"/>
              </a:solidFill>
              <a:latin typeface="Merriweather" panose="020B0604020202020204" charset="-52"/>
            </a:endParaRPr>
          </a:p>
          <a:p>
            <a:pPr indent="457200" algn="just"/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Авторское право на программы и базы данных возникает автоматически с момента создания, но регистрация в Бюро авторских прав, расположенном при Библиотеке Конгресса, усиливает защиту. Регистрация требует подачи заявки, депонирования материалов (например, части исходного кода) и уплаты сбора (около $45–$65). </a:t>
            </a:r>
          </a:p>
          <a:p>
            <a:pPr indent="457200" algn="just"/>
            <a:endParaRPr lang="ru-RU" sz="1600" dirty="0">
              <a:solidFill>
                <a:schemeClr val="bg1"/>
              </a:solidFill>
              <a:latin typeface="Merriweather" panose="020B0604020202020204" charset="-52"/>
            </a:endParaRPr>
          </a:p>
          <a:p>
            <a:pPr indent="457200" algn="just"/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Преимущества регистрации:</a:t>
            </a:r>
          </a:p>
          <a:p>
            <a:pPr indent="457200" algn="just"/>
            <a:endParaRPr lang="ru-RU" sz="1600" dirty="0">
              <a:solidFill>
                <a:schemeClr val="bg1"/>
              </a:solidFill>
              <a:latin typeface="Merriweather" panose="020B0604020202020204" charset="-52"/>
            </a:endParaRPr>
          </a:p>
          <a:p>
            <a:pPr indent="457200" algn="just"/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Возможность подать иск в федеральный суд (обязательное условие для судебных разбирательств).</a:t>
            </a:r>
          </a:p>
          <a:p>
            <a:pPr indent="457200" algn="just"/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Право на взыскание установленной законом компенсации (до $150,000 за умышленное нарушение) и покрытие судебных издержек. </a:t>
            </a:r>
          </a:p>
          <a:p>
            <a:pPr indent="457200" algn="just"/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Презумпция авторства, упрощающая доказывание прав в спорах.</a:t>
            </a:r>
          </a:p>
          <a:p>
            <a:pPr indent="457200" algn="just"/>
            <a:endParaRPr lang="ru-RU" sz="1600" dirty="0">
              <a:solidFill>
                <a:schemeClr val="bg1"/>
              </a:solidFill>
              <a:latin typeface="Merriweather" panose="020B0604020202020204" charset="-52"/>
            </a:endParaRPr>
          </a:p>
          <a:p>
            <a:pPr indent="457200" algn="just"/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Правоприменение:</a:t>
            </a:r>
          </a:p>
          <a:p>
            <a:pPr indent="457200" algn="just"/>
            <a:endParaRPr lang="ru-RU" sz="1600" dirty="0">
              <a:solidFill>
                <a:schemeClr val="bg1"/>
              </a:solidFill>
              <a:latin typeface="Merriweather" panose="020B0604020202020204" charset="-52"/>
            </a:endParaRPr>
          </a:p>
          <a:p>
            <a:pPr indent="457200" algn="just"/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Гражданско-правовые меры: Правообладатели могут требовать возмещения убытков, компенсации или судебного запрета. Например, нарушение авторских прав на ПО может привести к выплате убытков, эквивалентных стоимости лицензии.</a:t>
            </a:r>
          </a:p>
          <a:p>
            <a:pPr indent="457200" algn="just"/>
            <a:endParaRPr lang="ru-RU" sz="1600" dirty="0">
              <a:solidFill>
                <a:schemeClr val="bg1"/>
              </a:solidFill>
              <a:latin typeface="Merriweather" panose="020B0604020202020204" charset="-52"/>
            </a:endParaRPr>
          </a:p>
          <a:p>
            <a:pPr indent="457200" algn="just"/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Ограничения:</a:t>
            </a:r>
          </a:p>
          <a:p>
            <a:pPr indent="457200" algn="just"/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 Авторское право не защищает идеи, алгоритмы или функциональные элементы программ. Регистрация и правоприменение в США ориентированы на практичность, предоставляя правообладателям мощные инструменты для защиты, но требуя активного участия в процессе.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D907AC00-5D93-45E3-812C-E9AC240D4144}"/>
              </a:ext>
            </a:extLst>
          </p:cNvPr>
          <p:cNvSpPr/>
          <p:nvPr/>
        </p:nvSpPr>
        <p:spPr>
          <a:xfrm>
            <a:off x="757357" y="197888"/>
            <a:ext cx="6557843" cy="67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00"/>
              </a:lnSpc>
            </a:pPr>
            <a:r>
              <a:rPr lang="ru-RU" sz="3700" b="1" dirty="0">
                <a:solidFill>
                  <a:schemeClr val="bg1"/>
                </a:solidFill>
                <a:latin typeface="Merriweather" panose="020B0604020202020204" charset="-52"/>
              </a:rPr>
              <a:t>Регистрация и особенности правоприменения</a:t>
            </a:r>
            <a:endParaRPr lang="en-US" sz="3700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C693100-4575-4C29-A95B-DD08E4AA088D}"/>
              </a:ext>
            </a:extLst>
          </p:cNvPr>
          <p:cNvSpPr/>
          <p:nvPr/>
        </p:nvSpPr>
        <p:spPr>
          <a:xfrm>
            <a:off x="13485366" y="7430214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9/17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83320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EE93E9C-E99E-47A2-A0A6-F00AD9C791E7}"/>
              </a:ext>
            </a:extLst>
          </p:cNvPr>
          <p:cNvSpPr/>
          <p:nvPr/>
        </p:nvSpPr>
        <p:spPr>
          <a:xfrm>
            <a:off x="12790967" y="7505479"/>
            <a:ext cx="1839431" cy="646331"/>
          </a:xfrm>
          <a:prstGeom prst="rect">
            <a:avLst/>
          </a:prstGeom>
          <a:solidFill>
            <a:srgbClr val="09171F"/>
          </a:solidFill>
          <a:ln>
            <a:solidFill>
              <a:srgbClr val="091A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B5AB7CC-51DC-4931-B1FE-00B75733A9CA}"/>
              </a:ext>
            </a:extLst>
          </p:cNvPr>
          <p:cNvSpPr/>
          <p:nvPr/>
        </p:nvSpPr>
        <p:spPr>
          <a:xfrm>
            <a:off x="574160" y="122983"/>
            <a:ext cx="6557843" cy="67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ru-RU" sz="3700" b="1" dirty="0">
                <a:solidFill>
                  <a:schemeClr val="bg1"/>
                </a:solidFill>
                <a:latin typeface="Merriweather" panose="020B0604020202020204" charset="-52"/>
              </a:rPr>
              <a:t>Охрана баз данных в отсутствие </a:t>
            </a:r>
            <a:r>
              <a:rPr lang="ru-RU" sz="3700" b="1" dirty="0" err="1">
                <a:solidFill>
                  <a:schemeClr val="bg1"/>
                </a:solidFill>
                <a:latin typeface="Merriweather" panose="020B0604020202020204" charset="-52"/>
              </a:rPr>
              <a:t>sui</a:t>
            </a:r>
            <a:r>
              <a:rPr lang="ru-RU" sz="3700" b="1" dirty="0">
                <a:solidFill>
                  <a:schemeClr val="bg1"/>
                </a:solidFill>
                <a:latin typeface="Merriweather" panose="020B0604020202020204" charset="-52"/>
              </a:rPr>
              <a:t> </a:t>
            </a:r>
            <a:r>
              <a:rPr lang="ru-RU" sz="3700" b="1" dirty="0" err="1">
                <a:solidFill>
                  <a:schemeClr val="bg1"/>
                </a:solidFill>
                <a:latin typeface="Merriweather" panose="020B0604020202020204" charset="-52"/>
              </a:rPr>
              <a:t>generis</a:t>
            </a:r>
            <a:r>
              <a:rPr lang="ru-RU" sz="3700" b="1" dirty="0">
                <a:solidFill>
                  <a:schemeClr val="bg1"/>
                </a:solidFill>
                <a:latin typeface="Merriweather" panose="020B0604020202020204" charset="-52"/>
              </a:rPr>
              <a:t> защиты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004E420-4CD4-455A-B314-5EC91E2D37C8}"/>
              </a:ext>
            </a:extLst>
          </p:cNvPr>
          <p:cNvSpPr/>
          <p:nvPr/>
        </p:nvSpPr>
        <p:spPr>
          <a:xfrm>
            <a:off x="132906" y="912071"/>
            <a:ext cx="14364588" cy="6916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В отличие от ЕС, где базы данных защищаются уникальным правом 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sui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generis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, в США такая защита отсутствует, что ограничивает охрану баз данных.</a:t>
            </a:r>
            <a:endParaRPr lang="ru-RU" sz="1400" dirty="0">
              <a:solidFill>
                <a:schemeClr val="bg1"/>
              </a:solidFill>
              <a:effectLst/>
              <a:latin typeface="Merriweather" panose="020B0604020202020204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Авторское право: Базы данных охраняются как «сборники» (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compilations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) по 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Copyright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Act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, но только при наличии оригинальности в выборе, координации или расположении данных. Дело 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Feist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Publications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v. 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Rural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Telephone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(1991) установило, что «механическая» компиляция данных (например, телефонный справочник) не охраняется, если не демонстрирует творческого подхода. Это существенно ограничивает защиту баз данных, созданных без выраженной оригинальности.</a:t>
            </a:r>
            <a:endParaRPr lang="ru-RU" sz="1400" dirty="0">
              <a:solidFill>
                <a:schemeClr val="bg1"/>
              </a:solidFill>
              <a:effectLst/>
              <a:latin typeface="Merriweather" panose="020B0604020202020204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Альтернативные механизмы защиты:</a:t>
            </a:r>
            <a:endParaRPr lang="ru-RU" sz="1400" dirty="0">
              <a:solidFill>
                <a:schemeClr val="bg1"/>
              </a:solidFill>
              <a:effectLst/>
              <a:latin typeface="Merriweather" panose="020B0604020202020204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Договорное право: Правообладатели используют лицензионные соглашения для ограничения доступа и использования баз данных. Например, доступ к базе данных может предоставляться по подписке с условиями, запрещающими копирование.</a:t>
            </a:r>
            <a:endParaRPr lang="ru-RU" sz="1400" dirty="0">
              <a:solidFill>
                <a:schemeClr val="bg1"/>
              </a:solidFill>
              <a:effectLst/>
              <a:latin typeface="Merriweather" panose="020B0604020202020204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Режим коммерческой тайны: Если база данных не публикуется и содержит конфиденциальную информацию (например, клиентские данные компании), она может защищаться как коммерческая тайна по 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Uniform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Trade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Secrets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Act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(UTSA). Нарушение (например, кража данных) влечет гражданскую и уголовную ответственность.</a:t>
            </a:r>
            <a:endParaRPr lang="ru-RU" sz="1400" dirty="0">
              <a:solidFill>
                <a:schemeClr val="bg1"/>
              </a:solidFill>
              <a:effectLst/>
              <a:latin typeface="Merriweather" panose="020B0604020202020204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Патентование: В редких случаях структура базы данных или связанное с ней ПО могут быть запатентованы, если они представляют техническое изобретение.</a:t>
            </a:r>
            <a:endParaRPr lang="ru-RU" sz="1400" dirty="0">
              <a:solidFill>
                <a:schemeClr val="bg1"/>
              </a:solidFill>
              <a:effectLst/>
              <a:latin typeface="Merriweather" panose="020B0604020202020204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Ограничения: Отсутствие права 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sui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generis</a:t>
            </a: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 означает, что базы данных, требующие значительных инвестиций, но не обладающие оригинальностью, остаются уязвимыми. Например, база данных спортивной статистики может быть скопирована, если не защищена договором или коммерческой тайной.</a:t>
            </a:r>
            <a:endParaRPr lang="ru-RU" sz="1400" dirty="0">
              <a:solidFill>
                <a:schemeClr val="bg1"/>
              </a:solidFill>
              <a:effectLst/>
              <a:latin typeface="Merriweather" panose="020B0604020202020204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solidFill>
                  <a:schemeClr val="bg1"/>
                </a:solidFill>
                <a:latin typeface="Merriweather" panose="020B0604020202020204" charset="-52"/>
                <a:ea typeface="Calibri" panose="020F0502020204030204" pitchFamily="34" charset="0"/>
                <a:cs typeface="Times New Roman" panose="02020603050405020304" pitchFamily="18" charset="0"/>
              </a:rPr>
              <a:t>Таким образом, защита баз данных в США опирается на комбинацию авторского права и альтернативных инструментов, но менее эффективна для неоригинальных баз по сравнению с ЕС.</a:t>
            </a:r>
            <a:endParaRPr lang="ru-RU" sz="1400" dirty="0">
              <a:solidFill>
                <a:schemeClr val="bg1"/>
              </a:solidFill>
              <a:effectLst/>
              <a:latin typeface="Merriweather" panose="020B0604020202020204" charset="-52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ADCC879-D5CC-4D17-880E-3DF60082410A}"/>
              </a:ext>
            </a:extLst>
          </p:cNvPr>
          <p:cNvSpPr/>
          <p:nvPr/>
        </p:nvSpPr>
        <p:spPr>
          <a:xfrm>
            <a:off x="13006901" y="7391592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10/17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67893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16318"/>
            <a:ext cx="10526673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Сравнительный анализ подходов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2404586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Сходства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3036927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Признание ПО объектом авторского права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3518059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Защита баз данных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3999190"/>
            <a:ext cx="615029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Ограничения авторского права для обеспечения конкуренции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4875133"/>
            <a:ext cx="615029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Патентная защита для технических решений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2404586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Различия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23929" y="3036927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Sui generis защита баз данных в ЕС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3518059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Подход к патентованию ПО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23929" y="3999190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Уровень защиты интерфейсов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623929" y="4480322"/>
            <a:ext cx="615029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Роль государства в регулировании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63798" y="6028730"/>
            <a:ext cx="1290280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Регулирование интеллектуальной собственности (ИС) в сфере программного обеспечения (ПО), баз данных и цифровых технологий существенно различается в разных юрисдикциях из-за особенностей правовых систем, экономических приоритетов и политических подходов.</a:t>
            </a:r>
            <a:endParaRPr lang="en-US" sz="19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D123A93-E21A-473B-AFA3-223A2195E1E5}"/>
              </a:ext>
            </a:extLst>
          </p:cNvPr>
          <p:cNvSpPr/>
          <p:nvPr/>
        </p:nvSpPr>
        <p:spPr>
          <a:xfrm>
            <a:off x="12790969" y="7767322"/>
            <a:ext cx="1839431" cy="355199"/>
          </a:xfrm>
          <a:prstGeom prst="rect">
            <a:avLst/>
          </a:prstGeom>
          <a:solidFill>
            <a:srgbClr val="09171F"/>
          </a:solidFill>
          <a:ln>
            <a:solidFill>
              <a:srgbClr val="091A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F00E450-7710-4E07-8E13-A12302E47674}"/>
              </a:ext>
            </a:extLst>
          </p:cNvPr>
          <p:cNvSpPr/>
          <p:nvPr/>
        </p:nvSpPr>
        <p:spPr>
          <a:xfrm>
            <a:off x="13017534" y="7367629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11/17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361" y="471488"/>
            <a:ext cx="7945279" cy="107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ru-RU" sz="3700" dirty="0">
                <a:solidFill>
                  <a:schemeClr val="bg1"/>
                </a:solidFill>
                <a:latin typeface="Merriweather" panose="020B0604020202020204" charset="-52"/>
              </a:rPr>
              <a:t>Сходство</a:t>
            </a:r>
            <a:endParaRPr lang="en-US" sz="3700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26988CDA-C292-43FE-B63C-2E128604E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185675"/>
              </p:ext>
            </p:extLst>
          </p:nvPr>
        </p:nvGraphicFramePr>
        <p:xfrm>
          <a:off x="691977" y="1899633"/>
          <a:ext cx="7945278" cy="47490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8412">
                  <a:extLst>
                    <a:ext uri="{9D8B030D-6E8A-4147-A177-3AD203B41FA5}">
                      <a16:colId xmlns:a16="http://schemas.microsoft.com/office/drawing/2014/main" val="2338544476"/>
                    </a:ext>
                  </a:extLst>
                </a:gridCol>
                <a:gridCol w="2045330">
                  <a:extLst>
                    <a:ext uri="{9D8B030D-6E8A-4147-A177-3AD203B41FA5}">
                      <a16:colId xmlns:a16="http://schemas.microsoft.com/office/drawing/2014/main" val="2677016239"/>
                    </a:ext>
                  </a:extLst>
                </a:gridCol>
                <a:gridCol w="2045330">
                  <a:extLst>
                    <a:ext uri="{9D8B030D-6E8A-4147-A177-3AD203B41FA5}">
                      <a16:colId xmlns:a16="http://schemas.microsoft.com/office/drawing/2014/main" val="1200592295"/>
                    </a:ext>
                  </a:extLst>
                </a:gridCol>
                <a:gridCol w="2046206">
                  <a:extLst>
                    <a:ext uri="{9D8B030D-6E8A-4147-A177-3AD203B41FA5}">
                      <a16:colId xmlns:a16="http://schemas.microsoft.com/office/drawing/2014/main" val="2768792496"/>
                    </a:ext>
                  </a:extLst>
                </a:gridCol>
              </a:tblGrid>
              <a:tr h="6784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Аспект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 </a:t>
                      </a:r>
                      <a:endParaRPr lang="ru-RU" sz="1800" dirty="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РФ</a:t>
                      </a:r>
                      <a:endParaRPr lang="ru-RU" sz="1800" dirty="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ЕС</a:t>
                      </a:r>
                      <a:endParaRPr lang="ru-RU" sz="1800" dirty="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Merriweather" panose="020B0604020202020204" charset="-52"/>
                        </a:rPr>
                        <a:t>США</a:t>
                      </a:r>
                      <a:endParaRPr lang="ru-RU" sz="180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656926"/>
                  </a:ext>
                </a:extLst>
              </a:tr>
              <a:tr h="12796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Merriweather" panose="020B0604020202020204" charset="-52"/>
                        </a:rPr>
                        <a:t>ПО как объект авторского права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Merriweather" panose="020B0604020202020204" charset="-52"/>
                        </a:rPr>
                        <a:t> </a:t>
                      </a:r>
                      <a:endParaRPr lang="ru-RU" sz="180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ГК РФ, ст. 1261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 </a:t>
                      </a:r>
                      <a:endParaRPr lang="ru-RU" sz="1800" dirty="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Директива 2009/24/EC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 </a:t>
                      </a:r>
                      <a:endParaRPr lang="ru-RU" sz="1800" dirty="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Merriweather" panose="020B0604020202020204" charset="-52"/>
                        </a:rPr>
                        <a:t>17 U.S.C. § 101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Merriweather" panose="020B0604020202020204" charset="-52"/>
                        </a:rPr>
                        <a:t> </a:t>
                      </a:r>
                      <a:endParaRPr lang="ru-RU" sz="180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441333"/>
                  </a:ext>
                </a:extLst>
              </a:tr>
              <a:tr h="9790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Merriweather" panose="020B0604020202020204" charset="-52"/>
                        </a:rPr>
                        <a:t>Защита баз данных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Merriweather" panose="020B0604020202020204" charset="-52"/>
                        </a:rPr>
                        <a:t> </a:t>
                      </a:r>
                      <a:endParaRPr lang="ru-RU" sz="180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Merriweather" panose="020B0604020202020204" charset="-52"/>
                        </a:rPr>
                        <a:t>Авторское право (ГК РФ, ст. 1333)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Merriweather" panose="020B0604020202020204" charset="-52"/>
                        </a:rPr>
                        <a:t> </a:t>
                      </a:r>
                      <a:endParaRPr lang="ru-RU" sz="180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Авторское право + </a:t>
                      </a:r>
                      <a:r>
                        <a:rPr lang="ru-RU" sz="1800" dirty="0" err="1">
                          <a:effectLst/>
                          <a:latin typeface="Merriweather" panose="020B0604020202020204" charset="-52"/>
                        </a:rPr>
                        <a:t>sui</a:t>
                      </a: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Merriweather" panose="020B0604020202020204" charset="-52"/>
                        </a:rPr>
                        <a:t>generis</a:t>
                      </a:r>
                      <a:endParaRPr lang="ru-RU" sz="1800" dirty="0">
                        <a:effectLst/>
                        <a:latin typeface="Merriweather" panose="020B0604020202020204" charset="-5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 </a:t>
                      </a:r>
                      <a:endParaRPr lang="ru-RU" sz="1800" dirty="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Авторское право (сборники)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 </a:t>
                      </a:r>
                      <a:endParaRPr lang="ru-RU" sz="1800" dirty="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938402"/>
                  </a:ext>
                </a:extLst>
              </a:tr>
              <a:tr h="12796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Merriweather" panose="020B0604020202020204" charset="-52"/>
                        </a:rPr>
                        <a:t>Патентование ПО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Merriweather" panose="020B0604020202020204" charset="-52"/>
                        </a:rPr>
                        <a:t> </a:t>
                      </a:r>
                      <a:endParaRPr lang="ru-RU" sz="180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Merriweather" panose="020B0604020202020204" charset="-52"/>
                        </a:rPr>
                        <a:t>Технические решения (ГК РФ, ст. 1350)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Merriweather" panose="020B0604020202020204" charset="-52"/>
                        </a:rPr>
                        <a:t> </a:t>
                      </a:r>
                      <a:endParaRPr lang="ru-RU" sz="180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Merriweather" panose="020B0604020202020204" charset="-52"/>
                        </a:rPr>
                        <a:t>Технический вклад (EPO)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Merriweather" panose="020B0604020202020204" charset="-52"/>
                        </a:rPr>
                        <a:t> </a:t>
                      </a:r>
                      <a:endParaRPr lang="ru-RU" sz="180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Технический процесс (</a:t>
                      </a:r>
                      <a:r>
                        <a:rPr lang="ru-RU" sz="1800" dirty="0" err="1">
                          <a:effectLst/>
                          <a:latin typeface="Merriweather" panose="020B0604020202020204" charset="-52"/>
                        </a:rPr>
                        <a:t>Alice</a:t>
                      </a: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)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Merriweather" panose="020B0604020202020204" charset="-52"/>
                        </a:rPr>
                        <a:t> </a:t>
                      </a:r>
                      <a:endParaRPr lang="ru-RU" sz="1800" dirty="0">
                        <a:effectLst/>
                        <a:latin typeface="Merriweather" panose="020B0604020202020204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622473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8CE391-D2C4-4DA5-AB79-8BA86FCE597B}"/>
              </a:ext>
            </a:extLst>
          </p:cNvPr>
          <p:cNvSpPr/>
          <p:nvPr/>
        </p:nvSpPr>
        <p:spPr>
          <a:xfrm>
            <a:off x="13102594" y="7291991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12/17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Picture background">
            <a:extLst>
              <a:ext uri="{FF2B5EF4-FFF2-40B4-BE49-F238E27FC236}">
                <a16:creationId xmlns:a16="http://schemas.microsoft.com/office/drawing/2014/main" id="{284C2870-8C7B-4CCD-B1CE-3B2567F4F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191" y="0"/>
            <a:ext cx="6705209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A57C271-E4C1-4A0F-A683-A55D2B35816B}"/>
              </a:ext>
            </a:extLst>
          </p:cNvPr>
          <p:cNvSpPr/>
          <p:nvPr/>
        </p:nvSpPr>
        <p:spPr>
          <a:xfrm>
            <a:off x="12790969" y="7767322"/>
            <a:ext cx="1839431" cy="355199"/>
          </a:xfrm>
          <a:prstGeom prst="rect">
            <a:avLst/>
          </a:prstGeom>
          <a:solidFill>
            <a:srgbClr val="09171F"/>
          </a:solidFill>
          <a:ln>
            <a:solidFill>
              <a:srgbClr val="091A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D177EB4A-B1D9-4D5D-A21B-7236E8CD570F}"/>
              </a:ext>
            </a:extLst>
          </p:cNvPr>
          <p:cNvSpPr/>
          <p:nvPr/>
        </p:nvSpPr>
        <p:spPr>
          <a:xfrm>
            <a:off x="599361" y="211996"/>
            <a:ext cx="7945279" cy="107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ru-RU" sz="3700" dirty="0">
                <a:solidFill>
                  <a:schemeClr val="bg1"/>
                </a:solidFill>
                <a:latin typeface="Merriweather" panose="020B0604020202020204" charset="-52"/>
              </a:rPr>
              <a:t>Различия</a:t>
            </a:r>
            <a:endParaRPr lang="en-US" sz="3700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59DD765-4B70-451B-A38F-1B232535C112}"/>
              </a:ext>
            </a:extLst>
          </p:cNvPr>
          <p:cNvSpPr/>
          <p:nvPr/>
        </p:nvSpPr>
        <p:spPr>
          <a:xfrm>
            <a:off x="376996" y="1016375"/>
            <a:ext cx="7548195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Различия в подходах к регулированию ПО и баз данных между РФ, ЕС и США обусловлены правовыми традициями, экономическими интересами и степенью вмешательства государства в рынок. </a:t>
            </a:r>
          </a:p>
          <a:p>
            <a:pPr indent="457200"/>
            <a:r>
              <a:rPr lang="ru-RU" sz="1600" dirty="0" err="1">
                <a:solidFill>
                  <a:schemeClr val="bg1"/>
                </a:solidFill>
                <a:latin typeface="Merriweather" panose="020B0604020202020204" charset="-52"/>
              </a:rPr>
              <a:t>Sui</a:t>
            </a:r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Merriweather" panose="020B0604020202020204" charset="-52"/>
              </a:rPr>
              <a:t>generis</a:t>
            </a:r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 защита баз данных в ЕС:</a:t>
            </a:r>
          </a:p>
          <a:p>
            <a:pPr indent="457200"/>
            <a:endParaRPr lang="ru-RU" sz="1600" dirty="0">
              <a:solidFill>
                <a:schemeClr val="bg1"/>
              </a:solidFill>
              <a:latin typeface="Merriweather" panose="020B0604020202020204" charset="-52"/>
            </a:endParaRPr>
          </a:p>
          <a:p>
            <a:pPr indent="457200"/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ЕС предоставляет уникальную форму защиты баз данных через режим </a:t>
            </a:r>
            <a:r>
              <a:rPr lang="ru-RU" sz="1600" dirty="0" err="1">
                <a:solidFill>
                  <a:schemeClr val="bg1"/>
                </a:solidFill>
                <a:latin typeface="Merriweather" panose="020B0604020202020204" charset="-52"/>
              </a:rPr>
              <a:t>sui</a:t>
            </a:r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Merriweather" panose="020B0604020202020204" charset="-52"/>
              </a:rPr>
              <a:t>generis</a:t>
            </a:r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 (Директива 96/9/EC). Эта защита распространяется на базы данных, созданные с существенными инвестициями, даже если они не обладают творческой оригинальностью. Правообладатель может запрещать извлечение или повторное использование содержимого базы данных в течение 15 лет. В РФ и США подобной защиты нет: базы данных охраняются только авторским правом при наличии оригинальности, что существенно ограничивает их защиту.</a:t>
            </a:r>
          </a:p>
          <a:p>
            <a:pPr indent="457200"/>
            <a:endParaRPr lang="ru-RU" sz="1600" dirty="0">
              <a:solidFill>
                <a:schemeClr val="bg1"/>
              </a:solidFill>
              <a:latin typeface="Merriweather" panose="020B0604020202020204" charset="-52"/>
            </a:endParaRPr>
          </a:p>
          <a:p>
            <a:pPr indent="457200"/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Подход к патентованию ПО:</a:t>
            </a:r>
          </a:p>
          <a:p>
            <a:pPr indent="457200"/>
            <a:endParaRPr lang="ru-RU" sz="1600" dirty="0">
              <a:solidFill>
                <a:schemeClr val="bg1"/>
              </a:solidFill>
              <a:latin typeface="Merriweather" panose="020B0604020202020204" charset="-52"/>
            </a:endParaRPr>
          </a:p>
          <a:p>
            <a:pPr indent="457200"/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В США патентование ПО более либеральное, несмотря на ограничения, введенные решением Верховного суда в деле </a:t>
            </a:r>
            <a:r>
              <a:rPr lang="ru-RU" sz="1600" dirty="0" err="1">
                <a:solidFill>
                  <a:schemeClr val="bg1"/>
                </a:solidFill>
                <a:latin typeface="Merriweather" panose="020B0604020202020204" charset="-52"/>
              </a:rPr>
              <a:t>Alice</a:t>
            </a:r>
            <a:r>
              <a:rPr lang="ru-RU" sz="1600" dirty="0">
                <a:solidFill>
                  <a:schemeClr val="bg1"/>
                </a:solidFill>
                <a:latin typeface="Merriweather" panose="020B0604020202020204" charset="-52"/>
              </a:rPr>
              <a:t> (2014). Патенты выдаются на программные решения, связанные с конкретными техническими процессами. В ЕС патентование ПО ограничено: Европейская патентная организация (EPO) требует наличия «технического вклада» (ст. 52 Европейской патентной конвенции). В РФ патентование ПО возможно только для технических решений, но процесс менее развит, чем в США, и сталкивается с бюрократическими барьерами.</a:t>
            </a:r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6D0A6E02-BB8F-471E-8934-A31EBF74C8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417CAE9-0537-4C58-A9E0-0A0BF61C9C64}"/>
              </a:ext>
            </a:extLst>
          </p:cNvPr>
          <p:cNvSpPr/>
          <p:nvPr/>
        </p:nvSpPr>
        <p:spPr>
          <a:xfrm>
            <a:off x="13198679" y="7323135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13/17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213493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595" y="1174552"/>
            <a:ext cx="7923609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Практические последствия для разработчиков и компаний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595" y="2525673"/>
            <a:ext cx="435888" cy="4358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595" y="3135868"/>
            <a:ext cx="2466856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Разработчики баз данных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096595" y="3785235"/>
            <a:ext cx="2466856" cy="1673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В ЕС режим sui generis предоставляет дополнительную защиту. В РФ и США отсутствие такой защиты вынуждает полагаться на контракты.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4913" y="2525673"/>
            <a:ext cx="435888" cy="4358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4913" y="3135868"/>
            <a:ext cx="2179439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Разработчики ПО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8824913" y="3512820"/>
            <a:ext cx="2466856" cy="2230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В США доктрина fair use и либеральное патентование делают юрисдикцию привлекательной. В ЕС декомпиляция для совместимости облегчает создание совместимых продуктов.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53230" y="2525673"/>
            <a:ext cx="435888" cy="4358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53230" y="3135868"/>
            <a:ext cx="2466856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Международные компании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1553230" y="3785235"/>
            <a:ext cx="2466856" cy="1951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Компании должны адаптировать свои продукты к местным требованиям. Различия в защите интерфейсов влияют на стратегии лицензирования.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096595" y="5939671"/>
            <a:ext cx="7923609" cy="1115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В США высокая степень судебных разбирательств создает риски для небольших компаний, но также предоставляет возможности для защиты инноваций через патенты. В ЕС унифицированное регулирование снижает риски, но ограничивает монополию на интерфейсы и алгоритмы.</a:t>
            </a:r>
            <a:endParaRPr lang="en-US" sz="13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315EF9F-57EC-45C4-864E-978D38EB4DE2}"/>
              </a:ext>
            </a:extLst>
          </p:cNvPr>
          <p:cNvSpPr/>
          <p:nvPr/>
        </p:nvSpPr>
        <p:spPr>
          <a:xfrm>
            <a:off x="12790969" y="7767322"/>
            <a:ext cx="1839431" cy="355199"/>
          </a:xfrm>
          <a:prstGeom prst="rect">
            <a:avLst/>
          </a:prstGeom>
          <a:solidFill>
            <a:srgbClr val="09171F"/>
          </a:solidFill>
          <a:ln>
            <a:solidFill>
              <a:srgbClr val="091A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B2EB5E2-F4AC-4A1E-8FD4-971F00B42519}"/>
              </a:ext>
            </a:extLst>
          </p:cNvPr>
          <p:cNvSpPr/>
          <p:nvPr/>
        </p:nvSpPr>
        <p:spPr>
          <a:xfrm>
            <a:off x="13133909" y="7257574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14/17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964769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Выводы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3798" y="3106222"/>
            <a:ext cx="7416403" cy="3158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Правовая охрана программ для ЭВМ и баз данных в РФ, ЕС и США отражает сложный баланс между защитой прав правообладателей, стимулированием инноваций и обеспечением конкуренции. Различия в подходах создают как вызовы, так и возможности для разработчиков и компаний, подчеркивая необходимость гибкости и глубокого понимания локальных правовых реалий для успешной деятельности на глобальном рынке.</a:t>
            </a:r>
            <a:endParaRPr lang="en-US" sz="19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021416-4F3F-4D5A-804F-B04A045C3937}"/>
              </a:ext>
            </a:extLst>
          </p:cNvPr>
          <p:cNvSpPr/>
          <p:nvPr/>
        </p:nvSpPr>
        <p:spPr>
          <a:xfrm>
            <a:off x="13208919" y="7345154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15/17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5DD92AC-39D3-4A68-8763-B4BC39CE5EF9}"/>
              </a:ext>
            </a:extLst>
          </p:cNvPr>
          <p:cNvSpPr/>
          <p:nvPr/>
        </p:nvSpPr>
        <p:spPr>
          <a:xfrm>
            <a:off x="12790969" y="7767322"/>
            <a:ext cx="1839431" cy="355199"/>
          </a:xfrm>
          <a:prstGeom prst="rect">
            <a:avLst/>
          </a:prstGeom>
          <a:solidFill>
            <a:srgbClr val="09171F"/>
          </a:solidFill>
          <a:ln>
            <a:solidFill>
              <a:srgbClr val="091A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75A532D-3C39-48C4-B008-07CAC3334CCD}"/>
              </a:ext>
            </a:extLst>
          </p:cNvPr>
          <p:cNvSpPr/>
          <p:nvPr/>
        </p:nvSpPr>
        <p:spPr>
          <a:xfrm>
            <a:off x="12790968" y="7821275"/>
            <a:ext cx="1839431" cy="355199"/>
          </a:xfrm>
          <a:prstGeom prst="rect">
            <a:avLst/>
          </a:prstGeom>
          <a:solidFill>
            <a:srgbClr val="09171F"/>
          </a:solidFill>
          <a:ln>
            <a:solidFill>
              <a:srgbClr val="091A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97931333-4B48-4245-89DA-067716E9B1F9}"/>
              </a:ext>
            </a:extLst>
          </p:cNvPr>
          <p:cNvSpPr/>
          <p:nvPr/>
        </p:nvSpPr>
        <p:spPr>
          <a:xfrm>
            <a:off x="1032789" y="189130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ru-RU" sz="4850" dirty="0">
                <a:solidFill>
                  <a:srgbClr val="F5F0F0"/>
                </a:solidFill>
                <a:latin typeface="Merriweather" pitchFamily="34" charset="0"/>
              </a:rPr>
              <a:t>Список использованной литературы</a:t>
            </a:r>
            <a:endParaRPr lang="en-US" sz="48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0A55F57-2D80-4028-A7E5-C4FDE5A30661}"/>
              </a:ext>
            </a:extLst>
          </p:cNvPr>
          <p:cNvSpPr/>
          <p:nvPr/>
        </p:nvSpPr>
        <p:spPr>
          <a:xfrm>
            <a:off x="369555" y="1182160"/>
            <a:ext cx="14088140" cy="694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1 Гражданский кодекс Российской Федерации. Часть четвертая: Федеральный закон от 18.12.2006 № 230-ФЗ (в ред. от 24.07.2023) // Российская газета. — 2006. — № 289.</a:t>
            </a:r>
          </a:p>
          <a:p>
            <a:endParaRPr lang="ru-RU" sz="1700" dirty="0">
              <a:solidFill>
                <a:schemeClr val="bg1"/>
              </a:solidFill>
              <a:latin typeface="Merriweather" panose="020B0604020202020204" charset="-52"/>
              <a:cs typeface="Times New Roman" panose="02020603050405020304" pitchFamily="18" charset="0"/>
            </a:endParaRPr>
          </a:p>
          <a:p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2 Директива 2009/24/ЕС Европейского парламента и Совета от 23.04.2009 об охране компьютерных программ [Электронный ресурс] // EUR-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Lex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. — URL: https://eur-lex.europa.eu/legal-content/EN/TXT/?uri=CELEX:32009L0024 (дата обращения: 17.04.2025).</a:t>
            </a:r>
          </a:p>
          <a:p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 </a:t>
            </a:r>
          </a:p>
          <a:p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3 Директива 96/9/ЕС Европейского парламента и Совета от 11.03.1996 о правовой охране баз данных [Электронный ресурс] // EUR-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Lex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. — URL: https://eur-lex.europa.eu/legal-content/EN/TXT/?uri=CELEX:31996L0009 (дата обращения: 17.04.2025).</a:t>
            </a:r>
          </a:p>
          <a:p>
            <a:endParaRPr lang="ru-RU" sz="1700" dirty="0">
              <a:solidFill>
                <a:schemeClr val="bg1"/>
              </a:solidFill>
              <a:latin typeface="Merriweather" panose="020B0604020202020204" charset="-52"/>
              <a:cs typeface="Times New Roman" panose="02020603050405020304" pitchFamily="18" charset="0"/>
            </a:endParaRPr>
          </a:p>
          <a:p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4 Кодекс Соединенных Штатов Америки. Раздел 17 «Авторское право» (17 U.S.C.) [Электронный ресурс] // U.S. 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Copyright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Office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. — URL: https://www.copyright.gov/title17/ (дата обращения: 17.04.2025).</a:t>
            </a:r>
          </a:p>
          <a:p>
            <a:endParaRPr lang="ru-RU" sz="1700" dirty="0">
              <a:solidFill>
                <a:schemeClr val="bg1"/>
              </a:solidFill>
              <a:latin typeface="Merriweather" panose="020B0604020202020204" charset="-52"/>
              <a:cs typeface="Times New Roman" panose="02020603050405020304" pitchFamily="18" charset="0"/>
            </a:endParaRPr>
          </a:p>
          <a:p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5 Асфандиаров Б.М. Особенности гражданско-правового регулирования отношений в области создания и использования программ для электронных вычислительных машин и баз данных в Российской Федерации // Вестник МГУ. Серия 11: Право. — 1997. — № 4. — С. 67–75.</a:t>
            </a:r>
          </a:p>
          <a:p>
            <a:endParaRPr lang="ru-RU" sz="1700" dirty="0">
              <a:solidFill>
                <a:schemeClr val="bg1"/>
              </a:solidFill>
              <a:latin typeface="Merriweather" panose="020B0604020202020204" charset="-52"/>
              <a:cs typeface="Times New Roman" panose="02020603050405020304" pitchFamily="18" charset="0"/>
            </a:endParaRPr>
          </a:p>
          <a:p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6 Роспатент. Регистрация программ для ЭВМ и баз данных [Электронный ресурс] // Роспатент. — URL: https://www.rospatent.gov.ru/ru/activities/register_programs (дата обращения: 17.04.2025).</a:t>
            </a:r>
          </a:p>
          <a:p>
            <a:endParaRPr lang="ru-RU" sz="1700" dirty="0">
              <a:solidFill>
                <a:schemeClr val="bg1"/>
              </a:solidFill>
              <a:latin typeface="Merriweather" panose="020B0604020202020204" charset="-52"/>
              <a:cs typeface="Times New Roman" panose="02020603050405020304" pitchFamily="18" charset="0"/>
            </a:endParaRPr>
          </a:p>
          <a:p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7 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Lemley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 M.A., 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Menell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 P.S., 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Merges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 R.P., 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Samuelson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 P. Software 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and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Internet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Law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. — 5th 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ed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. — 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New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York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: 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Wolters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Kluwer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  <a:cs typeface="Times New Roman" panose="02020603050405020304" pitchFamily="18" charset="0"/>
              </a:rPr>
              <a:t>, 2019. — 912 p</a:t>
            </a:r>
          </a:p>
          <a:p>
            <a:endParaRPr lang="ru-RU" sz="1700" dirty="0">
              <a:solidFill>
                <a:schemeClr val="bg1"/>
              </a:solidFill>
              <a:latin typeface="Merriweather" panose="020B0604020202020204" charset="-52"/>
              <a:cs typeface="Times New Roman" panose="02020603050405020304" pitchFamily="18" charset="0"/>
            </a:endParaRPr>
          </a:p>
          <a:p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</a:rPr>
              <a:t>8 КонсультантПлюс. Справочная правовая система. URL: </a:t>
            </a:r>
            <a:r>
              <a:rPr lang="ru-RU" sz="1700" u="sng" dirty="0">
                <a:solidFill>
                  <a:schemeClr val="bg1"/>
                </a:solidFill>
                <a:latin typeface="Merriweather" panose="020B0604020202020204" charset="-5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https://www.consultant.ru</a:t>
            </a:r>
            <a:r>
              <a:rPr lang="ru-RU" sz="1700" dirty="0">
                <a:solidFill>
                  <a:schemeClr val="bg1"/>
                </a:solidFill>
                <a:latin typeface="Merriweather" panose="020B0604020202020204" charset="-52"/>
              </a:rPr>
              <a:t> (дата обращения: 17.04.2025).</a:t>
            </a:r>
          </a:p>
          <a:p>
            <a:endParaRPr lang="ru-RU" sz="2000" dirty="0">
              <a:solidFill>
                <a:schemeClr val="bg1"/>
              </a:solidFill>
              <a:latin typeface="Merriweather" panose="020B0604020202020204" charset="-52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2685765-9E44-4BC0-B035-054A589DAECE}"/>
              </a:ext>
            </a:extLst>
          </p:cNvPr>
          <p:cNvSpPr/>
          <p:nvPr/>
        </p:nvSpPr>
        <p:spPr>
          <a:xfrm>
            <a:off x="13247775" y="7377088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16/17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984650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38E32A5-529C-4205-A4D9-7B2AE4E57206}"/>
              </a:ext>
            </a:extLst>
          </p:cNvPr>
          <p:cNvSpPr/>
          <p:nvPr/>
        </p:nvSpPr>
        <p:spPr>
          <a:xfrm>
            <a:off x="12790969" y="7767322"/>
            <a:ext cx="1839431" cy="355199"/>
          </a:xfrm>
          <a:prstGeom prst="rect">
            <a:avLst/>
          </a:prstGeom>
          <a:solidFill>
            <a:srgbClr val="09171F"/>
          </a:solidFill>
          <a:ln>
            <a:solidFill>
              <a:srgbClr val="091A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BA8495A1-4E3B-458A-ACC9-7C7F11649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865" y="1938795"/>
            <a:ext cx="9790670" cy="5507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F9203B7D-F8DB-4578-BBC2-8480FB675A1F}"/>
              </a:ext>
            </a:extLst>
          </p:cNvPr>
          <p:cNvSpPr/>
          <p:nvPr/>
        </p:nvSpPr>
        <p:spPr>
          <a:xfrm>
            <a:off x="2494890" y="642596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ru-RU" sz="6000" dirty="0">
                <a:solidFill>
                  <a:srgbClr val="F5F0F0"/>
                </a:solidFill>
                <a:latin typeface="Merriweather" pitchFamily="34" charset="0"/>
              </a:rPr>
              <a:t>Спасибо за внимание!!!</a:t>
            </a:r>
            <a:endParaRPr lang="en-US" sz="60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A56423-42C7-43FD-8F20-49A39C29A383}"/>
              </a:ext>
            </a:extLst>
          </p:cNvPr>
          <p:cNvSpPr/>
          <p:nvPr/>
        </p:nvSpPr>
        <p:spPr>
          <a:xfrm>
            <a:off x="13208919" y="7323135"/>
            <a:ext cx="1772354" cy="799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50"/>
              </a:lnSpc>
            </a:pPr>
            <a:r>
              <a:rPr lang="ru-RU" sz="3600" b="1" dirty="0">
                <a:solidFill>
                  <a:schemeClr val="bg1"/>
                </a:solidFill>
                <a:latin typeface="Merriweather" panose="020B0604020202020204" charset="-52"/>
              </a:rPr>
              <a:t>17/17</a:t>
            </a:r>
            <a:endParaRPr lang="en-US" sz="3600" b="1" dirty="0">
              <a:solidFill>
                <a:schemeClr val="bg1"/>
              </a:solidFill>
              <a:latin typeface="Merriweather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88602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2434</Words>
  <Application>Microsoft Office PowerPoint</Application>
  <PresentationFormat>Произвольный</PresentationFormat>
  <Paragraphs>222</Paragraphs>
  <Slides>18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Merriweather</vt:lpstr>
      <vt:lpstr>Arial</vt:lpstr>
      <vt:lpstr>Wingdings</vt:lpstr>
      <vt:lpstr>Times New Roman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Рунина Анастасия Сергеевна</cp:lastModifiedBy>
  <cp:revision>29</cp:revision>
  <dcterms:created xsi:type="dcterms:W3CDTF">2025-04-18T06:41:41Z</dcterms:created>
  <dcterms:modified xsi:type="dcterms:W3CDTF">2025-04-18T08:27:55Z</dcterms:modified>
</cp:coreProperties>
</file>