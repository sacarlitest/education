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71" r:id="rId3"/>
    <p:sldId id="256" r:id="rId4"/>
    <p:sldId id="258" r:id="rId5"/>
    <p:sldId id="259" r:id="rId6"/>
    <p:sldId id="257" r:id="rId7"/>
    <p:sldId id="260" r:id="rId8"/>
    <p:sldId id="261" r:id="rId9"/>
    <p:sldId id="262" r:id="rId10"/>
    <p:sldId id="264" r:id="rId11"/>
    <p:sldId id="263" r:id="rId12"/>
    <p:sldId id="265" r:id="rId13"/>
    <p:sldId id="266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294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084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718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095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117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3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931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15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429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3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651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961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817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823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538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703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774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24278DE-48D9-4024-B05E-D5AA874A98D2}" type="datetimeFigureOut">
              <a:rPr lang="en-GB" smtClean="0"/>
              <a:t>02/06/2023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8DB48F3-4AF3-4BB6-A318-8DE7A91643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98196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8D8B0D-7993-FC61-F9FC-200CD204E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4363271"/>
            <a:ext cx="8676222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Виртуальная реальность</a:t>
            </a: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99509438-BCD2-A88A-28A6-3E9E49C285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40" b="20273"/>
          <a:stretch/>
        </p:blipFill>
        <p:spPr bwMode="auto">
          <a:xfrm>
            <a:off x="20" y="10"/>
            <a:ext cx="12191980" cy="427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465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E62D27-D23E-2285-015C-CCB2EA827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Понятия и разновидности виртуальной реальности</a:t>
            </a:r>
            <a:endParaRPr lang="en-GB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C90063-3D0D-B87C-3C51-10CC5AFE8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3897297"/>
            <a:ext cx="9905998" cy="2250489"/>
          </a:xfrm>
        </p:spPr>
        <p:txBody>
          <a:bodyPr>
            <a:noAutofit/>
          </a:bodyPr>
          <a:lstStyle/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sz="2100" dirty="0">
                <a:effectLst/>
                <a:ea typeface="Calibri" panose="020F0502020204030204" pitchFamily="34" charset="0"/>
              </a:rPr>
              <a:t>Дополненная реальность (</a:t>
            </a:r>
            <a:r>
              <a:rPr lang="en-US" sz="2100" dirty="0">
                <a:effectLst/>
                <a:ea typeface="Calibri" panose="020F0502020204030204" pitchFamily="34" charset="0"/>
              </a:rPr>
              <a:t>augmented reality</a:t>
            </a:r>
            <a:r>
              <a:rPr lang="ru-RU" sz="2100" dirty="0">
                <a:effectLst/>
                <a:ea typeface="Calibri" panose="020F0502020204030204" pitchFamily="34" charset="0"/>
              </a:rPr>
              <a:t>, </a:t>
            </a:r>
            <a:r>
              <a:rPr lang="en-GB" sz="2100" dirty="0">
                <a:effectLst/>
                <a:ea typeface="Calibri" panose="020F0502020204030204" pitchFamily="34" charset="0"/>
              </a:rPr>
              <a:t>AR</a:t>
            </a:r>
            <a:r>
              <a:rPr lang="ru-RU" sz="2100" dirty="0">
                <a:effectLst/>
                <a:ea typeface="Calibri" panose="020F0502020204030204" pitchFamily="34" charset="0"/>
              </a:rPr>
              <a:t>),</a:t>
            </a: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sz="2100" dirty="0">
                <a:effectLst/>
                <a:ea typeface="Calibri" panose="020F0502020204030204" pitchFamily="34" charset="0"/>
              </a:rPr>
              <a:t>смешанная реальность (</a:t>
            </a:r>
            <a:r>
              <a:rPr lang="en-US" sz="2100" dirty="0">
                <a:effectLst/>
                <a:ea typeface="Calibri" panose="020F0502020204030204" pitchFamily="34" charset="0"/>
              </a:rPr>
              <a:t>mixed reality</a:t>
            </a:r>
            <a:r>
              <a:rPr lang="ru-RU" sz="2100" dirty="0">
                <a:effectLst/>
                <a:ea typeface="Calibri" panose="020F0502020204030204" pitchFamily="34" charset="0"/>
              </a:rPr>
              <a:t>, </a:t>
            </a:r>
            <a:r>
              <a:rPr lang="en-GB" sz="2100" dirty="0">
                <a:effectLst/>
                <a:ea typeface="Calibri" panose="020F0502020204030204" pitchFamily="34" charset="0"/>
              </a:rPr>
              <a:t>MR</a:t>
            </a:r>
            <a:r>
              <a:rPr lang="ru-RU" sz="2100" dirty="0">
                <a:effectLst/>
                <a:ea typeface="Calibri" panose="020F0502020204030204" pitchFamily="34" charset="0"/>
              </a:rPr>
              <a:t>)</a:t>
            </a: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sz="2100" dirty="0">
                <a:effectLst/>
                <a:ea typeface="Calibri" panose="020F0502020204030204" pitchFamily="34" charset="0"/>
              </a:rPr>
              <a:t>виртуальная реальность (</a:t>
            </a:r>
            <a:r>
              <a:rPr lang="en-US" sz="2100" dirty="0">
                <a:effectLst/>
                <a:ea typeface="Calibri" panose="020F0502020204030204" pitchFamily="34" charset="0"/>
              </a:rPr>
              <a:t>virtual reality</a:t>
            </a:r>
            <a:r>
              <a:rPr lang="ru-RU" sz="2100" dirty="0">
                <a:effectLst/>
                <a:ea typeface="Calibri" panose="020F0502020204030204" pitchFamily="34" charset="0"/>
              </a:rPr>
              <a:t>, </a:t>
            </a:r>
            <a:r>
              <a:rPr lang="en-GB" sz="2100" dirty="0">
                <a:effectLst/>
                <a:ea typeface="Calibri" panose="020F0502020204030204" pitchFamily="34" charset="0"/>
              </a:rPr>
              <a:t>VR</a:t>
            </a:r>
            <a:r>
              <a:rPr lang="ru-RU" sz="2100" dirty="0">
                <a:effectLst/>
                <a:ea typeface="Calibri" panose="020F0502020204030204" pitchFamily="34" charset="0"/>
              </a:rPr>
              <a:t>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205E0-B58F-3617-48B8-009807613490}"/>
              </a:ext>
            </a:extLst>
          </p:cNvPr>
          <p:cNvSpPr txBox="1"/>
          <p:nvPr/>
        </p:nvSpPr>
        <p:spPr>
          <a:xfrm>
            <a:off x="1141413" y="2277057"/>
            <a:ext cx="103374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100" dirty="0">
                <a:effectLst/>
                <a:ea typeface="Calibri" panose="020F0502020204030204" pitchFamily="34" charset="0"/>
              </a:rPr>
              <a:t>Точное определение виртуальной реальности обычно понимается как полная замена реальных аудиовизуальных эффектов виртуальными, но в более обыденном смысле оно может означать любое сочетание виртуальных и реальных элементов. </a:t>
            </a:r>
            <a:endParaRPr lang="en-GB" sz="2100" dirty="0"/>
          </a:p>
        </p:txBody>
      </p:sp>
    </p:spTree>
    <p:extLst>
      <p:ext uri="{BB962C8B-B14F-4D97-AF65-F5344CB8AC3E}">
        <p14:creationId xmlns:p14="http://schemas.microsoft.com/office/powerpoint/2010/main" val="17103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E25801-EB67-6A57-006A-5A7A0C3E7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5516211"/>
            <a:ext cx="8676222" cy="722243"/>
          </a:xfrm>
        </p:spPr>
        <p:txBody>
          <a:bodyPr>
            <a:normAutofit fontScale="92500" lnSpcReduction="20000"/>
          </a:bodyPr>
          <a:lstStyle/>
          <a:p>
            <a:r>
              <a:rPr lang="ru-RU" sz="23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Изображение из шлема виртуальной реальности </a:t>
            </a:r>
            <a:r>
              <a:rPr lang="ru-RU" sz="2300" kern="1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Oculus</a:t>
            </a:r>
            <a:r>
              <a:rPr lang="ru-RU" sz="23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300" kern="1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Rift</a:t>
            </a:r>
            <a:r>
              <a:rPr lang="ru-RU" sz="23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видеоигра Elite </a:t>
            </a:r>
            <a:r>
              <a:rPr lang="ru-RU" sz="2300" kern="1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Dangerous</a:t>
            </a:r>
            <a:endParaRPr lang="en-GB" sz="23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F585215-4566-5AB0-E5CD-8BE30C6306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18" b="16663"/>
          <a:stretch/>
        </p:blipFill>
        <p:spPr bwMode="auto">
          <a:xfrm>
            <a:off x="820236" y="974653"/>
            <a:ext cx="10537774" cy="369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9543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E25801-EB67-6A57-006A-5A7A0C3E7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5516211"/>
            <a:ext cx="8676222" cy="722243"/>
          </a:xfrm>
        </p:spPr>
        <p:txBody>
          <a:bodyPr>
            <a:noAutofit/>
          </a:bodyPr>
          <a:lstStyle/>
          <a:p>
            <a:pPr indent="457200" algn="ctr">
              <a:lnSpc>
                <a:spcPct val="107000"/>
              </a:lnSpc>
              <a:spcAft>
                <a:spcPts val="800"/>
              </a:spcAft>
            </a:pPr>
            <a:r>
              <a:rPr lang="ru-RU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Скриншот (виньетка) из очков дополненной реальности Google Glass</a:t>
            </a:r>
            <a:endParaRPr lang="en-GB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FBC4667-015C-504B-32C2-9DAEA365D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297" y="441993"/>
            <a:ext cx="8273405" cy="465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0163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E25801-EB67-6A57-006A-5A7A0C3E7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5516211"/>
            <a:ext cx="8676222" cy="722243"/>
          </a:xfrm>
        </p:spPr>
        <p:txBody>
          <a:bodyPr>
            <a:noAutofit/>
          </a:bodyPr>
          <a:lstStyle/>
          <a:p>
            <a:pPr indent="457200" algn="ctr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effectLst/>
                <a:latin typeface="+mj-lt"/>
                <a:ea typeface="Calibri" panose="020F0502020204030204" pitchFamily="34" charset="0"/>
              </a:rPr>
              <a:t>Пример применения очков смешанной реальности Microsoft </a:t>
            </a:r>
            <a:r>
              <a:rPr lang="ru-RU" dirty="0" err="1">
                <a:effectLst/>
                <a:latin typeface="+mj-lt"/>
                <a:ea typeface="Calibri" panose="020F0502020204030204" pitchFamily="34" charset="0"/>
              </a:rPr>
              <a:t>Hololens</a:t>
            </a:r>
            <a:endParaRPr lang="en-GB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 descr="Watch Microsoft's Eye-Popping Hololens Demo Using Minecraft | Entrepreneur">
            <a:extLst>
              <a:ext uri="{FF2B5EF4-FFF2-40B4-BE49-F238E27FC236}">
                <a16:creationId xmlns:a16="http://schemas.microsoft.com/office/drawing/2014/main" id="{A6366071-8D6F-6CEF-12E4-1D51114CD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923" y="360172"/>
            <a:ext cx="7264399" cy="484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6069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Объект 3">
            <a:extLst>
              <a:ext uri="{FF2B5EF4-FFF2-40B4-BE49-F238E27FC236}">
                <a16:creationId xmlns:a16="http://schemas.microsoft.com/office/drawing/2014/main" id="{3DA9D2DC-2584-2BF3-6BA0-D10E65009D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5673343"/>
              </p:ext>
            </p:extLst>
          </p:nvPr>
        </p:nvGraphicFramePr>
        <p:xfrm>
          <a:off x="900433" y="1141697"/>
          <a:ext cx="10391133" cy="37587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784">
                  <a:extLst>
                    <a:ext uri="{9D8B030D-6E8A-4147-A177-3AD203B41FA5}">
                      <a16:colId xmlns:a16="http://schemas.microsoft.com/office/drawing/2014/main" val="551015245"/>
                    </a:ext>
                  </a:extLst>
                </a:gridCol>
                <a:gridCol w="2293774">
                  <a:extLst>
                    <a:ext uri="{9D8B030D-6E8A-4147-A177-3AD203B41FA5}">
                      <a16:colId xmlns:a16="http://schemas.microsoft.com/office/drawing/2014/main" val="3662173848"/>
                    </a:ext>
                  </a:extLst>
                </a:gridCol>
                <a:gridCol w="2521259">
                  <a:extLst>
                    <a:ext uri="{9D8B030D-6E8A-4147-A177-3AD203B41FA5}">
                      <a16:colId xmlns:a16="http://schemas.microsoft.com/office/drawing/2014/main" val="3683520232"/>
                    </a:ext>
                  </a:extLst>
                </a:gridCol>
                <a:gridCol w="2015231">
                  <a:extLst>
                    <a:ext uri="{9D8B030D-6E8A-4147-A177-3AD203B41FA5}">
                      <a16:colId xmlns:a16="http://schemas.microsoft.com/office/drawing/2014/main" val="4223697123"/>
                    </a:ext>
                  </a:extLst>
                </a:gridCol>
                <a:gridCol w="2066085">
                  <a:extLst>
                    <a:ext uri="{9D8B030D-6E8A-4147-A177-3AD203B41FA5}">
                      <a16:colId xmlns:a16="http://schemas.microsoft.com/office/drawing/2014/main" val="3621259820"/>
                    </a:ext>
                  </a:extLst>
                </a:gridCol>
              </a:tblGrid>
              <a:tr h="54341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 </a:t>
                      </a:r>
                      <a:endParaRPr lang="en-GB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Степень погружения</a:t>
                      </a:r>
                      <a:endParaRPr lang="en-GB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Примеры устройств</a:t>
                      </a:r>
                      <a:endParaRPr lang="en-GB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Примеры приложений</a:t>
                      </a:r>
                      <a:endParaRPr lang="en-GB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Области применения</a:t>
                      </a:r>
                      <a:endParaRPr lang="en-GB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extLst>
                  <a:ext uri="{0D108BD9-81ED-4DB2-BD59-A6C34878D82A}">
                    <a16:rowId xmlns:a16="http://schemas.microsoft.com/office/drawing/2014/main" val="2561401944"/>
                  </a:ext>
                </a:extLst>
              </a:tr>
              <a:tr h="11015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Virtual</a:t>
                      </a:r>
                      <a:endParaRPr lang="en-GB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>
                          <a:effectLst/>
                        </a:rPr>
                        <a:t>Полное (аудиовизуальное)</a:t>
                      </a:r>
                      <a:endParaRPr lang="en-GB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00">
                          <a:effectLst/>
                        </a:rPr>
                        <a:t>VR-</a:t>
                      </a:r>
                      <a:r>
                        <a:rPr lang="ru-RU" sz="1600" kern="100">
                          <a:effectLst/>
                        </a:rPr>
                        <a:t>шлемы</a:t>
                      </a:r>
                      <a:r>
                        <a:rPr lang="en-GB" sz="1600" kern="100">
                          <a:effectLst/>
                        </a:rPr>
                        <a:t> (Valve Index, Oculus Quest, </a:t>
                      </a:r>
                      <a:r>
                        <a:rPr lang="ru-RU" sz="1600" kern="100">
                          <a:effectLst/>
                        </a:rPr>
                        <a:t>и пр</a:t>
                      </a:r>
                      <a:r>
                        <a:rPr lang="en-GB" sz="1600" kern="100">
                          <a:effectLst/>
                        </a:rPr>
                        <a:t>.)</a:t>
                      </a:r>
                      <a:endParaRPr lang="en-GB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00">
                          <a:effectLst/>
                        </a:rPr>
                        <a:t>YouTube</a:t>
                      </a:r>
                      <a:r>
                        <a:rPr lang="ru-RU" sz="1600" kern="100">
                          <a:effectLst/>
                        </a:rPr>
                        <a:t>, </a:t>
                      </a:r>
                      <a:r>
                        <a:rPr lang="en-GB" sz="1600" kern="100">
                          <a:effectLst/>
                        </a:rPr>
                        <a:t>VR Chat</a:t>
                      </a:r>
                      <a:r>
                        <a:rPr lang="ru-RU" sz="1600" kern="100">
                          <a:effectLst/>
                        </a:rPr>
                        <a:t>, всевозможные игры</a:t>
                      </a:r>
                      <a:endParaRPr lang="en-GB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Медицина, сфера развлечений, космонавтика</a:t>
                      </a:r>
                      <a:endParaRPr lang="en-GB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extLst>
                  <a:ext uri="{0D108BD9-81ED-4DB2-BD59-A6C34878D82A}">
                    <a16:rowId xmlns:a16="http://schemas.microsoft.com/office/drawing/2014/main" val="1363965685"/>
                  </a:ext>
                </a:extLst>
              </a:tr>
              <a:tr h="8225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Augmented</a:t>
                      </a:r>
                      <a:endParaRPr lang="en-GB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Низкая (виртуальные элементы дополняют реальную среду)</a:t>
                      </a:r>
                      <a:endParaRPr lang="en-GB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Google Glass, City lens </a:t>
                      </a:r>
                      <a:r>
                        <a:rPr lang="ru-RU" sz="1600" kern="100" dirty="0">
                          <a:effectLst/>
                        </a:rPr>
                        <a:t>и </a:t>
                      </a:r>
                      <a:r>
                        <a:rPr lang="ru-RU" sz="1600" kern="100" dirty="0" err="1">
                          <a:effectLst/>
                        </a:rPr>
                        <a:t>пр</a:t>
                      </a:r>
                      <a:r>
                        <a:rPr lang="en-GB" sz="1600" kern="100" dirty="0">
                          <a:effectLst/>
                        </a:rPr>
                        <a:t>.</a:t>
                      </a:r>
                      <a:endParaRPr lang="en-GB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Google assistant, Siri, Bixby</a:t>
                      </a:r>
                      <a:endParaRPr lang="en-GB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>
                          <a:effectLst/>
                        </a:rPr>
                        <a:t>B2B, образование, персональные ассистенты, спорт</a:t>
                      </a:r>
                      <a:endParaRPr lang="en-GB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extLst>
                  <a:ext uri="{0D108BD9-81ED-4DB2-BD59-A6C34878D82A}">
                    <a16:rowId xmlns:a16="http://schemas.microsoft.com/office/drawing/2014/main" val="2235092550"/>
                  </a:ext>
                </a:extLst>
              </a:tr>
              <a:tr h="11015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Mixed</a:t>
                      </a:r>
                      <a:endParaRPr lang="en-GB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>
                          <a:effectLst/>
                        </a:rPr>
                        <a:t>Высокая (виртуальные элементы переопределяют реальную среду)</a:t>
                      </a:r>
                      <a:endParaRPr lang="en-GB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>
                          <a:effectLst/>
                        </a:rPr>
                        <a:t>MS </a:t>
                      </a:r>
                      <a:r>
                        <a:rPr lang="ru-RU" sz="1600" kern="100" dirty="0" err="1">
                          <a:effectLst/>
                        </a:rPr>
                        <a:t>HoloLens</a:t>
                      </a:r>
                      <a:r>
                        <a:rPr lang="ru-RU" sz="1600" kern="100" dirty="0">
                          <a:effectLst/>
                        </a:rPr>
                        <a:t>, </a:t>
                      </a:r>
                      <a:r>
                        <a:rPr lang="ru-RU" sz="1600" kern="100" dirty="0" err="1">
                          <a:effectLst/>
                        </a:rPr>
                        <a:t>Cave</a:t>
                      </a:r>
                      <a:endParaRPr lang="en-GB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Skype, MS Artwork</a:t>
                      </a:r>
                      <a:endParaRPr lang="en-GB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>
                          <a:effectLst/>
                        </a:rPr>
                        <a:t>Образование, медицина, спорт</a:t>
                      </a:r>
                      <a:endParaRPr lang="en-GB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26" marR="40926" marT="0" marB="0"/>
                </a:tc>
                <a:extLst>
                  <a:ext uri="{0D108BD9-81ED-4DB2-BD59-A6C34878D82A}">
                    <a16:rowId xmlns:a16="http://schemas.microsoft.com/office/drawing/2014/main" val="24008413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17F189C-BA23-2505-E18D-CA99D4C35E87}"/>
              </a:ext>
            </a:extLst>
          </p:cNvPr>
          <p:cNvSpPr txBox="1"/>
          <p:nvPr/>
        </p:nvSpPr>
        <p:spPr>
          <a:xfrm>
            <a:off x="2347033" y="5487779"/>
            <a:ext cx="7497932" cy="45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ctr"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Таблица различий виртуальных реальностей</a:t>
            </a:r>
            <a:endParaRPr lang="en-GB" sz="24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685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E25801-EB67-6A57-006A-5A7A0C3E7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7888" y="5440011"/>
            <a:ext cx="8676222" cy="722243"/>
          </a:xfrm>
        </p:spPr>
        <p:txBody>
          <a:bodyPr>
            <a:noAutofit/>
          </a:bodyPr>
          <a:lstStyle/>
          <a:p>
            <a:pPr indent="457200" algn="ctr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effectLst/>
                <a:latin typeface="+mj-lt"/>
                <a:ea typeface="Calibri" panose="020F0502020204030204" pitchFamily="34" charset="0"/>
              </a:rPr>
              <a:t>Эволюция и структуризация виртуальной реальности</a:t>
            </a:r>
            <a:endParaRPr lang="en-GB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image4.jpeg" descr="A close up of a map  Description automatically generated">
            <a:extLst>
              <a:ext uri="{FF2B5EF4-FFF2-40B4-BE49-F238E27FC236}">
                <a16:creationId xmlns:a16="http://schemas.microsoft.com/office/drawing/2014/main" id="{02D89BAF-EB3A-AD94-6A2B-5E18AE1F94F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7448" y="343321"/>
            <a:ext cx="10697102" cy="4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668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E62D27-D23E-2285-015C-CCB2EA827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  <a:ea typeface="Calibri" panose="020F0502020204030204" pitchFamily="34" charset="0"/>
              </a:rPr>
              <a:t>классификация по типам внутри понятия виртуальной реальности</a:t>
            </a:r>
            <a:endParaRPr lang="en-GB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C90063-3D0D-B87C-3C51-10CC5AFE8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959963"/>
            <a:ext cx="9905998" cy="3124201"/>
          </a:xfrm>
        </p:spPr>
        <p:txBody>
          <a:bodyPr>
            <a:noAutofit/>
          </a:bodyPr>
          <a:lstStyle/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Пассивная виртуальная реальность (</a:t>
            </a:r>
            <a:r>
              <a:rPr lang="ru-RU" sz="1600" b="1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passive</a:t>
            </a:r>
            <a:r>
              <a:rPr lang="ru-RU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virtual</a:t>
            </a:r>
            <a:r>
              <a:rPr lang="ru-RU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reality</a:t>
            </a:r>
            <a:r>
              <a:rPr lang="ru-RU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ru-RU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— автономное графическое изображение и его звуковое сопровождение, не управляемые человеком.</a:t>
            </a:r>
            <a:endParaRPr lang="en-GB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Обследуемая виртуальная реальность (</a:t>
            </a:r>
            <a:r>
              <a:rPr lang="ru-RU" sz="1600" b="1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exploratory</a:t>
            </a:r>
            <a:r>
              <a:rPr lang="ru-RU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virtual</a:t>
            </a:r>
            <a:r>
              <a:rPr lang="ru-RU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reality</a:t>
            </a:r>
            <a:r>
              <a:rPr lang="ru-RU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ru-RU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— возможность выбора вариантов сценариев изображения и звука, предоставляемых пользователям в ограниченном количестве.</a:t>
            </a:r>
            <a:endParaRPr lang="en-GB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Интерактивная виртуальная реальность (</a:t>
            </a:r>
            <a:r>
              <a:rPr lang="ru-RU" sz="1600" b="1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interactive</a:t>
            </a:r>
            <a:r>
              <a:rPr lang="ru-RU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virtual</a:t>
            </a:r>
            <a:r>
              <a:rPr lang="ru-RU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reality</a:t>
            </a:r>
            <a:r>
              <a:rPr lang="ru-RU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ru-RU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— виртуальная среда, которой пользователь может сам управлять и манипулировать по законам синтезированного мира с помощью специальных устройств, обладающих функцией трекинга.</a:t>
            </a:r>
            <a:endParaRPr lang="en-GB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Трекинг в виртуальной реальности </a:t>
            </a:r>
            <a:r>
              <a:rPr lang="ru-RU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— это особая технология, лежащая в основе взаимодействия человека с виртуальным миром. Она направлена на точное определение координат и позиции реального объекта (например, руки, головы или устройства) в виртуальной среде с помощью трех координат (x, y, z) его расположения и трех углов (a, b, g), задающих его ориентацию в пространстве.</a:t>
            </a:r>
            <a:endParaRPr lang="en-GB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791218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E62D27-D23E-2285-015C-CCB2EA827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  <a:ea typeface="Calibri" panose="020F0502020204030204" pitchFamily="34" charset="0"/>
              </a:rPr>
              <a:t>Области применения виртуальной реальности</a:t>
            </a:r>
            <a:endParaRPr lang="en-GB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C90063-3D0D-B87C-3C51-10CC5AFE8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61098"/>
            <a:ext cx="9905998" cy="4796902"/>
          </a:xfrm>
        </p:spPr>
        <p:txBody>
          <a:bodyPr>
            <a:noAutofit/>
          </a:bodyPr>
          <a:lstStyle/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Развлекательная сфера (игры, аудио- и видеоматериалы развлекательного характера).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Медицина (тренировка медицинского персонала в VR). Применение VR в медицине имеет удивительно длинную историю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dirty="0"/>
              <a:t>Спорт</a:t>
            </a: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dirty="0"/>
              <a:t>Военная сфера</a:t>
            </a: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dirty="0"/>
              <a:t>Космонавтика</a:t>
            </a: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9033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E25801-EB67-6A57-006A-5A7A0C3E7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7888" y="5516211"/>
            <a:ext cx="8676222" cy="722243"/>
          </a:xfrm>
        </p:spPr>
        <p:txBody>
          <a:bodyPr>
            <a:noAutofit/>
          </a:bodyPr>
          <a:lstStyle/>
          <a:p>
            <a:pPr indent="457200" algn="ctr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effectLst/>
                <a:latin typeface="+mj-lt"/>
                <a:ea typeface="Calibri" panose="020F0502020204030204" pitchFamily="34" charset="0"/>
              </a:rPr>
              <a:t>Автономный комплекс для погружения в виртуальную реальность на игровом полигоне</a:t>
            </a:r>
            <a:endParaRPr lang="en-GB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В Москве открылся VR-полигон для командного виртуального шутера">
            <a:extLst>
              <a:ext uri="{FF2B5EF4-FFF2-40B4-BE49-F238E27FC236}">
                <a16:creationId xmlns:a16="http://schemas.microsoft.com/office/drawing/2014/main" id="{AE241C57-F6D1-57E6-9B95-E962B8CCA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944" y="429017"/>
            <a:ext cx="8148111" cy="458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139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E25801-EB67-6A57-006A-5A7A0C3E7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7888" y="5516211"/>
            <a:ext cx="8676222" cy="722243"/>
          </a:xfrm>
        </p:spPr>
        <p:txBody>
          <a:bodyPr>
            <a:noAutofit/>
          </a:bodyPr>
          <a:lstStyle/>
          <a:p>
            <a:pPr indent="457200" algn="ctr">
              <a:lnSpc>
                <a:spcPct val="107000"/>
              </a:lnSpc>
              <a:spcAft>
                <a:spcPts val="800"/>
              </a:spcAft>
            </a:pPr>
            <a:r>
              <a:rPr lang="ru-RU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Изображение совмещенной картинки виртуальной реальности с реальным участником</a:t>
            </a:r>
            <a:endParaRPr lang="en-GB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4" descr="The Lab on Steam">
            <a:extLst>
              <a:ext uri="{FF2B5EF4-FFF2-40B4-BE49-F238E27FC236}">
                <a16:creationId xmlns:a16="http://schemas.microsoft.com/office/drawing/2014/main" id="{5A3F7C3A-7474-F4B6-1244-A4C2D0EBF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888" y="308843"/>
            <a:ext cx="8676222" cy="4882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80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E25801-EB67-6A57-006A-5A7A0C3E7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518" y="5631621"/>
            <a:ext cx="10670960" cy="722243"/>
          </a:xfrm>
        </p:spPr>
        <p:txBody>
          <a:bodyPr>
            <a:noAutofit/>
          </a:bodyPr>
          <a:lstStyle/>
          <a:p>
            <a:pPr indent="457200" algn="ctr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effectLst/>
                <a:latin typeface="+mj-lt"/>
                <a:ea typeface="Calibri" panose="020F0502020204030204" pitchFamily="34" charset="0"/>
              </a:rPr>
              <a:t>Лейтенант Воздушных Сил Великобритании демонстрирует точную виртуальную копию кабины самолета в программе тренировки пилотов Pilot </a:t>
            </a:r>
            <a:r>
              <a:rPr lang="ru-RU" dirty="0" err="1">
                <a:effectLst/>
                <a:latin typeface="+mj-lt"/>
                <a:ea typeface="Calibri" panose="020F0502020204030204" pitchFamily="34" charset="0"/>
              </a:rPr>
              <a:t>Training</a:t>
            </a:r>
            <a:r>
              <a:rPr lang="ru-RU" dirty="0">
                <a:effectLst/>
                <a:latin typeface="+mj-lt"/>
                <a:ea typeface="Calibri" panose="020F0502020204030204" pitchFamily="34" charset="0"/>
              </a:rPr>
              <a:t> Next.</a:t>
            </a:r>
            <a:endParaRPr lang="en-GB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Virtual reality pilot training program graduates latest class, including  Brits">
            <a:extLst>
              <a:ext uri="{FF2B5EF4-FFF2-40B4-BE49-F238E27FC236}">
                <a16:creationId xmlns:a16="http://schemas.microsoft.com/office/drawing/2014/main" id="{A2F3661F-98B4-DEDA-A61F-0C0CF5FED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61" y="378618"/>
            <a:ext cx="6619875" cy="496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145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E25801-EB67-6A57-006A-5A7A0C3E7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518" y="5631621"/>
            <a:ext cx="10670960" cy="722243"/>
          </a:xfrm>
        </p:spPr>
        <p:txBody>
          <a:bodyPr>
            <a:noAutofit/>
          </a:bodyPr>
          <a:lstStyle/>
          <a:p>
            <a:pPr indent="457200" algn="ctr">
              <a:lnSpc>
                <a:spcPct val="107000"/>
              </a:lnSpc>
              <a:spcAft>
                <a:spcPts val="800"/>
              </a:spcAft>
            </a:pPr>
            <a:r>
              <a:rPr lang="ru-RU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Скриншот симулятора МКС</a:t>
            </a:r>
            <a:endParaRPr lang="en-GB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This International Space Station simulator for VR will give you vertigo">
            <a:extLst>
              <a:ext uri="{FF2B5EF4-FFF2-40B4-BE49-F238E27FC236}">
                <a16:creationId xmlns:a16="http://schemas.microsoft.com/office/drawing/2014/main" id="{0D9B0D49-E7E0-673E-7DA5-C7A1BEFAE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892" y="369392"/>
            <a:ext cx="6526212" cy="5040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064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E25801-EB67-6A57-006A-5A7A0C3E7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518" y="5631621"/>
            <a:ext cx="10670960" cy="722243"/>
          </a:xfrm>
        </p:spPr>
        <p:txBody>
          <a:bodyPr>
            <a:noAutofit/>
          </a:bodyPr>
          <a:lstStyle/>
          <a:p>
            <a:pPr indent="457200" algn="ctr">
              <a:lnSpc>
                <a:spcPct val="107000"/>
              </a:lnSpc>
              <a:spcAft>
                <a:spcPts val="800"/>
              </a:spcAft>
            </a:pPr>
            <a:r>
              <a:rPr lang="ru-RU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Изображения трекинга, реализованного с помощью</a:t>
            </a:r>
            <a:r>
              <a:rPr lang="en-US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базовых станций </a:t>
            </a:r>
            <a:r>
              <a:rPr lang="en-US" kern="1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SteamVR</a:t>
            </a:r>
            <a:r>
              <a:rPr lang="en-US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Tracking</a:t>
            </a:r>
            <a:endParaRPr lang="en-GB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VR tracking: how does it really work? | our Blog | 4Experience.co">
            <a:extLst>
              <a:ext uri="{FF2B5EF4-FFF2-40B4-BE49-F238E27FC236}">
                <a16:creationId xmlns:a16="http://schemas.microsoft.com/office/drawing/2014/main" id="{DD58E655-1A1F-FBCD-E321-BA690F25E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506" y="321030"/>
            <a:ext cx="8142983" cy="506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64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E25801-EB67-6A57-006A-5A7A0C3E7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518" y="5631621"/>
            <a:ext cx="10670960" cy="722243"/>
          </a:xfrm>
        </p:spPr>
        <p:txBody>
          <a:bodyPr>
            <a:noAutofit/>
          </a:bodyPr>
          <a:lstStyle/>
          <a:p>
            <a:pPr indent="457200" algn="ctr">
              <a:lnSpc>
                <a:spcPct val="107000"/>
              </a:lnSpc>
              <a:spcAft>
                <a:spcPts val="800"/>
              </a:spcAft>
            </a:pPr>
            <a:r>
              <a:rPr lang="ru-RU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Изображения </a:t>
            </a:r>
            <a:r>
              <a:rPr lang="en-US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FULL BODY </a:t>
            </a:r>
            <a:r>
              <a:rPr lang="ru-RU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трекинга, реализованного с помощью</a:t>
            </a:r>
            <a:r>
              <a:rPr lang="en-US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базовых станций </a:t>
            </a:r>
            <a:r>
              <a:rPr lang="en-US" kern="1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SteamVR</a:t>
            </a:r>
            <a:r>
              <a:rPr lang="en-US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Tracking</a:t>
            </a:r>
            <a:endParaRPr lang="en-GB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Manus Announces its 'Polygon' Full-Body VR Tracking Solution – Virtual  Reality Times">
            <a:extLst>
              <a:ext uri="{FF2B5EF4-FFF2-40B4-BE49-F238E27FC236}">
                <a16:creationId xmlns:a16="http://schemas.microsoft.com/office/drawing/2014/main" id="{851A695E-5BA3-DD18-877B-2C624654E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011" y="504136"/>
            <a:ext cx="8339978" cy="4725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403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E25801-EB67-6A57-006A-5A7A0C3E7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167" y="673771"/>
            <a:ext cx="10670960" cy="5451821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400"/>
              <a:buFont typeface="Times New Roman" panose="02020603050405020304" pitchFamily="18" charset="0"/>
              <a:buChar char="●"/>
            </a:pPr>
            <a:r>
              <a:rPr lang="ru-RU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HTC </a:t>
            </a:r>
            <a:r>
              <a:rPr lang="ru-RU" kern="1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Vive</a:t>
            </a:r>
            <a:r>
              <a:rPr lang="ru-RU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(интегрированный)</a:t>
            </a:r>
            <a:endParaRPr lang="en-GB" kern="10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400"/>
              <a:buFont typeface="Times New Roman" panose="02020603050405020304" pitchFamily="18" charset="0"/>
              <a:buChar char="●"/>
            </a:pPr>
            <a:r>
              <a:rPr lang="ru-RU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Xiaomi </a:t>
            </a:r>
            <a:r>
              <a:rPr lang="ru-RU" kern="1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Mi</a:t>
            </a:r>
            <a:r>
              <a:rPr lang="ru-RU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VR 2 (смартфон)</a:t>
            </a:r>
            <a:endParaRPr lang="en-GB" kern="10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400"/>
              <a:buFont typeface="Times New Roman" panose="02020603050405020304" pitchFamily="18" charset="0"/>
              <a:buChar char="●"/>
            </a:pPr>
            <a:r>
              <a:rPr lang="ru-RU" kern="1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Oculus</a:t>
            </a:r>
            <a:r>
              <a:rPr lang="ru-RU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Go (интегрированный)</a:t>
            </a:r>
            <a:endParaRPr lang="en-GB" kern="10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400"/>
              <a:buFont typeface="Times New Roman" panose="02020603050405020304" pitchFamily="18" charset="0"/>
              <a:buChar char="●"/>
            </a:pPr>
            <a:r>
              <a:rPr lang="ru-RU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Samsung Gear VR (смартфон)</a:t>
            </a:r>
            <a:endParaRPr lang="en-GB" kern="10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400"/>
              <a:buFont typeface="Times New Roman" panose="02020603050405020304" pitchFamily="18" charset="0"/>
              <a:buChar char="●"/>
            </a:pPr>
            <a:r>
              <a:rPr lang="ru-RU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Samsung HMD </a:t>
            </a:r>
            <a:r>
              <a:rPr lang="ru-RU" kern="1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Odyssey</a:t>
            </a:r>
            <a:r>
              <a:rPr lang="ru-RU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(интегрированный)</a:t>
            </a:r>
            <a:endParaRPr lang="en-GB" kern="10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400"/>
              <a:buFont typeface="Times New Roman" panose="02020603050405020304" pitchFamily="18" charset="0"/>
              <a:buChar char="●"/>
            </a:pPr>
            <a:r>
              <a:rPr lang="ru-RU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Sony PlayStation VR (интегрированный, для приставки)</a:t>
            </a:r>
            <a:endParaRPr lang="en-GB" kern="10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400"/>
              <a:buFont typeface="Times New Roman" panose="02020603050405020304" pitchFamily="18" charset="0"/>
              <a:buChar char="●"/>
            </a:pPr>
            <a:r>
              <a:rPr lang="en-GB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Lenovo Explorer Windows Mixed Reality Headset (</a:t>
            </a:r>
            <a:r>
              <a:rPr lang="ru-RU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интегрированный</a:t>
            </a:r>
            <a:r>
              <a:rPr lang="en-GB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400"/>
              <a:buFont typeface="Times New Roman" panose="02020603050405020304" pitchFamily="18" charset="0"/>
              <a:buChar char="●"/>
            </a:pPr>
            <a:r>
              <a:rPr lang="ru-RU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HIPER VRX (смартфон)</a:t>
            </a:r>
            <a:endParaRPr lang="en-GB" kern="10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400"/>
              <a:buFont typeface="Times New Roman" panose="02020603050405020304" pitchFamily="18" charset="0"/>
              <a:buChar char="●"/>
            </a:pPr>
            <a:r>
              <a:rPr lang="ru-RU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DJI </a:t>
            </a:r>
            <a:r>
              <a:rPr lang="ru-RU" kern="1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Goggles</a:t>
            </a:r>
            <a:r>
              <a:rPr lang="ru-RU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(интегрированный, управление дронами)</a:t>
            </a:r>
            <a:endParaRPr lang="en-GB" kern="10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400"/>
              <a:buFont typeface="Times New Roman" panose="02020603050405020304" pitchFamily="18" charset="0"/>
              <a:buChar char="●"/>
            </a:pPr>
            <a:r>
              <a:rPr lang="ru-RU" kern="1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Oculus</a:t>
            </a:r>
            <a:r>
              <a:rPr lang="ru-RU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Rift</a:t>
            </a:r>
            <a:r>
              <a:rPr lang="ru-RU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CV1 + Touch (интегрированный)</a:t>
            </a:r>
            <a:endParaRPr lang="en-GB" kern="10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 descr="Quickly explained: The VR headset jungle – digital.DTHG">
            <a:extLst>
              <a:ext uri="{FF2B5EF4-FFF2-40B4-BE49-F238E27FC236}">
                <a16:creationId xmlns:a16="http://schemas.microsoft.com/office/drawing/2014/main" id="{CCF9326C-12E0-41A2-FEF1-7EE77C1D9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732" y="566280"/>
            <a:ext cx="4019276" cy="249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504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4" name="Picture 6" descr="Benefits Of VR For Online Teaching - eLearning Industry">
            <a:extLst>
              <a:ext uri="{FF2B5EF4-FFF2-40B4-BE49-F238E27FC236}">
                <a16:creationId xmlns:a16="http://schemas.microsoft.com/office/drawing/2014/main" id="{B87B6CE5-2F39-B1B0-B765-7C925A90B7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8C559-4029-C6E8-82FB-41A1AD533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609601"/>
            <a:ext cx="8676222" cy="32004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Спасибо за внимание!</a:t>
            </a:r>
          </a:p>
        </p:txBody>
      </p:sp>
      <p:sp>
        <p:nvSpPr>
          <p:cNvPr id="4" name="AutoShape 4" descr="What is Extended Reality? AR, VR &amp; Mixed Reality | Arrow.com">
            <a:extLst>
              <a:ext uri="{FF2B5EF4-FFF2-40B4-BE49-F238E27FC236}">
                <a16:creationId xmlns:a16="http://schemas.microsoft.com/office/drawing/2014/main" id="{99EFA34A-42FA-54D1-F0D6-03C8AE23FF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45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Сетк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TM03457485[[fn=Сетчатая]]</Template>
  <TotalTime>136</TotalTime>
  <Words>509</Words>
  <Application>Microsoft Office PowerPoint</Application>
  <PresentationFormat>Широкоэкранный</PresentationFormat>
  <Paragraphs>59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Century Gothic</vt:lpstr>
      <vt:lpstr>Times New Roman</vt:lpstr>
      <vt:lpstr>Сетка</vt:lpstr>
      <vt:lpstr>Виртуальная реальность</vt:lpstr>
      <vt:lpstr>Понятия и разновидности виртуальной реальности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классификация по типам внутри понятия виртуальной реальности</vt:lpstr>
      <vt:lpstr>Области применения виртуальной реальности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Шахов Михаил Андреевич</dc:creator>
  <cp:lastModifiedBy>Шахов Михаил Андреевич</cp:lastModifiedBy>
  <cp:revision>6</cp:revision>
  <dcterms:created xsi:type="dcterms:W3CDTF">2023-06-02T09:33:05Z</dcterms:created>
  <dcterms:modified xsi:type="dcterms:W3CDTF">2023-06-02T11:49:19Z</dcterms:modified>
</cp:coreProperties>
</file>