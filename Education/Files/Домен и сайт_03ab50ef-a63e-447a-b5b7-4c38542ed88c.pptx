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6" r:id="rId11"/>
    <p:sldId id="265" r:id="rId12"/>
    <p:sldId id="267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Lora" panose="020B0604020202020204" charset="-52"/>
      <p:regular r:id="rId19"/>
      <p:bold r:id="rId20"/>
      <p:italic r:id="rId21"/>
      <p:boldItalic r:id="rId22"/>
    </p:embeddedFont>
    <p:embeddedFont>
      <p:font typeface="Raleway" panose="020B0604020202020204" charset="-52"/>
      <p:regular r:id="rId23"/>
      <p:bold r:id="rId24"/>
      <p:italic r:id="rId25"/>
      <p:boldItalic r:id="rId26"/>
    </p:embeddedFont>
    <p:embeddedFont>
      <p:font typeface="Roboto" panose="020B0604020202020204" charset="0"/>
      <p:regular r:id="rId27"/>
    </p:embeddedFont>
    <p:embeddedFont>
      <p:font typeface="Source Sans Pro" panose="020B0503030403020204" pitchFamily="34" charset="0"/>
      <p:regular r:id="rId28"/>
      <p:bold r:id="rId2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5E7"/>
    <a:srgbClr val="F3E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6998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E4C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EF5E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043470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Домен и сайт как объекты права</a:t>
            </a:r>
            <a:r>
              <a:rPr lang="ru-RU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. Понятие, виды, правовой статус</a:t>
            </a:r>
          </a:p>
          <a:p>
            <a:pPr marL="0" indent="0" algn="l">
              <a:lnSpc>
                <a:spcPts val="5500"/>
              </a:lnSpc>
              <a:buNone/>
            </a:pP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1471324" y="381047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837724" y="5785009"/>
            <a:ext cx="382905" cy="382905"/>
          </a:xfrm>
          <a:prstGeom prst="roundRect">
            <a:avLst>
              <a:gd name="adj" fmla="val 23878209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924" y="359569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Понятие домена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00924" y="4894418"/>
            <a:ext cx="36185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Техническое определение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00924" y="5485682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Домен — </a:t>
            </a:r>
            <a:r>
              <a:rPr lang="ru-RU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обозначение символами, предназначенное для адресации сайтов в сети "Интернет" в целях обеспечения доступа к информации, размещенной в сети "Интернет";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00924" y="7061310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Работает через DNS, преобразует имя в IP-адрес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477961" y="489441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Пример работы DNS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77961" y="5485682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Пользователь → DNS-сервер → IP-адрес → сайт</a:t>
            </a:r>
            <a:endParaRPr lang="en-US" sz="1850" dirty="0"/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267DFD2-4CC5-8B0A-157E-A3D58E65D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369"/>
            <a:ext cx="14630400" cy="2835235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EBEDF24-ACD5-EE67-D600-DF1AFEC9EC77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1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89340"/>
            <a:ext cx="721364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Правовая природа домена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72153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7101959" y="2721531"/>
            <a:ext cx="2836783" cy="10558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Не объект интеллектуальной собственности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101959" y="3920966"/>
            <a:ext cx="2836783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Нет творческой уникальности, не охраняется как товарный знак без регистрации.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72153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8" name="Text 5"/>
          <p:cNvSpPr/>
          <p:nvPr/>
        </p:nvSpPr>
        <p:spPr>
          <a:xfrm>
            <a:off x="10955893" y="2721531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Объект гражданских прав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955893" y="3569018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Может быть предметом купли-продажи или аренды.</a:t>
            </a:r>
            <a:endParaRPr lang="en-US" sz="1850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0154DEF0-DEA0-B3D6-5430-72B69EFFDAB2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2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93406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Виды доменов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4997053"/>
            <a:ext cx="6357818" cy="2290643"/>
          </a:xfrm>
          <a:prstGeom prst="roundRect">
            <a:avLst>
              <a:gd name="adj" fmla="val 1568"/>
            </a:avLst>
          </a:prstGeom>
          <a:solidFill>
            <a:srgbClr val="F3E7D4"/>
          </a:solidFill>
          <a:ln/>
        </p:spPr>
      </p:sp>
      <p:sp>
        <p:nvSpPr>
          <p:cNvPr id="5" name="Text 2"/>
          <p:cNvSpPr/>
          <p:nvPr/>
        </p:nvSpPr>
        <p:spPr>
          <a:xfrm>
            <a:off x="1077039" y="523636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 уровням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5731907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1-й: .ru, .com (ICANN, КЦ)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077039" y="6198632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2-й: company.ru (регистраторы)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077039" y="6665357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3-й: shop.company.ru (владелец 2-го уровня)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7434858" y="4997053"/>
            <a:ext cx="6357818" cy="2290643"/>
          </a:xfrm>
          <a:prstGeom prst="roundRect">
            <a:avLst>
              <a:gd name="adj" fmla="val 1568"/>
            </a:avLst>
          </a:prstGeom>
          <a:solidFill>
            <a:srgbClr val="F3E7D4"/>
          </a:solidFill>
          <a:ln/>
        </p:spPr>
      </p:sp>
      <p:sp>
        <p:nvSpPr>
          <p:cNvPr id="10" name="Text 7"/>
          <p:cNvSpPr/>
          <p:nvPr/>
        </p:nvSpPr>
        <p:spPr>
          <a:xfrm>
            <a:off x="7674173" y="5236369"/>
            <a:ext cx="362021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Территориальные домены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74173" y="5731907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.ru, .kz, .eu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674173" y="6198632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/>
              <a:t>.com, .org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F51510-9843-C5D5-A5C7-AF01915138F4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3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0818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0208" y="3083383"/>
            <a:ext cx="7065526" cy="613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4800"/>
              </a:lnSpc>
              <a:buNone/>
            </a:pPr>
            <a:r>
              <a:rPr lang="en-US" sz="38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Правовой статус домена в РФ</a:t>
            </a:r>
            <a:endParaRPr lang="en-US" sz="3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10" y="4333039"/>
            <a:ext cx="521613" cy="52161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11078" y="4317639"/>
            <a:ext cx="698031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ГК РФ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511078" y="4593035"/>
            <a:ext cx="6560122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rtl="1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Запрет на тождественные домены, компенсация за нарушения.</a:t>
            </a: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</a:t>
            </a: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</a:t>
            </a: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Ст. 1484)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209" y="5713430"/>
            <a:ext cx="521613" cy="5216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11078" y="5685090"/>
            <a:ext cx="1111293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ФЗ № 149</a:t>
            </a:r>
            <a:endParaRPr lang="en-US" sz="1900" dirty="0"/>
          </a:p>
        </p:txBody>
      </p:sp>
      <p:sp>
        <p:nvSpPr>
          <p:cNvPr id="9" name="Text 4"/>
          <p:cNvSpPr/>
          <p:nvPr/>
        </p:nvSpPr>
        <p:spPr>
          <a:xfrm>
            <a:off x="1511078" y="5964022"/>
            <a:ext cx="4417790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Регистратор хранит данные владельца.</a:t>
            </a: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(Ст. 15.5)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208" y="7032587"/>
            <a:ext cx="521613" cy="52161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511078" y="7032587"/>
            <a:ext cx="2550789" cy="306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400"/>
              </a:lnSpc>
              <a:buNone/>
            </a:pPr>
            <a:r>
              <a:rPr lang="en-US" sz="19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Правила регистрации</a:t>
            </a:r>
            <a:endParaRPr lang="en-US" sz="1900" dirty="0"/>
          </a:p>
        </p:txBody>
      </p:sp>
      <p:sp>
        <p:nvSpPr>
          <p:cNvPr id="12" name="Text 6"/>
          <p:cNvSpPr/>
          <p:nvPr/>
        </p:nvSpPr>
        <p:spPr>
          <a:xfrm>
            <a:off x="5666111" y="7340189"/>
            <a:ext cx="7065526" cy="333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600"/>
              </a:lnSpc>
              <a:buNone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Принцип «первым пришел — первым получил», оспаривание через</a:t>
            </a: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Арбитражный</a:t>
            </a: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суд или</a:t>
            </a: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административную процедуру </a:t>
            </a: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КЦ.</a:t>
            </a:r>
            <a:endParaRPr lang="ru-RU" sz="1600" dirty="0">
              <a:solidFill>
                <a:srgbClr val="3A3630"/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C421DCE3-B0C2-0C60-4514-5E726C0EBFB0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4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60187" y="125634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00"/>
              </a:lnSpc>
              <a:buNone/>
            </a:pPr>
            <a:r>
              <a:rPr lang="ru-RU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Типы нарушений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53195" y="407539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Киберсквоттинг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928"/>
            <a:ext cx="373165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 rtl="1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Регистрация домена для перепродажи правообладателю.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49146" y="4482346"/>
            <a:ext cx="35814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941243" y="263961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1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Тайпсквоттинг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941243" y="3135154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Создание домена-опечатки (например, yandeks.ru).</a:t>
            </a:r>
            <a:endParaRPr lang="en-US" sz="1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929563" y="3108008"/>
            <a:ext cx="35814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7"/>
          <p:cNvSpPr/>
          <p:nvPr/>
        </p:nvSpPr>
        <p:spPr>
          <a:xfrm>
            <a:off x="9941243" y="466129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Механизмы защиты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9941243" y="5156835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Административный порядок: жалоба в WIPO или КЦ</a:t>
            </a:r>
            <a:endParaRPr lang="en-US" sz="1850" dirty="0"/>
          </a:p>
        </p:txBody>
      </p:sp>
      <p:sp>
        <p:nvSpPr>
          <p:cNvPr id="13" name="Text 9"/>
          <p:cNvSpPr/>
          <p:nvPr/>
        </p:nvSpPr>
        <p:spPr>
          <a:xfrm>
            <a:off x="9941243" y="6006584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Судебный порядок: иски в Арбитражный суд</a:t>
            </a:r>
            <a:endParaRPr lang="en-US" sz="18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439114"/>
            <a:ext cx="4534138" cy="4534138"/>
          </a:xfrm>
          <a:prstGeom prst="rect">
            <a:avLst/>
          </a:prstGeom>
          <a:ln>
            <a:solidFill>
              <a:srgbClr val="F3E7D4"/>
            </a:solidFill>
          </a:ln>
        </p:spPr>
      </p:pic>
      <p:sp>
        <p:nvSpPr>
          <p:cNvPr id="15" name="Text 10"/>
          <p:cNvSpPr/>
          <p:nvPr/>
        </p:nvSpPr>
        <p:spPr>
          <a:xfrm>
            <a:off x="7929563" y="5856565"/>
            <a:ext cx="358140" cy="4476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28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B4AF1E1-78A2-B5B8-7966-43DA512037E5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5</a:t>
            </a:r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9267" y="628055"/>
            <a:ext cx="5785485" cy="671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Сайт как объект права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1056084" y="1642229"/>
            <a:ext cx="30480" cy="5962055"/>
          </a:xfrm>
          <a:prstGeom prst="roundRect">
            <a:avLst>
              <a:gd name="adj" fmla="val 112394"/>
            </a:avLst>
          </a:prstGeom>
          <a:solidFill>
            <a:srgbClr val="D9CDBA"/>
          </a:solidFill>
          <a:ln/>
        </p:spPr>
      </p:sp>
      <p:sp>
        <p:nvSpPr>
          <p:cNvPr id="5" name="Shape 2"/>
          <p:cNvSpPr/>
          <p:nvPr/>
        </p:nvSpPr>
        <p:spPr>
          <a:xfrm>
            <a:off x="1282482" y="2140625"/>
            <a:ext cx="685086" cy="30480"/>
          </a:xfrm>
          <a:prstGeom prst="roundRect">
            <a:avLst>
              <a:gd name="adj" fmla="val 112394"/>
            </a:avLst>
          </a:prstGeom>
          <a:solidFill>
            <a:srgbClr val="D9CDBA"/>
          </a:solidFill>
          <a:ln/>
        </p:spPr>
      </p:sp>
      <p:sp>
        <p:nvSpPr>
          <p:cNvPr id="6" name="Shape 3"/>
          <p:cNvSpPr/>
          <p:nvPr/>
        </p:nvSpPr>
        <p:spPr>
          <a:xfrm>
            <a:off x="799207" y="1899047"/>
            <a:ext cx="513755" cy="513755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7" name="Text 4"/>
          <p:cNvSpPr/>
          <p:nvPr/>
        </p:nvSpPr>
        <p:spPr>
          <a:xfrm>
            <a:off x="894814" y="1954351"/>
            <a:ext cx="322421" cy="403027"/>
          </a:xfrm>
          <a:prstGeom prst="rect">
            <a:avLst/>
          </a:prstGeom>
          <a:solidFill>
            <a:srgbClr val="F3E7D4"/>
          </a:solidFill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2198013" y="1870591"/>
            <a:ext cx="2686764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Понятие сайта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2198013" y="2343388"/>
            <a:ext cx="6519507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Совокупность программ для электронных вычислительных машин и иной информации, содержащейся в информационной системе, доступ к которой обеспечивается посредством информационно-телекоммуникационной сети "Интернет" по доменным именам и (или) по сетевым адресам, позволяющим идентифицировать сайты в сети "Интернет";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1282482" y="4994658"/>
            <a:ext cx="685086" cy="30480"/>
          </a:xfrm>
          <a:prstGeom prst="roundRect">
            <a:avLst>
              <a:gd name="adj" fmla="val 112394"/>
            </a:avLst>
          </a:prstGeom>
          <a:solidFill>
            <a:srgbClr val="D9CDBA"/>
          </a:solidFill>
          <a:ln/>
        </p:spPr>
      </p:sp>
      <p:sp>
        <p:nvSpPr>
          <p:cNvPr id="11" name="Shape 8"/>
          <p:cNvSpPr/>
          <p:nvPr/>
        </p:nvSpPr>
        <p:spPr>
          <a:xfrm>
            <a:off x="799207" y="4753080"/>
            <a:ext cx="513755" cy="513755"/>
          </a:xfrm>
          <a:prstGeom prst="roundRect">
            <a:avLst>
              <a:gd name="adj" fmla="val 6668"/>
            </a:avLst>
          </a:prstGeom>
          <a:solidFill>
            <a:srgbClr val="F3E7D4"/>
          </a:solidFill>
          <a:ln/>
        </p:spPr>
      </p:sp>
      <p:sp>
        <p:nvSpPr>
          <p:cNvPr id="12" name="Text 9"/>
          <p:cNvSpPr/>
          <p:nvPr/>
        </p:nvSpPr>
        <p:spPr>
          <a:xfrm>
            <a:off x="894814" y="4808385"/>
            <a:ext cx="322421" cy="403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250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198013" y="4724624"/>
            <a:ext cx="2686764" cy="33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ru-RU" sz="2100" dirty="0">
                <a:solidFill>
                  <a:srgbClr val="3A3630"/>
                </a:solidFill>
                <a:latin typeface="Lora" pitchFamily="34" charset="0"/>
              </a:rPr>
              <a:t>Юридически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2198013" y="5087502"/>
            <a:ext cx="6519507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Сайт как единое целое не имеет специального правового статуса в российском законодательстве. Однако его отдельные элементы могут быть объектами авторского права. Согласно статье 1259 ГК РФ, к объектам авторского права относятся произведения науки, литературы и искусства, включая программы для ЭВМ и базы данных. Таким образом, тексты, изображения, дизайн и программный код сайта могут быть защищены авторским правом при наличии оригинальности и творческого характера</a:t>
            </a:r>
            <a:endParaRPr lang="en-US" sz="175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998CDB-D651-3704-AEF5-879CE4707BD1}"/>
              </a:ext>
            </a:extLst>
          </p:cNvPr>
          <p:cNvSpPr txBox="1"/>
          <p:nvPr/>
        </p:nvSpPr>
        <p:spPr>
          <a:xfrm>
            <a:off x="133212" y="78602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D1CE29EE-542F-2113-0B29-4000629C4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750"/>
            <a:ext cx="14630400" cy="2835235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3C76405-380E-F7E7-888A-92B0BD5B318B}"/>
              </a:ext>
            </a:extLst>
          </p:cNvPr>
          <p:cNvSpPr/>
          <p:nvPr/>
        </p:nvSpPr>
        <p:spPr>
          <a:xfrm>
            <a:off x="4807511" y="2995275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 rtl="1">
              <a:lnSpc>
                <a:spcPts val="5500"/>
              </a:lnSpc>
              <a:buNone/>
            </a:pPr>
            <a:r>
              <a:rPr lang="ru-RU" sz="440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Правовая природа элементов сайта</a:t>
            </a:r>
            <a:endParaRPr lang="en-US" sz="44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071311C8-5A7F-8976-DD82-B11610FB1783}"/>
              </a:ext>
            </a:extLst>
          </p:cNvPr>
          <p:cNvSpPr/>
          <p:nvPr/>
        </p:nvSpPr>
        <p:spPr>
          <a:xfrm>
            <a:off x="978225" y="4037990"/>
            <a:ext cx="45719" cy="3936578"/>
          </a:xfrm>
          <a:prstGeom prst="roundRect">
            <a:avLst>
              <a:gd name="adj" fmla="val 300324"/>
            </a:avLst>
          </a:prstGeom>
          <a:solidFill>
            <a:srgbClr val="F3E7D4"/>
          </a:solidFill>
          <a:ln/>
        </p:spPr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F92ABE2D-C7ED-6CAD-7FE4-78FECE6CBA2F}"/>
              </a:ext>
            </a:extLst>
          </p:cNvPr>
          <p:cNvSpPr/>
          <p:nvPr/>
        </p:nvSpPr>
        <p:spPr>
          <a:xfrm>
            <a:off x="1208134" y="4488298"/>
            <a:ext cx="653772" cy="30480"/>
          </a:xfrm>
          <a:prstGeom prst="roundRect">
            <a:avLst>
              <a:gd name="adj" fmla="val 300324"/>
            </a:avLst>
          </a:prstGeom>
          <a:solidFill>
            <a:srgbClr val="F3E7D4"/>
          </a:solidFill>
          <a:ln>
            <a:solidFill>
              <a:srgbClr val="F3E7D4"/>
            </a:solidFill>
          </a:ln>
        </p:spPr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6FB8EC4B-94C5-34E6-119C-AFDE9C55E26B}"/>
              </a:ext>
            </a:extLst>
          </p:cNvPr>
          <p:cNvSpPr/>
          <p:nvPr/>
        </p:nvSpPr>
        <p:spPr>
          <a:xfrm>
            <a:off x="748314" y="4258388"/>
            <a:ext cx="490299" cy="490299"/>
          </a:xfrm>
          <a:prstGeom prst="roundRect">
            <a:avLst>
              <a:gd name="adj" fmla="val 18670"/>
            </a:avLst>
          </a:prstGeom>
          <a:solidFill>
            <a:srgbClr val="F3E7D4"/>
          </a:solidFill>
          <a:ln w="7620">
            <a:solidFill>
              <a:srgbClr val="F3E7D4"/>
            </a:solidFill>
            <a:prstDash val="solid"/>
          </a:ln>
        </p:spPr>
      </p:sp>
      <p:pic>
        <p:nvPicPr>
          <p:cNvPr id="14" name="Image 2" descr="preencoded.png">
            <a:extLst>
              <a:ext uri="{FF2B5EF4-FFF2-40B4-BE49-F238E27FC236}">
                <a16:creationId xmlns:a16="http://schemas.microsoft.com/office/drawing/2014/main" id="{ECDAE531-72CD-059F-35ED-FF4188A1A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51" y="4299226"/>
            <a:ext cx="326827" cy="408623"/>
          </a:xfrm>
          <a:prstGeom prst="rect">
            <a:avLst/>
          </a:prstGeom>
          <a:solidFill>
            <a:srgbClr val="F3E7D4"/>
          </a:solidFill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A504B763-56EB-2D94-AF77-655E8379D796}"/>
              </a:ext>
            </a:extLst>
          </p:cNvPr>
          <p:cNvSpPr/>
          <p:nvPr/>
        </p:nvSpPr>
        <p:spPr>
          <a:xfrm>
            <a:off x="2083243" y="4231123"/>
            <a:ext cx="3083838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ru-RU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Программный код</a:t>
            </a:r>
            <a:endParaRPr lang="en-US" sz="210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7E8B4F5-79EC-6CEC-75D6-7274E15A87F5}"/>
              </a:ext>
            </a:extLst>
          </p:cNvPr>
          <p:cNvSpPr/>
          <p:nvPr/>
        </p:nvSpPr>
        <p:spPr>
          <a:xfrm>
            <a:off x="2083243" y="4702372"/>
            <a:ext cx="628364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Охраняется как «программа для ЭВМ» (ст. 1261 ГК РФ).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Регистрация в Роспатенте (необязательно, но упрощает защиту).</a:t>
            </a:r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9F328DB0-78F4-3D85-1F0C-CA15683D4D72}"/>
              </a:ext>
            </a:extLst>
          </p:cNvPr>
          <p:cNvSpPr/>
          <p:nvPr/>
        </p:nvSpPr>
        <p:spPr>
          <a:xfrm>
            <a:off x="1208133" y="5890497"/>
            <a:ext cx="653772" cy="30480"/>
          </a:xfrm>
          <a:prstGeom prst="roundRect">
            <a:avLst>
              <a:gd name="adj" fmla="val 300324"/>
            </a:avLst>
          </a:prstGeom>
          <a:solidFill>
            <a:srgbClr val="F3E7D4"/>
          </a:solidFill>
          <a:ln/>
        </p:spPr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2F9200EE-A386-3C61-098C-7BD07E110724}"/>
              </a:ext>
            </a:extLst>
          </p:cNvPr>
          <p:cNvSpPr/>
          <p:nvPr/>
        </p:nvSpPr>
        <p:spPr>
          <a:xfrm>
            <a:off x="748313" y="5660587"/>
            <a:ext cx="490299" cy="490299"/>
          </a:xfrm>
          <a:prstGeom prst="roundRect">
            <a:avLst>
              <a:gd name="adj" fmla="val 18670"/>
            </a:avLst>
          </a:prstGeom>
          <a:solidFill>
            <a:srgbClr val="F3E7D4"/>
          </a:solidFill>
          <a:ln w="7620">
            <a:solidFill>
              <a:srgbClr val="F3E7D4"/>
            </a:solidFill>
            <a:prstDash val="solid"/>
          </a:ln>
        </p:spPr>
      </p:sp>
      <p:pic>
        <p:nvPicPr>
          <p:cNvPr id="19" name="Image 3" descr="preencoded.png">
            <a:extLst>
              <a:ext uri="{FF2B5EF4-FFF2-40B4-BE49-F238E27FC236}">
                <a16:creationId xmlns:a16="http://schemas.microsoft.com/office/drawing/2014/main" id="{4BFFC69C-5F40-3153-669C-CEB2D9D72A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050" y="5701426"/>
            <a:ext cx="326827" cy="408623"/>
          </a:xfrm>
          <a:prstGeom prst="rect">
            <a:avLst/>
          </a:prstGeom>
        </p:spPr>
      </p:pic>
      <p:sp>
        <p:nvSpPr>
          <p:cNvPr id="20" name="Text 12">
            <a:extLst>
              <a:ext uri="{FF2B5EF4-FFF2-40B4-BE49-F238E27FC236}">
                <a16:creationId xmlns:a16="http://schemas.microsoft.com/office/drawing/2014/main" id="{A7BB7467-E598-056B-2806-28A8283CEAD6}"/>
              </a:ext>
            </a:extLst>
          </p:cNvPr>
          <p:cNvSpPr/>
          <p:nvPr/>
        </p:nvSpPr>
        <p:spPr>
          <a:xfrm>
            <a:off x="2083242" y="5633322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ru-RU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Дизайн</a:t>
            </a:r>
            <a:endParaRPr lang="en-US" sz="21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C3A127E5-49D6-37DF-3EE3-F7222923890E}"/>
              </a:ext>
            </a:extLst>
          </p:cNvPr>
          <p:cNvSpPr/>
          <p:nvPr/>
        </p:nvSpPr>
        <p:spPr>
          <a:xfrm>
            <a:off x="2083242" y="6104571"/>
            <a:ext cx="628364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Защищается авторским правом (ст. 1259 ГК РФ).</a:t>
            </a:r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7A977EE5-1B77-B536-5D07-23A6FDE2527A}"/>
              </a:ext>
            </a:extLst>
          </p:cNvPr>
          <p:cNvSpPr/>
          <p:nvPr/>
        </p:nvSpPr>
        <p:spPr>
          <a:xfrm>
            <a:off x="1208133" y="7005398"/>
            <a:ext cx="653772" cy="30480"/>
          </a:xfrm>
          <a:prstGeom prst="roundRect">
            <a:avLst>
              <a:gd name="adj" fmla="val 300324"/>
            </a:avLst>
          </a:prstGeom>
          <a:solidFill>
            <a:srgbClr val="F3E7D4"/>
          </a:solidFill>
          <a:ln/>
        </p:spPr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25737F18-A814-7C7E-6E4D-5BE1C2A9B1A4}"/>
              </a:ext>
            </a:extLst>
          </p:cNvPr>
          <p:cNvSpPr/>
          <p:nvPr/>
        </p:nvSpPr>
        <p:spPr>
          <a:xfrm>
            <a:off x="748313" y="6775488"/>
            <a:ext cx="490299" cy="490299"/>
          </a:xfrm>
          <a:prstGeom prst="roundRect">
            <a:avLst>
              <a:gd name="adj" fmla="val 18670"/>
            </a:avLst>
          </a:prstGeom>
          <a:solidFill>
            <a:srgbClr val="F3E7D4"/>
          </a:solidFill>
          <a:ln w="7620">
            <a:solidFill>
              <a:srgbClr val="F3E7D4"/>
            </a:solidFill>
            <a:prstDash val="solid"/>
          </a:ln>
        </p:spPr>
      </p:sp>
      <p:pic>
        <p:nvPicPr>
          <p:cNvPr id="24" name="Image 4" descr="preencoded.png">
            <a:extLst>
              <a:ext uri="{FF2B5EF4-FFF2-40B4-BE49-F238E27FC236}">
                <a16:creationId xmlns:a16="http://schemas.microsoft.com/office/drawing/2014/main" id="{FB78DB12-D2E1-B50F-43D5-FAEB2A65BF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50" y="6816326"/>
            <a:ext cx="326827" cy="408623"/>
          </a:xfrm>
          <a:prstGeom prst="rect">
            <a:avLst/>
          </a:prstGeom>
        </p:spPr>
      </p:pic>
      <p:sp>
        <p:nvSpPr>
          <p:cNvPr id="25" name="Text 16">
            <a:extLst>
              <a:ext uri="{FF2B5EF4-FFF2-40B4-BE49-F238E27FC236}">
                <a16:creationId xmlns:a16="http://schemas.microsoft.com/office/drawing/2014/main" id="{0F5123DB-8713-8F19-83D3-C8D4979BF04D}"/>
              </a:ext>
            </a:extLst>
          </p:cNvPr>
          <p:cNvSpPr/>
          <p:nvPr/>
        </p:nvSpPr>
        <p:spPr>
          <a:xfrm>
            <a:off x="2083242" y="6748223"/>
            <a:ext cx="2724269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ru-RU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Контент</a:t>
            </a:r>
            <a:endParaRPr lang="en-US" sz="2100" dirty="0"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4F12A7DE-9245-F2BB-FC24-67C749428588}"/>
              </a:ext>
            </a:extLst>
          </p:cNvPr>
          <p:cNvSpPr/>
          <p:nvPr/>
        </p:nvSpPr>
        <p:spPr>
          <a:xfrm>
            <a:off x="2083242" y="7219472"/>
            <a:ext cx="6283643" cy="348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ru-RU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Тексты/фото — объекты авторских прав.</a:t>
            </a:r>
          </a:p>
          <a:p>
            <a:pPr marL="0" indent="0" algn="l">
              <a:lnSpc>
                <a:spcPts val="2700"/>
              </a:lnSpc>
              <a:buNone/>
            </a:pPr>
            <a:r>
              <a:rPr lang="ru-RU" sz="17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Ответственность за незаконное использование (ст. 1301 ГК РФ — компенсация до 5 млн руб.).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C261DDF-4989-A586-23AA-A2E41E401EFE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7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689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0" y="0"/>
            <a:ext cx="5486400" cy="822959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2827" y="560665"/>
            <a:ext cx="7277695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 err="1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Виды</a:t>
            </a:r>
            <a:r>
              <a:rPr lang="en-US" sz="3750" dirty="0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</a:t>
            </a:r>
            <a:r>
              <a:rPr lang="en-US" sz="3750" dirty="0" err="1">
                <a:solidFill>
                  <a:srgbClr val="38512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сайтов</a:t>
            </a:r>
            <a:endParaRPr lang="en-US" sz="3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827" y="1465302"/>
            <a:ext cx="1018461" cy="148066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36802" y="1668899"/>
            <a:ext cx="2396371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 целям и контенту 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2036802" y="2090618"/>
            <a:ext cx="6394371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Корпоративные, информационные, интернет-магазины, веб-сервисы, представительства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827" y="3246983"/>
            <a:ext cx="1018461" cy="155186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036802" y="3271719"/>
            <a:ext cx="3109198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 технологии создания 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2036802" y="3693439"/>
            <a:ext cx="6394371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Простые </a:t>
            </a:r>
            <a:r>
              <a:rPr lang="en-US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HTML-</a:t>
            </a: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сайты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2036802" y="4090512"/>
            <a:ext cx="6394371" cy="3258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Веб-приложения. Ресурс, данные которого загружаются </a:t>
            </a:r>
          </a:p>
          <a:p>
            <a:pPr algn="l">
              <a:lnSpc>
                <a:spcPts val="2550"/>
              </a:lnSpc>
              <a:buSzPct val="100000"/>
            </a:pP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 помощью скриптов. </a:t>
            </a:r>
            <a:endParaRPr lang="en-US" sz="1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826" y="5101025"/>
            <a:ext cx="1018461" cy="19489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036801" y="5101025"/>
            <a:ext cx="2396371" cy="299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ru-RU" sz="1850" dirty="0">
                <a:solidFill>
                  <a:srgbClr val="3A363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По доступности сайты бывают: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2036802" y="5522744"/>
            <a:ext cx="6329598" cy="1198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Открытые — информацию может получить любой пользователь.</a:t>
            </a: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Полузакрытые — требуется пройти регистрацию.  </a:t>
            </a:r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Закрытые — доступ открыт только узкому кругу, </a:t>
            </a:r>
          </a:p>
          <a:p>
            <a:pPr algn="l">
              <a:lnSpc>
                <a:spcPts val="2550"/>
              </a:lnSpc>
              <a:buSzPct val="100000"/>
            </a:pPr>
            <a:r>
              <a:rPr lang="ru-RU" sz="160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например, секретным службам, военным, студентам.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41D5B8-EE53-67DD-16BE-AF547F123CB2}"/>
              </a:ext>
            </a:extLst>
          </p:cNvPr>
          <p:cNvSpPr txBox="1"/>
          <p:nvPr/>
        </p:nvSpPr>
        <p:spPr>
          <a:xfrm>
            <a:off x="177816" y="770549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1CF0A0C-7231-C748-5C31-553BE647341D}"/>
              </a:ext>
            </a:extLst>
          </p:cNvPr>
          <p:cNvSpPr/>
          <p:nvPr/>
        </p:nvSpPr>
        <p:spPr>
          <a:xfrm>
            <a:off x="656570" y="122196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Регулирование</a:t>
            </a:r>
            <a:endParaRPr lang="en-US" sz="44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13F6C79-8DE4-E4CF-EC11-2D24EA2378A4}"/>
              </a:ext>
            </a:extLst>
          </p:cNvPr>
          <p:cNvSpPr/>
          <p:nvPr/>
        </p:nvSpPr>
        <p:spPr>
          <a:xfrm>
            <a:off x="656570" y="2698449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F3E7D4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96C3E5-E83F-15B3-6510-23C09B258295}"/>
              </a:ext>
            </a:extLst>
          </p:cNvPr>
          <p:cNvSpPr/>
          <p:nvPr/>
        </p:nvSpPr>
        <p:spPr>
          <a:xfrm>
            <a:off x="800338" y="2856118"/>
            <a:ext cx="14802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ФЗ № 152 «О персональных </a:t>
            </a:r>
          </a:p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данных»</a:t>
            </a:r>
            <a:endParaRPr lang="en-US" sz="2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FE4A0F-9FAA-E13D-1DB4-BB0972B67059}"/>
              </a:ext>
            </a:extLst>
          </p:cNvPr>
          <p:cNvSpPr/>
          <p:nvPr/>
        </p:nvSpPr>
        <p:spPr>
          <a:xfrm>
            <a:off x="800338" y="3722446"/>
            <a:ext cx="372749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Обязанность разместить политику конфиденциальности.</a:t>
            </a:r>
            <a:endParaRPr lang="en-US" sz="1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D2C296-309C-685A-649B-E0841BD0EBD0}"/>
              </a:ext>
            </a:extLst>
          </p:cNvPr>
          <p:cNvSpPr/>
          <p:nvPr/>
        </p:nvSpPr>
        <p:spPr>
          <a:xfrm>
            <a:off x="5354302" y="5047157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F3E7D4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45F7405-AB45-00FA-F9C1-AF0DF70F8E36}"/>
              </a:ext>
            </a:extLst>
          </p:cNvPr>
          <p:cNvSpPr/>
          <p:nvPr/>
        </p:nvSpPr>
        <p:spPr>
          <a:xfrm>
            <a:off x="5588736" y="52048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ФЗ № 149 «Об информации»</a:t>
            </a:r>
            <a:endParaRPr lang="en-US" sz="2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58AB541-9C4A-9F73-3A63-692BF4DFB478}"/>
              </a:ext>
            </a:extLst>
          </p:cNvPr>
          <p:cNvSpPr/>
          <p:nvPr/>
        </p:nvSpPr>
        <p:spPr>
          <a:xfrm>
            <a:off x="5588736" y="6071154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Блокировка сайта за экстремизм (ст. 15.3).</a:t>
            </a:r>
            <a:endParaRPr lang="en-US" sz="175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9306B5E-C4EC-FC47-46F0-C0844FE19444}"/>
              </a:ext>
            </a:extLst>
          </p:cNvPr>
          <p:cNvSpPr/>
          <p:nvPr/>
        </p:nvSpPr>
        <p:spPr>
          <a:xfrm>
            <a:off x="9908266" y="2763160"/>
            <a:ext cx="4196358" cy="2047994"/>
          </a:xfrm>
          <a:prstGeom prst="roundRect">
            <a:avLst>
              <a:gd name="adj" fmla="val 4652"/>
            </a:avLst>
          </a:prstGeom>
          <a:solidFill>
            <a:srgbClr val="F3E7D4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98DD881-079B-0BB1-F281-97C7425F9EEB}"/>
              </a:ext>
            </a:extLst>
          </p:cNvPr>
          <p:cNvSpPr/>
          <p:nvPr/>
        </p:nvSpPr>
        <p:spPr>
          <a:xfrm>
            <a:off x="10142701" y="29975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ГК РФ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1B08232-2169-A579-E637-344E1E5B9BE7}"/>
              </a:ext>
            </a:extLst>
          </p:cNvPr>
          <p:cNvSpPr/>
          <p:nvPr/>
        </p:nvSpPr>
        <p:spPr>
          <a:xfrm>
            <a:off x="10102572" y="3700412"/>
            <a:ext cx="3727490" cy="828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Ответственность за незаконный контент (ст. 1253).</a:t>
            </a:r>
            <a:endParaRPr lang="en-US" sz="1750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87EFA039-F4F8-35B3-1DA3-A5DB31BF0660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9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22532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A6A48D09-2910-C9AA-96FE-0986F1045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2693194"/>
          </a:xfrm>
          <a:prstGeom prst="rect">
            <a:avLst/>
          </a:prstGeom>
        </p:spPr>
      </p:pic>
      <p:sp>
        <p:nvSpPr>
          <p:cNvPr id="9" name="Text 0">
            <a:extLst>
              <a:ext uri="{FF2B5EF4-FFF2-40B4-BE49-F238E27FC236}">
                <a16:creationId xmlns:a16="http://schemas.microsoft.com/office/drawing/2014/main" id="{ADF2A03E-3DDC-D094-1AB0-809BF920D1E3}"/>
              </a:ext>
            </a:extLst>
          </p:cNvPr>
          <p:cNvSpPr/>
          <p:nvPr/>
        </p:nvSpPr>
        <p:spPr>
          <a:xfrm>
            <a:off x="488320" y="314206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Заключение</a:t>
            </a:r>
            <a:endParaRPr lang="en-US" sz="44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BCEEBE9-73A4-3588-0F96-977300B20571}"/>
              </a:ext>
            </a:extLst>
          </p:cNvPr>
          <p:cNvSpPr/>
          <p:nvPr/>
        </p:nvSpPr>
        <p:spPr>
          <a:xfrm>
            <a:off x="488320" y="3797470"/>
            <a:ext cx="11942269" cy="321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ru-RU" sz="1750" dirty="0">
              <a:solidFill>
                <a:srgbClr val="3A3630"/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Доменное имя и сайт имеют различные правовые режимы в российском законодательстве.​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Доменное имя не является объектом интеллектуальной собственности, но может быть защищено как товарный знак.​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Сайт и его элементы могут быть объектами авторского права при наличии творческого характера.​</a:t>
            </a: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Защита прав на домен и сайт требует комплексного подхода, включая регистрацию товарных знаков и соблюдение авторских прав.​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Таким образом, эффективная правовая защита доменных имен и сайтов возможна при правильном использовании механизмов гражданского и авторского права.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5AAFC70-6EB1-8118-7DE9-8197E0B0666D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10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63457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DD483C-46C4-E684-917E-56F5B2026B97}"/>
              </a:ext>
            </a:extLst>
          </p:cNvPr>
          <p:cNvSpPr/>
          <p:nvPr/>
        </p:nvSpPr>
        <p:spPr>
          <a:xfrm>
            <a:off x="689042" y="52153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БИБЛИОГРАФИЧЕСКИЙ СПИСОК</a:t>
            </a:r>
            <a:endParaRPr lang="en-US" sz="4450" dirty="0"/>
          </a:p>
        </p:txBody>
      </p:sp>
      <p:sp>
        <p:nvSpPr>
          <p:cNvPr id="3" name="Text 6">
            <a:extLst>
              <a:ext uri="{FF2B5EF4-FFF2-40B4-BE49-F238E27FC236}">
                <a16:creationId xmlns:a16="http://schemas.microsoft.com/office/drawing/2014/main" id="{35DBD3EA-B274-C2F8-6B96-E33F47157BAD}"/>
              </a:ext>
            </a:extLst>
          </p:cNvPr>
          <p:cNvSpPr/>
          <p:nvPr/>
        </p:nvSpPr>
        <p:spPr>
          <a:xfrm>
            <a:off x="573121" y="1230310"/>
            <a:ext cx="13484158" cy="32153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ru-RU" sz="1750" dirty="0">
              <a:solidFill>
                <a:srgbClr val="3A3630"/>
              </a:solidFill>
              <a:latin typeface="Source Sans Pro" pitchFamily="34" charset="0"/>
              <a:ea typeface="Source Sans Pro" pitchFamily="34" charset="-122"/>
              <a:cs typeface="Source Sans Pro" pitchFamily="34" charset="-12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	Гражданский кодекс Российской Федерации (часть четвёртая) от 18 декабря 2006 г. № 230-ФЗ (ред. от 01.03.2025) // КонсультантПлюс. URL: http://www.consultant.ru/document/cons_doc_LAW_64629/ (дата обращения: 18.04.2025).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	Правила регистрации доменных имен в доменах .RU и .РФ (утв. решением Координационного центра национального домена сети Интернет от 05.10.2011 № 2011-18/81; ред. от 07.11.2022) // Координационный центр доменов .RU/.РФ. URL: https://cctld.ru/files/pdf/docs/rules_ru-rf.pdf (дата обращения: 18.04.2025).База знаний+4cctld.ru+4Правовые акты+4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	Постановление Президиума Высшего Арбитражного Суда РФ от 16 января 2001 г. № 1192/00 // Гарант. URL: https://base.garant.ru/12122191/ (дата обращения: 18.04.2025).Гарант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	Постановление Суда по интеллектуальным правам от 6 апреля 2017 г. № С01-107/2017 по делу № А41-29186/2016 // Гарант. URL: https://base.garant.ru/71650486/ (дата обращения: 18.04.2025).Гарант+2Гарант+2lexalliance.ru+2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5.	Правовая природа доменных имен // </a:t>
            </a:r>
            <a:r>
              <a:rPr lang="ru-RU" sz="1750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LexAlliance</a:t>
            </a: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URL: https://lexalliance.ru/publications/article/pravovaya-priroda-domennykh-imen/ (дата обращения: 18.04.2025).lexalliance.ru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	Доменное имя как особый объект гражданских прав и причина судебных споров // Экономика и жизнь. URL: https://www.eg-online.ru/article/227234/ (дата обращения: 18.04.2025).ЕГЭ-онлайн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7.	Система стандартов по информации, библиотечному и издательскому делу. Библиографическая запись. Библиографическое описание. Общие требования и правила составления: ГОСТ Р 7.0.100–2018. – </a:t>
            </a:r>
            <a:r>
              <a:rPr lang="ru-RU" sz="1750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Введ</a:t>
            </a: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2019-07-01. – М.: </a:t>
            </a:r>
            <a:r>
              <a:rPr lang="ru-RU" sz="1750" dirty="0" err="1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Стандартинформ</a:t>
            </a:r>
            <a:r>
              <a:rPr lang="ru-RU" sz="1750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2018.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3498C32-B96B-9072-481D-3CB21027850C}"/>
              </a:ext>
            </a:extLst>
          </p:cNvPr>
          <p:cNvSpPr/>
          <p:nvPr/>
        </p:nvSpPr>
        <p:spPr>
          <a:xfrm>
            <a:off x="12859200" y="7696800"/>
            <a:ext cx="1627200" cy="472431"/>
          </a:xfrm>
          <a:prstGeom prst="rect">
            <a:avLst/>
          </a:prstGeom>
          <a:solidFill>
            <a:srgbClr val="FEF5E7"/>
          </a:solidFill>
          <a:ln>
            <a:solidFill>
              <a:srgbClr val="FEF5E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3A3630"/>
                </a:solidFill>
                <a:latin typeface="Source Sans Pro" pitchFamily="34" charset="0"/>
                <a:ea typeface="Source Sans Pro" pitchFamily="34" charset="-122"/>
              </a:rPr>
              <a:t>11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001873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644</Words>
  <Application>Microsoft Office PowerPoint</Application>
  <PresentationFormat>Произвольный</PresentationFormat>
  <Paragraphs>109</Paragraphs>
  <Slides>12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Source Sans Pro</vt:lpstr>
      <vt:lpstr>Aptos</vt:lpstr>
      <vt:lpstr>Arial</vt:lpstr>
      <vt:lpstr>Roboto</vt:lpstr>
      <vt:lpstr>Lora</vt:lpstr>
      <vt:lpstr>Calibri</vt:lpstr>
      <vt:lpstr>Raleway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Маша Шабалкина</cp:lastModifiedBy>
  <cp:revision>5</cp:revision>
  <dcterms:created xsi:type="dcterms:W3CDTF">2025-04-17T18:42:50Z</dcterms:created>
  <dcterms:modified xsi:type="dcterms:W3CDTF">2025-06-15T22:27:26Z</dcterms:modified>
</cp:coreProperties>
</file>