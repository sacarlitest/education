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3" r:id="rId24"/>
    <p:sldId id="279" r:id="rId25"/>
    <p:sldId id="280" r:id="rId26"/>
    <p:sldId id="281" r:id="rId27"/>
    <p:sldId id="282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D6170E2-85CC-41A2-9097-134F6BE7FB19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0A7800E-EC8F-4543-BAB3-1C9AC971C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6925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70E2-85CC-41A2-9097-134F6BE7FB19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800E-EC8F-4543-BAB3-1C9AC971C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795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D6170E2-85CC-41A2-9097-134F6BE7FB19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A7800E-EC8F-4543-BAB3-1C9AC971C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96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70E2-85CC-41A2-9097-134F6BE7FB19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800E-EC8F-4543-BAB3-1C9AC971C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238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70E2-85CC-41A2-9097-134F6BE7FB19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800E-EC8F-4543-BAB3-1C9AC971C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464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70E2-85CC-41A2-9097-134F6BE7FB19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800E-EC8F-4543-BAB3-1C9AC971C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219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70E2-85CC-41A2-9097-134F6BE7FB19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800E-EC8F-4543-BAB3-1C9AC971C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165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70E2-85CC-41A2-9097-134F6BE7FB19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800E-EC8F-4543-BAB3-1C9AC971C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465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70E2-85CC-41A2-9097-134F6BE7FB19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800E-EC8F-4543-BAB3-1C9AC971C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8325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70E2-85CC-41A2-9097-134F6BE7FB19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800E-EC8F-4543-BAB3-1C9AC971C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398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D6170E2-85CC-41A2-9097-134F6BE7FB19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A7800E-EC8F-4543-BAB3-1C9AC971C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8706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D6170E2-85CC-41A2-9097-134F6BE7FB19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A7800E-EC8F-4543-BAB3-1C9AC971C16B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3071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D6170E2-85CC-41A2-9097-134F6BE7FB19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A7800E-EC8F-4543-BAB3-1C9AC971C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879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70E2-85CC-41A2-9097-134F6BE7FB19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800E-EC8F-4543-BAB3-1C9AC971C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294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70E2-85CC-41A2-9097-134F6BE7FB19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800E-EC8F-4543-BAB3-1C9AC971C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365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70E2-85CC-41A2-9097-134F6BE7FB19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800E-EC8F-4543-BAB3-1C9AC971C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1858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D6170E2-85CC-41A2-9097-134F6BE7FB19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A7800E-EC8F-4543-BAB3-1C9AC971C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287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170E2-85CC-41A2-9097-134F6BE7FB19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7800E-EC8F-4543-BAB3-1C9AC971C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91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939801-CD91-63BA-30BE-B3ADEA3F8202}"/>
              </a:ext>
            </a:extLst>
          </p:cNvPr>
          <p:cNvSpPr txBox="1"/>
          <p:nvPr/>
        </p:nvSpPr>
        <p:spPr>
          <a:xfrm>
            <a:off x="1291770" y="1335314"/>
            <a:ext cx="96084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charset="0"/>
                <a:cs typeface="Times New Roman" panose="02020603050405020304" charset="0"/>
              </a:rPr>
              <a:t>Минобрнауки России</a:t>
            </a:r>
          </a:p>
          <a:p>
            <a:pPr algn="ctr"/>
            <a:r>
              <a:rPr lang="ru-RU" dirty="0">
                <a:latin typeface="Times New Roman" panose="02020603050405020304" charset="0"/>
                <a:cs typeface="Times New Roman" panose="02020603050405020304" charset="0"/>
              </a:rPr>
              <a:t>Федеральное государственное бюджетное образовательное учреждение высшего</a:t>
            </a:r>
          </a:p>
          <a:p>
            <a:pPr algn="ctr"/>
            <a:r>
              <a:rPr lang="ru-RU" dirty="0">
                <a:latin typeface="Times New Roman" panose="02020603050405020304" charset="0"/>
                <a:cs typeface="Times New Roman" panose="02020603050405020304" charset="0"/>
              </a:rPr>
              <a:t>Образования Санкт-Петербургский технологический институт (Технологический университет)</a:t>
            </a:r>
          </a:p>
          <a:p>
            <a:pPr algn="ctr"/>
            <a:endParaRPr lang="ru-RU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3" name="Таблица 5">
            <a:extLst>
              <a:ext uri="{FF2B5EF4-FFF2-40B4-BE49-F238E27FC236}">
                <a16:creationId xmlns:a16="http://schemas.microsoft.com/office/drawing/2014/main" id="{219CC3C8-32C2-B664-5554-153957958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764077"/>
              </p:ext>
            </p:extLst>
          </p:nvPr>
        </p:nvGraphicFramePr>
        <p:xfrm>
          <a:off x="1291768" y="2485567"/>
          <a:ext cx="9608459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6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2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Направление подготовки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09.03.03 Прикладная информатика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Направленность образовательной программы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Прикладная информатика в химии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Факультет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Информационных технологий и управления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Кафедра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Систем автоматизированного проектирования и управления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Дисциплина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Правовые основы информатики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47B353D-4673-B88B-7BB1-F0F42DF5CBCF}"/>
              </a:ext>
            </a:extLst>
          </p:cNvPr>
          <p:cNvSpPr txBox="1"/>
          <p:nvPr/>
        </p:nvSpPr>
        <p:spPr>
          <a:xfrm>
            <a:off x="1291767" y="4996001"/>
            <a:ext cx="9608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charset="0"/>
                <a:cs typeface="Times New Roman" panose="02020603050405020304" charset="0"/>
              </a:rPr>
              <a:t>Утечки информации, и методы борьбы с ними.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A737ACF-F618-608B-F995-FBD675269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135" y="142963"/>
            <a:ext cx="1115729" cy="120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98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Информация ограниченного доступа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6EC674-6BD2-DC22-0263-135D64CA7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Информация – сведения (сообщения, данные) независимо от формы их представления</a:t>
            </a:r>
          </a:p>
          <a:p>
            <a:r>
              <a:rPr lang="ru-RU" sz="3200" dirty="0"/>
              <a:t>Ограниченного доступа – доступ к которой ограничен федеральными законами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8A187C9-1002-7EDF-7E13-37A68CCBD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900" y="4060556"/>
            <a:ext cx="2033071" cy="2033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1" y="6218685"/>
            <a:ext cx="697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2/29</a:t>
            </a:r>
          </a:p>
        </p:txBody>
      </p:sp>
    </p:spTree>
    <p:extLst>
      <p:ext uri="{BB962C8B-B14F-4D97-AF65-F5344CB8AC3E}">
        <p14:creationId xmlns:p14="http://schemas.microsoft.com/office/powerpoint/2010/main" val="2955399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Основные области, в которых есть информация ограниченного доступа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6EC674-6BD2-DC22-0263-135D64CA7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Тайны, связанные с работой государственного аппарата</a:t>
            </a:r>
          </a:p>
          <a:p>
            <a:r>
              <a:rPr lang="ru-RU" sz="2000" dirty="0"/>
              <a:t>Производственные тайны</a:t>
            </a:r>
          </a:p>
          <a:p>
            <a:r>
              <a:rPr lang="ru-RU" sz="2000" dirty="0"/>
              <a:t>Тайны, связанные с информацией физических лиц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Тайны, связанные с договорными и денежными отношениями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Тайны, связанные с оборонной деятельностью государства</a:t>
            </a:r>
          </a:p>
          <a:p>
            <a:r>
              <a:rPr lang="ru-RU" sz="2000" dirty="0"/>
              <a:t>Тайны опросов, лотереи</a:t>
            </a:r>
          </a:p>
          <a:p>
            <a:r>
              <a:rPr lang="ru-RU" sz="2000" dirty="0"/>
              <a:t>Тайны деятельности служб спасения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1" y="6218685"/>
            <a:ext cx="697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3/29</a:t>
            </a:r>
          </a:p>
        </p:txBody>
      </p:sp>
    </p:spTree>
    <p:extLst>
      <p:ext uri="{BB962C8B-B14F-4D97-AF65-F5344CB8AC3E}">
        <p14:creationId xmlns:p14="http://schemas.microsoft.com/office/powerpoint/2010/main" val="8748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Тайны, связанные с работой государственного аппарата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6EC674-6BD2-DC22-0263-135D64CA7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Государственная тайна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Налоговая тайна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Криминалистика</a:t>
            </a:r>
          </a:p>
          <a:p>
            <a:pPr lvl="1"/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Тайны следствия</a:t>
            </a:r>
          </a:p>
          <a:p>
            <a:pPr lvl="1"/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Тайны суда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Личные дела отдельных людей</a:t>
            </a:r>
          </a:p>
          <a:p>
            <a:pPr lvl="1"/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 специальным званием</a:t>
            </a:r>
          </a:p>
          <a:p>
            <a:pPr lvl="1"/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 время пробации</a:t>
            </a:r>
          </a:p>
          <a:p>
            <a:pPr lvl="1"/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Защищаемых государством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Тайны таможни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Тайны контроля состояния окружающей среды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1" y="6218685"/>
            <a:ext cx="697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4/29</a:t>
            </a:r>
          </a:p>
        </p:txBody>
      </p:sp>
    </p:spTree>
    <p:extLst>
      <p:ext uri="{BB962C8B-B14F-4D97-AF65-F5344CB8AC3E}">
        <p14:creationId xmlns:p14="http://schemas.microsoft.com/office/powerpoint/2010/main" val="3318750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Производственные тайны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6EC674-6BD2-DC22-0263-135D64CA7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Коммерческая тайна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Конфиденциальная информация о деятельности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Корпоративный договор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Секрет производства (ноу-хау)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Инсайдерская информация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Тайны экспериментов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Над промышленной безопасностью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6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Моделей контрольно-кассовой техники и технических средств оператора фискальных данных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1" y="6218685"/>
            <a:ext cx="697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5/29</a:t>
            </a:r>
          </a:p>
        </p:txBody>
      </p:sp>
    </p:spTree>
    <p:extLst>
      <p:ext uri="{BB962C8B-B14F-4D97-AF65-F5344CB8AC3E}">
        <p14:creationId xmlns:p14="http://schemas.microsoft.com/office/powerpoint/2010/main" val="2050672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Тайны, связанные с информацией физических лиц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6EC674-6BD2-DC22-0263-135D64CA7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Персональная информация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Социальный статус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Врачебная тайна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Нотариальная, адвокатская тайны, тайны страхования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Связь, завещание, усыновление, исповедь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Доходы и расходы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Такси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Тайна патентного поверенного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1" y="6218685"/>
            <a:ext cx="697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6/29</a:t>
            </a:r>
          </a:p>
        </p:txBody>
      </p:sp>
    </p:spTree>
    <p:extLst>
      <p:ext uri="{BB962C8B-B14F-4D97-AF65-F5344CB8AC3E}">
        <p14:creationId xmlns:p14="http://schemas.microsoft.com/office/powerpoint/2010/main" val="1698947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Тайны, связанные с договорными и денежными отношениями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6EC674-6BD2-DC22-0263-135D64CA7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Конфиденциальная информация переговоров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Тайны деятельности банков</a:t>
            </a:r>
          </a:p>
          <a:p>
            <a:pPr lvl="1"/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Банковская тайна</a:t>
            </a:r>
          </a:p>
          <a:p>
            <a:pPr lvl="1"/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Взаимодействие с иностранными государствами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Тайна ломбарда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Тайны аукционной деятельности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Тайны банкротства и долговых обязательств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Фонды, акции, пайщики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Тайны социальных выплат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Сведения, которые стали известны эксперту в следствие проведения экспертизы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1" y="6218685"/>
            <a:ext cx="697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7/29</a:t>
            </a:r>
          </a:p>
        </p:txBody>
      </p:sp>
    </p:spTree>
    <p:extLst>
      <p:ext uri="{BB962C8B-B14F-4D97-AF65-F5344CB8AC3E}">
        <p14:creationId xmlns:p14="http://schemas.microsoft.com/office/powerpoint/2010/main" val="2403083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Основные области, в которых есть информация ограниченного доступа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6EC674-6BD2-DC22-0263-135D64CA7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Тайны, связанные с оборонной деятельностью государства:</a:t>
            </a:r>
          </a:p>
          <a:p>
            <a:pPr lvl="1"/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Информация о военнослужащих</a:t>
            </a:r>
          </a:p>
          <a:p>
            <a:pPr lvl="1"/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Информация о инфраструктуре</a:t>
            </a:r>
          </a:p>
          <a:p>
            <a:pPr lvl="0"/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Тайны опросов, лотереи</a:t>
            </a:r>
          </a:p>
          <a:p>
            <a:pPr lvl="1"/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Голосование</a:t>
            </a:r>
          </a:p>
          <a:p>
            <a:pPr lvl="1"/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Перепись</a:t>
            </a:r>
          </a:p>
          <a:p>
            <a:pPr lvl="0"/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Тайны деятельности служб спасения</a:t>
            </a:r>
          </a:p>
          <a:p>
            <a:pPr lvl="1"/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Пожарных (141-ФЗ Ст.39 п.5)</a:t>
            </a:r>
          </a:p>
          <a:p>
            <a:pPr lvl="1">
              <a:spcAft>
                <a:spcPts val="6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112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(488-ФЗ Ст.9 п.2)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1" y="6218685"/>
            <a:ext cx="697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8/29</a:t>
            </a:r>
          </a:p>
        </p:txBody>
      </p:sp>
    </p:spTree>
    <p:extLst>
      <p:ext uri="{BB962C8B-B14F-4D97-AF65-F5344CB8AC3E}">
        <p14:creationId xmlns:p14="http://schemas.microsoft.com/office/powerpoint/2010/main" val="2496818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Утечка информации в законодательстве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6EC674-6BD2-DC22-0263-135D64CA7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Утечка – </a:t>
            </a:r>
            <a:r>
              <a:rPr lang="ru-RU" sz="2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неправомерный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или </a:t>
            </a:r>
            <a:r>
              <a:rPr lang="ru-RU" sz="2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случайный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доступ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 данным, их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уничтожение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изменение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блокирование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копирование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предоставление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распространение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а также иные неправомерные действия при их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обработке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информационной системе персональных данных. </a:t>
            </a:r>
          </a:p>
          <a:p>
            <a:pPr lvl="0"/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законах, использующих данное определение, слово «утечка» не используется.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1" y="6218685"/>
            <a:ext cx="697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9/29</a:t>
            </a:r>
          </a:p>
        </p:txBody>
      </p:sp>
    </p:spTree>
    <p:extLst>
      <p:ext uri="{BB962C8B-B14F-4D97-AF65-F5344CB8AC3E}">
        <p14:creationId xmlns:p14="http://schemas.microsoft.com/office/powerpoint/2010/main" val="1053464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E10A4B2D-2748-E0E7-3E43-974A1FCD7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err="1"/>
              <a:t>УтечкА</a:t>
            </a:r>
            <a:r>
              <a:rPr lang="ru-RU" sz="2800" dirty="0"/>
              <a:t> информации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0" y="6218685"/>
            <a:ext cx="104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10/29</a:t>
            </a:r>
          </a:p>
        </p:txBody>
      </p:sp>
    </p:spTree>
    <p:extLst>
      <p:ext uri="{BB962C8B-B14F-4D97-AF65-F5344CB8AC3E}">
        <p14:creationId xmlns:p14="http://schemas.microsoft.com/office/powerpoint/2010/main" val="668277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4AF96C7B-ECBB-2C96-3E7E-F3E8578DC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478" y="1638942"/>
            <a:ext cx="5105803" cy="4998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Способы защиты информации от утечек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6EC674-6BD2-DC22-0263-135D64CA7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410200" cy="4024125"/>
          </a:xfrm>
        </p:spPr>
        <p:txBody>
          <a:bodyPr>
            <a:normAutofit/>
          </a:bodyPr>
          <a:lstStyle/>
          <a:p>
            <a:pPr lvl="0"/>
            <a:r>
              <a:rPr lang="ru-RU" sz="3600" dirty="0">
                <a:ln w="0">
                  <a:noFill/>
                </a:ln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Самый эффективный способ защиты информации в сети Интернет – не выкладывать информацию в Интернет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1" y="6218685"/>
            <a:ext cx="697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11/29</a:t>
            </a:r>
          </a:p>
        </p:txBody>
      </p:sp>
    </p:spTree>
    <p:extLst>
      <p:ext uri="{BB962C8B-B14F-4D97-AF65-F5344CB8AC3E}">
        <p14:creationId xmlns:p14="http://schemas.microsoft.com/office/powerpoint/2010/main" val="3077640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Меры защиты персональных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6EC674-6BD2-DC22-0263-135D64CA7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идентификация и аутентификация субъектов доступа и объектов доступа</a:t>
            </a:r>
          </a:p>
          <a:p>
            <a:pPr lvl="0"/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управление доступом субъектов доступа к объектам доступа;</a:t>
            </a:r>
          </a:p>
          <a:p>
            <a:pPr lvl="0"/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ограничение программной среды;</a:t>
            </a:r>
          </a:p>
          <a:p>
            <a:pPr lvl="0"/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защита машинных носителей информации, на которых хранятся и (или) обрабатываются персональные данные (далее - машинные носители персональных данных);</a:t>
            </a:r>
          </a:p>
          <a:p>
            <a:pPr lvl="0"/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регистрация событий безопасности;</a:t>
            </a:r>
          </a:p>
          <a:p>
            <a:pPr lvl="0"/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антивирусная защита;</a:t>
            </a:r>
          </a:p>
          <a:p>
            <a:pPr lvl="0"/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обнаружение (предотвращение) вторжений;</a:t>
            </a:r>
          </a:p>
          <a:p>
            <a:pPr lvl="0"/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контроль (анализ) защищенности персональных данных;</a:t>
            </a:r>
          </a:p>
          <a:p>
            <a:pPr lvl="0"/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обеспечение целостности информационной системы и персональных данных;</a:t>
            </a:r>
          </a:p>
          <a:p>
            <a:pPr lvl="0"/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обеспечение доступности персональных данных;</a:t>
            </a:r>
          </a:p>
          <a:p>
            <a:pPr lvl="0"/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защита среды виртуализации;</a:t>
            </a:r>
          </a:p>
          <a:p>
            <a:pPr lvl="0"/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защита технических средств;</a:t>
            </a:r>
          </a:p>
          <a:p>
            <a:pPr lvl="0"/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защита информационной системы, ее средств, систем связи и передачи данных;</a:t>
            </a:r>
          </a:p>
          <a:p>
            <a:pPr lvl="0"/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выявление инцидентов (одного события или группы событий), которые могут привести к сбоям или нарушению функционирования информационной системы и (или) к возникновению угроз безопасности персональных данных (далее - инциденты), и реагирование на них;</a:t>
            </a:r>
          </a:p>
          <a:p>
            <a:pPr lvl="0"/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управление конфигурацией информационной системы и системы защиты персональных данных.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0" y="6218685"/>
            <a:ext cx="852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12/29</a:t>
            </a:r>
          </a:p>
        </p:txBody>
      </p:sp>
    </p:spTree>
    <p:extLst>
      <p:ext uri="{BB962C8B-B14F-4D97-AF65-F5344CB8AC3E}">
        <p14:creationId xmlns:p14="http://schemas.microsoft.com/office/powerpoint/2010/main" val="2443267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идентификация и аутентификация субъектов доступа и объектов доступа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0" y="6218685"/>
            <a:ext cx="104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13/29</a:t>
            </a: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F1C530A8-0E0F-E084-10F8-85EDC5C87F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030" y="2193925"/>
            <a:ext cx="5469940" cy="402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679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управление доступом субъектов доступа к объектам доступа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1" y="6218685"/>
            <a:ext cx="805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14/29</a:t>
            </a:r>
          </a:p>
        </p:txBody>
      </p:sp>
      <p:pic>
        <p:nvPicPr>
          <p:cNvPr id="5126" name="Picture 6" descr="Picture background">
            <a:extLst>
              <a:ext uri="{FF2B5EF4-FFF2-40B4-BE49-F238E27FC236}">
                <a16:creationId xmlns:a16="http://schemas.microsoft.com/office/drawing/2014/main" id="{A4EC4D09-12D6-2EC5-E600-F93157A3B1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701" y="2193925"/>
            <a:ext cx="5574597" cy="402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4944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ограничение программной среды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1" y="6218685"/>
            <a:ext cx="898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15/29</a:t>
            </a:r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B3AA5719-99E9-6C3E-C0A5-E2CE3C9DB6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739231"/>
            <a:ext cx="4572000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6143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защита машинных носителей информации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0" y="6218685"/>
            <a:ext cx="852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16/29</a:t>
            </a:r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51DF6EF8-8751-C795-6CA4-A1D9EB20E0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491581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168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регистрация событий безопасности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1" y="621868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17/29</a:t>
            </a:r>
          </a:p>
        </p:txBody>
      </p:sp>
      <p:pic>
        <p:nvPicPr>
          <p:cNvPr id="8198" name="Picture 6" descr="Picture background">
            <a:extLst>
              <a:ext uri="{FF2B5EF4-FFF2-40B4-BE49-F238E27FC236}">
                <a16:creationId xmlns:a16="http://schemas.microsoft.com/office/drawing/2014/main" id="{71F8EA8E-F66C-A8BD-B881-EBADCDEF59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857" y="2306081"/>
            <a:ext cx="8514286" cy="3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2415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антивирусная защита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0" y="6218685"/>
            <a:ext cx="852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18/29</a:t>
            </a:r>
          </a:p>
        </p:txBody>
      </p:sp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2AB61DC7-DA93-0730-4B70-21F05325DA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042" y="1673422"/>
            <a:ext cx="6001916" cy="480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400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обнаружение (предотвращение) вторжений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0" y="6218685"/>
            <a:ext cx="104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19/29</a:t>
            </a:r>
          </a:p>
        </p:txBody>
      </p:sp>
      <p:pic>
        <p:nvPicPr>
          <p:cNvPr id="10242" name="Picture 2" descr="Picture background">
            <a:extLst>
              <a:ext uri="{FF2B5EF4-FFF2-40B4-BE49-F238E27FC236}">
                <a16:creationId xmlns:a16="http://schemas.microsoft.com/office/drawing/2014/main" id="{EAEC589D-1D62-0A2C-CDAC-76D6A7ABEF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106" y="1576765"/>
            <a:ext cx="8347787" cy="5010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3825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контроль (анализ) защищенности персональных данных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0" y="6218685"/>
            <a:ext cx="104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20/29</a:t>
            </a:r>
          </a:p>
        </p:txBody>
      </p:sp>
      <p:pic>
        <p:nvPicPr>
          <p:cNvPr id="11270" name="Picture 6" descr="Picture background">
            <a:extLst>
              <a:ext uri="{FF2B5EF4-FFF2-40B4-BE49-F238E27FC236}">
                <a16:creationId xmlns:a16="http://schemas.microsoft.com/office/drawing/2014/main" id="{01486351-BD11-F437-5F59-5A819F4126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833" y="2193925"/>
            <a:ext cx="7154334" cy="402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5631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обеспечение целостности информационной системы и персональных данных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0" y="6218685"/>
            <a:ext cx="104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21/29</a:t>
            </a:r>
          </a:p>
        </p:txBody>
      </p:sp>
      <p:pic>
        <p:nvPicPr>
          <p:cNvPr id="12290" name="Picture 2" descr="Picture background">
            <a:extLst>
              <a:ext uri="{FF2B5EF4-FFF2-40B4-BE49-F238E27FC236}">
                <a16:creationId xmlns:a16="http://schemas.microsoft.com/office/drawing/2014/main" id="{BA0F4801-7146-FC23-E946-BF9DF4695E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366613"/>
            <a:ext cx="10820400" cy="367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67836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обеспечение доступности персональных данных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1" y="621868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22/29</a:t>
            </a:r>
          </a:p>
        </p:txBody>
      </p:sp>
      <p:pic>
        <p:nvPicPr>
          <p:cNvPr id="13314" name="Picture 2" descr="Picture background">
            <a:extLst>
              <a:ext uri="{FF2B5EF4-FFF2-40B4-BE49-F238E27FC236}">
                <a16:creationId xmlns:a16="http://schemas.microsoft.com/office/drawing/2014/main" id="{7FC31D42-3D51-DB85-6CEC-EFC45514093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5" y="2272506"/>
            <a:ext cx="2686050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888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защита среды виртуализации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0" y="6218685"/>
            <a:ext cx="104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23/29</a:t>
            </a:r>
          </a:p>
        </p:txBody>
      </p:sp>
      <p:pic>
        <p:nvPicPr>
          <p:cNvPr id="14338" name="Picture 2" descr="Picture background">
            <a:extLst>
              <a:ext uri="{FF2B5EF4-FFF2-40B4-BE49-F238E27FC236}">
                <a16:creationId xmlns:a16="http://schemas.microsoft.com/office/drawing/2014/main" id="{915066E0-AA62-97F0-67FC-9A33EA8DEF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0406" y="2193925"/>
            <a:ext cx="6971187" cy="402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696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защита технических средств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0" y="6218685"/>
            <a:ext cx="852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24/29</a:t>
            </a:r>
          </a:p>
        </p:txBody>
      </p:sp>
      <p:pic>
        <p:nvPicPr>
          <p:cNvPr id="15362" name="Picture 2" descr="Picture background">
            <a:extLst>
              <a:ext uri="{FF2B5EF4-FFF2-40B4-BE49-F238E27FC236}">
                <a16:creationId xmlns:a16="http://schemas.microsoft.com/office/drawing/2014/main" id="{BF66EF95-2A67-853F-37F8-FB2D35409E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714" y="1676398"/>
            <a:ext cx="6536572" cy="4923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9024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защита информационной системы, ее средств, систем связи и передачи данных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0" y="6218685"/>
            <a:ext cx="104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25/29</a:t>
            </a:r>
          </a:p>
        </p:txBody>
      </p:sp>
      <p:pic>
        <p:nvPicPr>
          <p:cNvPr id="16386" name="Picture 2" descr="Picture background">
            <a:extLst>
              <a:ext uri="{FF2B5EF4-FFF2-40B4-BE49-F238E27FC236}">
                <a16:creationId xmlns:a16="http://schemas.microsoft.com/office/drawing/2014/main" id="{D1E4E45B-9E7F-AC9F-D400-47072D9026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91" y="2193925"/>
            <a:ext cx="6019617" cy="402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9604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Picture background">
            <a:extLst>
              <a:ext uri="{FF2B5EF4-FFF2-40B4-BE49-F238E27FC236}">
                <a16:creationId xmlns:a16="http://schemas.microsoft.com/office/drawing/2014/main" id="{EA28CD86-5E69-D946-EE23-94B1A8613C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2872" y="447"/>
            <a:ext cx="13063955" cy="685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выявление инцидентов</a:t>
            </a:r>
            <a:br>
              <a:rPr lang="ru-RU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(одного события или группы событий), которые могут привести к сбоям или нарушению </a:t>
            </a:r>
            <a:br>
              <a:rPr lang="ru-RU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функционирования информационной системы и (или) к возникновению угроз безопасности персональных данных (далее - инциденты)</a:t>
            </a:r>
            <a:r>
              <a:rPr lang="ru-RU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br>
              <a:rPr lang="ru-RU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реагирование на них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0" y="6218685"/>
            <a:ext cx="104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26/29</a:t>
            </a:r>
          </a:p>
        </p:txBody>
      </p:sp>
    </p:spTree>
    <p:extLst>
      <p:ext uri="{BB962C8B-B14F-4D97-AF65-F5344CB8AC3E}">
        <p14:creationId xmlns:p14="http://schemas.microsoft.com/office/powerpoint/2010/main" val="42200559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управление конфигурацией информационной системы и системы защиты персональных данных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1" y="6218685"/>
            <a:ext cx="122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27/29</a:t>
            </a:r>
          </a:p>
        </p:txBody>
      </p:sp>
      <p:pic>
        <p:nvPicPr>
          <p:cNvPr id="18434" name="Picture 2" descr="Picture background">
            <a:extLst>
              <a:ext uri="{FF2B5EF4-FFF2-40B4-BE49-F238E27FC236}">
                <a16:creationId xmlns:a16="http://schemas.microsoft.com/office/drawing/2014/main" id="{FC15D625-1E0B-34ED-001B-33ACC9A061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8844" y="2198320"/>
            <a:ext cx="4554311" cy="438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4870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9F07-0BE3-5F5C-CDE8-AE5F2AE3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Оценка ущерба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6EC674-6BD2-DC22-0263-135D64CA7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lang="ru-RU" sz="13900" dirty="0">
                <a:solidFill>
                  <a:srgbClr val="FAFAF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Тут могла быть ваша реклама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57AF6-4968-DBDD-71F4-92458E27CFD5}"/>
              </a:ext>
            </a:extLst>
          </p:cNvPr>
          <p:cNvSpPr txBox="1"/>
          <p:nvPr/>
        </p:nvSpPr>
        <p:spPr>
          <a:xfrm>
            <a:off x="11143281" y="6218685"/>
            <a:ext cx="898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28/29</a:t>
            </a:r>
          </a:p>
        </p:txBody>
      </p:sp>
    </p:spTree>
    <p:extLst>
      <p:ext uri="{BB962C8B-B14F-4D97-AF65-F5344CB8AC3E}">
        <p14:creationId xmlns:p14="http://schemas.microsoft.com/office/powerpoint/2010/main" val="28665994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F57449-0FF9-0ADD-89F1-16E895C36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CBA3C1-DAD7-6721-468D-646D512F3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400" dirty="0"/>
              <a:t>при создании реферата ни один компьютер не пострадал</a:t>
            </a:r>
          </a:p>
        </p:txBody>
      </p:sp>
    </p:spTree>
    <p:extLst>
      <p:ext uri="{BB962C8B-B14F-4D97-AF65-F5344CB8AC3E}">
        <p14:creationId xmlns:p14="http://schemas.microsoft.com/office/powerpoint/2010/main" val="581352034"/>
      </p:ext>
    </p:extLst>
  </p:cSld>
  <p:clrMapOvr>
    <a:masterClrMapping/>
  </p:clrMapOvr>
</p:sld>
</file>

<file path=ppt/theme/theme1.xml><?xml version="1.0" encoding="utf-8"?>
<a:theme xmlns:a="http://schemas.openxmlformats.org/drawingml/2006/main" name="След самолета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ГОСТ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След самолета</Template>
  <TotalTime>177</TotalTime>
  <Words>677</Words>
  <Application>Microsoft Office PowerPoint</Application>
  <PresentationFormat>Широкоэкранный</PresentationFormat>
  <Paragraphs>144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3" baseType="lpstr">
      <vt:lpstr>Arial</vt:lpstr>
      <vt:lpstr>Calibri</vt:lpstr>
      <vt:lpstr>Times New Roman</vt:lpstr>
      <vt:lpstr>След самолета</vt:lpstr>
      <vt:lpstr>Презентация PowerPoint</vt:lpstr>
      <vt:lpstr>Информация ограниченного доступа</vt:lpstr>
      <vt:lpstr>Основные области, в которых есть информация ограниченного доступа</vt:lpstr>
      <vt:lpstr>Тайны, связанные с работой государственного аппарата</vt:lpstr>
      <vt:lpstr>Производственные тайны</vt:lpstr>
      <vt:lpstr>Тайны, связанные с информацией физических лиц</vt:lpstr>
      <vt:lpstr>Тайны, связанные с договорными и денежными отношениями</vt:lpstr>
      <vt:lpstr>Основные области, в которых есть информация ограниченного доступа</vt:lpstr>
      <vt:lpstr>Утечка информации в законодательстве</vt:lpstr>
      <vt:lpstr>УтечкА информации</vt:lpstr>
      <vt:lpstr>Способы защиты информации от утечек</vt:lpstr>
      <vt:lpstr>Меры защиты персональных данных</vt:lpstr>
      <vt:lpstr>идентификация и аутентификация субъектов доступа и объектов доступа</vt:lpstr>
      <vt:lpstr>управление доступом субъектов доступа к объектам доступа</vt:lpstr>
      <vt:lpstr>ограничение программной среды</vt:lpstr>
      <vt:lpstr>защита машинных носителей информации</vt:lpstr>
      <vt:lpstr>регистрация событий безопасности</vt:lpstr>
      <vt:lpstr>антивирусная защита</vt:lpstr>
      <vt:lpstr>обнаружение (предотвращение) вторжений</vt:lpstr>
      <vt:lpstr>контроль (анализ) защищенности персональных данных</vt:lpstr>
      <vt:lpstr>обеспечение целостности информационной системы и персональных данных</vt:lpstr>
      <vt:lpstr>обеспечение доступности персональных данных</vt:lpstr>
      <vt:lpstr>защита среды виртуализации</vt:lpstr>
      <vt:lpstr>защита технических средств</vt:lpstr>
      <vt:lpstr>защита информационной системы, ее средств, систем связи и передачи данных</vt:lpstr>
      <vt:lpstr>выявление инцидентов (одного события или группы событий), которые могут привести к сбоям или нарушению  функционирования информационной системы и (или) к возникновению угроз безопасности персональных данных (далее - инциденты), и реагирование на них</vt:lpstr>
      <vt:lpstr>управление конфигурацией информационной системы и системы защиты персональных данных</vt:lpstr>
      <vt:lpstr>Оценка ущерба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Перьков Алексей Михайлович</dc:creator>
  <cp:lastModifiedBy>Маша Шабалкина</cp:lastModifiedBy>
  <cp:revision>32</cp:revision>
  <dcterms:created xsi:type="dcterms:W3CDTF">2025-04-24T20:38:58Z</dcterms:created>
  <dcterms:modified xsi:type="dcterms:W3CDTF">2025-06-15T23:08:50Z</dcterms:modified>
</cp:coreProperties>
</file>