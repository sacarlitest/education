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rimson Pro Semi Bold" panose="020B0604020202020204" charset="0"/>
      <p:regular r:id="rId17"/>
    </p:embeddedFont>
    <p:embeddedFont>
      <p:font typeface="Heebo" panose="020B0604020202020204" charset="-79"/>
      <p:regular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0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4463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083237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Институт интеллектуальной собственности: Основы и Защита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4241125"/>
            <a:ext cx="7556421" cy="108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Мы рассмотрим ее общие понятия, классификацию, права авторов и правообладателей, а также особенности защиты в различных областях, включая авторское и патентное право, средства индивидуализации и коммерческую тайну. </a:t>
            </a:r>
            <a:endParaRPr lang="en-US" sz="15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F638802-F39D-45E5-B3C1-F9B30F1624E9}"/>
              </a:ext>
            </a:extLst>
          </p:cNvPr>
          <p:cNvSpPr/>
          <p:nvPr/>
        </p:nvSpPr>
        <p:spPr>
          <a:xfrm>
            <a:off x="12707007" y="7546657"/>
            <a:ext cx="1862254" cy="63507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293" y="435412"/>
            <a:ext cx="11930182" cy="494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Классификация Результатов Интеллектуальной Деятельности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33293" y="1246823"/>
            <a:ext cx="13363813" cy="1013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Понятие «интеллектуальная собственность» было впервые официально закреплено в Конвенции ВОИС 1967 года, которая трактует его максимально широко. Включая права на литературные, художественные, научные произведения, изобретения, промышленные образцы, товарные знаки и многое другое. Российское законодательство, в частности Гражданский кодекс РФ (ст. 1225), также определяет интеллектуальную собственность как охраняемые результаты интеллектуальной деятельности и средства индивидуализации.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33293" y="2596634"/>
            <a:ext cx="3066455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Основные Объекты ИС по ГК РФ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33293" y="3002161"/>
            <a:ext cx="6488787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Произведения науки, литературы и искусства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3293" y="3310890"/>
            <a:ext cx="6488787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Программы для ЭВМ и базы данных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3293" y="3619619"/>
            <a:ext cx="6488787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Изобретения, полезные модели, промышленные образцы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3293" y="3928348"/>
            <a:ext cx="6488787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Селекционные достижения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3293" y="4237077"/>
            <a:ext cx="6488787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Топологии интегральных микросхем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3293" y="4545806"/>
            <a:ext cx="6488787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Секреты производства (ноу-хау)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3293" y="4854535"/>
            <a:ext cx="6488787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Фирменные наименования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3293" y="5163264"/>
            <a:ext cx="6488787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Товарные знаки и знаки обслуживания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3293" y="5471993"/>
            <a:ext cx="6488787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Наименования мест происхождения товаров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3293" y="5780723"/>
            <a:ext cx="6488787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Коммерческие обозначения</a:t>
            </a:r>
            <a:endParaRPr lang="en-US" sz="1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939" y="2616518"/>
            <a:ext cx="5986224" cy="4174093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515939" y="6968728"/>
            <a:ext cx="6488787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3293" y="7542609"/>
            <a:ext cx="13363813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Эта классификация помогает структурировать разнообразные формы интеллектуальной деятельности и обеспечивает им адекватную правовую защиту.</a:t>
            </a:r>
            <a:endParaRPr lang="en-US" sz="12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CF0B943-ACCC-4EB0-A01F-746A1968BEFA}"/>
              </a:ext>
            </a:extLst>
          </p:cNvPr>
          <p:cNvSpPr/>
          <p:nvPr/>
        </p:nvSpPr>
        <p:spPr>
          <a:xfrm>
            <a:off x="12707007" y="7546657"/>
            <a:ext cx="1862254" cy="63507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9854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Авторы и правообладатели: имущественные и неимущественные права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76845"/>
            <a:ext cx="130428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Интеллектуальные права на результаты деятельности включают исключительное (имущественное) право, личные неимущественные права (право авторства, право на имя) и иные права (право следования, право доступа). Автором признается гражданин, создавший результат творческим трудом. Личные неимущественные права неотчуждаемы и непередаваемы, охраняются бессрочно.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870246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61438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Автор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5043607"/>
            <a:ext cx="41821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Гражданин, чьим творческим трудом создан результат интеллектуальной деятельности.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986" y="3870246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3986" y="4614386"/>
            <a:ext cx="286297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Исключительное право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223986" y="5043607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Имущественное право, которое первоначально возникает у автора и может быть передано по договору или перейти по закону.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4302" y="3870246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54302" y="4614386"/>
            <a:ext cx="407003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Личные неимущественные права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54302" y="5043607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Право авторства, право на имя и другие, которые неотчуждаемы и охраняются бессрочно.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93790" y="6537008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Исключительное право, как правило, подлежит государственной регистрации, если это предусмотрено законом. Правообладатель может использовать объект ИС по своему усмотрению, разрешать или запрещать его использование, а также распоряжаться им через договоры отчуждения, лицензионные соглашения или залог.</a:t>
            </a:r>
            <a:endParaRPr lang="en-US" sz="15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F2550EA-7295-4E86-A09B-85B85175E905}"/>
              </a:ext>
            </a:extLst>
          </p:cNvPr>
          <p:cNvSpPr/>
          <p:nvPr/>
        </p:nvSpPr>
        <p:spPr>
          <a:xfrm>
            <a:off x="12707007" y="7546657"/>
            <a:ext cx="1862254" cy="63507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87912"/>
            <a:ext cx="1277088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Авторское Право: Защита Творческих Произведений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404824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Авторское право охраняет произведения науки, литературы и искусства, выраженные в объективной форме, такие как романы, музыка, фильмы, картины, а также компьютерные программы и базы данных. Оно возникает в силу самого факта создания произведения и действует в течение всей жизни автора и 70 лет после его смерти.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580686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04" y="3617893"/>
            <a:ext cx="297656" cy="3720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8632" y="36489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Что охраняется?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438632" y="4078129"/>
            <a:ext cx="3537347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Литературные, музыкальные, аудиовизуальные произведения, изобразительное искусство, компьютерные программы, базы данных.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23986" y="3580686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400" y="3617893"/>
            <a:ext cx="297656" cy="37207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68829" y="36489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Что не охраняется?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868829" y="4078129"/>
            <a:ext cx="353746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Официальные документы, государственные символы, произведения народного творчества, сообщения о фактах.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9654302" y="3580686"/>
            <a:ext cx="446484" cy="446484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8716" y="3617893"/>
            <a:ext cx="297656" cy="37207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299144" y="3648908"/>
            <a:ext cx="27995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Нужна ли регистрация?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10299144" y="4078129"/>
            <a:ext cx="353746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Для возникновения и осуществления авторского права не требуется регистрация или иное специальное оформление.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793790" y="5889069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Важно отметить, что охрана распространяется как на полные произведения, так и на их составные части. Субъектами авторского права являются авторы (физические лица), а также их наследники и правопреемники (юридические лица), которым переходят имущественные права.</a:t>
            </a:r>
            <a:endParaRPr lang="en-US" sz="155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A539288-F5DF-43F0-BD2C-5856CE283939}"/>
              </a:ext>
            </a:extLst>
          </p:cNvPr>
          <p:cNvSpPr/>
          <p:nvPr/>
        </p:nvSpPr>
        <p:spPr>
          <a:xfrm>
            <a:off x="12707007" y="7546657"/>
            <a:ext cx="1862254" cy="63507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256" y="491252"/>
            <a:ext cx="13201888" cy="111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Правовой аспект размещения объектов авторского права в сети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4256" y="1964412"/>
            <a:ext cx="13201888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Размещение материалов, защищенных авторским правом, в общедоступной среде без согласия правообладателя является нарушением законодательства. Ответственность несут не только пользователи, но и провайдеры, а также владельцы сайтов, если они способствуют незаконному распространению или не реагируют на требования об удалении.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56" y="3022521"/>
            <a:ext cx="892850" cy="13144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5580" y="3200995"/>
            <a:ext cx="2954060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Обязанности Провайдеров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785580" y="3586996"/>
            <a:ext cx="1213056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Хранение данных о приеме, передаче, обработке электронных сообщений и действиях пользователей (IP-адреса, время входа) с последующей передачей по запросу уполномоченных органов.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56" y="4336971"/>
            <a:ext cx="892850" cy="1314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5580" y="4515445"/>
            <a:ext cx="3413284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Борьба с Пиратским Контентом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785580" y="4901446"/>
            <a:ext cx="1213056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Основные меры включают уведомления о нарушении, добровольное удаление контента, судебные и внесудебные блокировки сайтов через Роскомнадзор, а также автоматические системы обнаружения.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256" y="5651421"/>
            <a:ext cx="892850" cy="1314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85580" y="5829895"/>
            <a:ext cx="2232065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Ответственность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1785580" y="6215896"/>
            <a:ext cx="1213056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Провайдеры и владельцы сайтов несут ответственность за незаконный контент, если они не реагируют на требования правообладателей. Пользователи ответственны за незаконное размещение, скачивание и распространение защищенного контента.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14256" y="7166729"/>
            <a:ext cx="1320188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Закон «Об информации» предусматривает ускоренную процедуру блокировки сайтов с пиратским контентом, подчеркивая важность соблюдения авторских прав в цифровой среде.</a:t>
            </a:r>
            <a:endParaRPr lang="en-US" sz="14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2779468-8A71-4C2D-9DF1-D42A1F75D2FE}"/>
              </a:ext>
            </a:extLst>
          </p:cNvPr>
          <p:cNvSpPr/>
          <p:nvPr/>
        </p:nvSpPr>
        <p:spPr>
          <a:xfrm>
            <a:off x="12707007" y="7546657"/>
            <a:ext cx="1862254" cy="63507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6066"/>
            <a:ext cx="859738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Программы для ЭВМ и базы данных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22978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Авторские права на программы для ЭВМ и базы данных охраняются так же, как произведения литературы. Программа для ЭВМ — это совокупность данных и команд для функционирования компьютера, включая исходный текст и объектный код. База данных — это систематизированная совокупность материалов, которые могут быть найдены и обработаны с помощью ЭВМ.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098840"/>
            <a:ext cx="4215289" cy="3366254"/>
          </a:xfrm>
          <a:prstGeom prst="roundRect">
            <a:avLst>
              <a:gd name="adj" fmla="val 884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992148" y="3297198"/>
            <a:ext cx="31430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Регистрация в Роспатенте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2148" y="3726418"/>
            <a:ext cx="3818573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Хотя регистрация не обязательна для возникновения авторского права, она является дополнительной мерой защиты. Свидетельство о регистрации помогает доказать принадлежность программы определенному лицу и обеспечивает охрану заявленной части исходного кода.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098840"/>
            <a:ext cx="4215408" cy="3366254"/>
          </a:xfrm>
          <a:prstGeom prst="roundRect">
            <a:avLst>
              <a:gd name="adj" fmla="val 884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405795" y="3297198"/>
            <a:ext cx="295132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Права Правообладателя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05795" y="3726418"/>
            <a:ext cx="3818692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Владелец исключительных прав может распространять, воспроизводить, модифицировать программу. Исключительное право действует в течение жизни автора и 70 лет после его смерти.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3098840"/>
            <a:ext cx="4215289" cy="3366254"/>
          </a:xfrm>
          <a:prstGeom prst="roundRect">
            <a:avLst>
              <a:gd name="adj" fmla="val 884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819561" y="3297198"/>
            <a:ext cx="342149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Документы для Регистрации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19561" y="3726418"/>
            <a:ext cx="381857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Требуется заявление, депонируемые материалы (реферат, код), согласие на обработку персональных данных, согласие автора, доверенность представителя и подтверждение уплаты госпошлины (5000 рублей).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668833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Правообладателем может быть как физическое, так и юридическое лицо. Авторами указываются физические лица, внесшие творческий вклад в создание программы.</a:t>
            </a:r>
            <a:endParaRPr lang="en-US" sz="15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202A406-077C-4FF6-B157-8DA4B0DDD293}"/>
              </a:ext>
            </a:extLst>
          </p:cNvPr>
          <p:cNvSpPr/>
          <p:nvPr/>
        </p:nvSpPr>
        <p:spPr>
          <a:xfrm>
            <a:off x="12707007" y="7546657"/>
            <a:ext cx="1862254" cy="63507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1640" y="806053"/>
            <a:ext cx="11214854" cy="579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Процедура регистрации программы в роспатенте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41640" y="1756172"/>
            <a:ext cx="13147119" cy="593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Процесс государственной регистрации программы для ЭВМ или базы данных включает несколько ключевых этапов, каждый из которых имеет свои сроки и результаты. Это обеспечивает правовую охрану объекта интеллектуальной собственности.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303770" y="2557939"/>
            <a:ext cx="22860" cy="4063841"/>
          </a:xfrm>
          <a:prstGeom prst="roundRect">
            <a:avLst>
              <a:gd name="adj" fmla="val 121670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6573203" y="2755106"/>
            <a:ext cx="556260" cy="22860"/>
          </a:xfrm>
          <a:prstGeom prst="roundRect">
            <a:avLst>
              <a:gd name="adj" fmla="val 121670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7106603" y="2557939"/>
            <a:ext cx="417195" cy="417195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135" y="2592705"/>
            <a:ext cx="278130" cy="3476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30748" y="2621637"/>
            <a:ext cx="3257431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Прием и Регистрация Заявки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1640" y="3022521"/>
            <a:ext cx="5646539" cy="593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Максимальный срок: 5 рабочих дней. Результат: прием и регистрация заявки, либо отказ с указанием причины.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7500938" y="3867507"/>
            <a:ext cx="556260" cy="22860"/>
          </a:xfrm>
          <a:prstGeom prst="roundRect">
            <a:avLst>
              <a:gd name="adj" fmla="val 121670"/>
            </a:avLst>
          </a:prstGeom>
          <a:solidFill>
            <a:srgbClr val="D8D4D4"/>
          </a:solidFill>
          <a:ln/>
        </p:spPr>
      </p:sp>
      <p:sp>
        <p:nvSpPr>
          <p:cNvPr id="11" name="Shape 8"/>
          <p:cNvSpPr/>
          <p:nvPr/>
        </p:nvSpPr>
        <p:spPr>
          <a:xfrm>
            <a:off x="7106603" y="3670340"/>
            <a:ext cx="417195" cy="417195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6135" y="3705106"/>
            <a:ext cx="278130" cy="34766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42221" y="3734038"/>
            <a:ext cx="5646539" cy="579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Проверка Уплаты Пошлины и Соответствия Заявки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242221" y="4424601"/>
            <a:ext cx="5646539" cy="118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Максимальный срок: 10 рабочих дней для пошлины, 40 рабочих дней для соответствия требованиям. Результат: решение о признании заявки поданной/неподанной, или положительный/отрицательный результат проверки.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573203" y="5023128"/>
            <a:ext cx="556260" cy="22860"/>
          </a:xfrm>
          <a:prstGeom prst="roundRect">
            <a:avLst>
              <a:gd name="adj" fmla="val 121670"/>
            </a:avLst>
          </a:prstGeom>
          <a:solidFill>
            <a:srgbClr val="D8D4D4"/>
          </a:solidFill>
          <a:ln/>
        </p:spPr>
      </p:sp>
      <p:sp>
        <p:nvSpPr>
          <p:cNvPr id="16" name="Shape 12"/>
          <p:cNvSpPr/>
          <p:nvPr/>
        </p:nvSpPr>
        <p:spPr>
          <a:xfrm>
            <a:off x="7106603" y="4825960"/>
            <a:ext cx="417195" cy="417195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135" y="4860727"/>
            <a:ext cx="278130" cy="34766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95544" y="4889659"/>
            <a:ext cx="4892635" cy="28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Внесение в Реестр и Выдача Свидетельства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741640" y="5290542"/>
            <a:ext cx="5646539" cy="1186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Максимальный срок: 2 рабочих дня для внесения в Реестр, 5 рабочих дней для выдачи свидетельства, 25 рабочих дней для публикации сведений. Результат: официальная регистрация и публикация сведений.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41640" y="6830378"/>
            <a:ext cx="13147119" cy="593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После успешной регистрации программа получает правовую охрану на территории России и во всех странах-участницах Бернской конвенции, а также ряд преимуществ, включая возможность получения дохода от лицензий и постановки программы на баланс компании.</a:t>
            </a:r>
            <a:endParaRPr lang="en-US" sz="145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B78C6D3-9BF7-49CC-8394-C549DE658C53}"/>
              </a:ext>
            </a:extLst>
          </p:cNvPr>
          <p:cNvSpPr/>
          <p:nvPr/>
        </p:nvSpPr>
        <p:spPr>
          <a:xfrm>
            <a:off x="12707007" y="7546657"/>
            <a:ext cx="1862254" cy="63507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990" y="1015127"/>
            <a:ext cx="10006965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Патентное право: защита технических решений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81990" y="1889046"/>
            <a:ext cx="13266420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Патентное право регулирует защиту технических и прикладных решений, обладающих новизной и применимых на практике. Оно охватывает изобретения, полезные модели и промышленные образцы, каждый из которых имеет свои условия патентоспособности и сроки действия исключительных прав.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4053" y="2626400"/>
            <a:ext cx="2188845" cy="12551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78580" y="3266718"/>
            <a:ext cx="239792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63396" y="2796897"/>
            <a:ext cx="2131576" cy="26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Изобретения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263396" y="3165515"/>
            <a:ext cx="8514517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Технические решения, обладающие мировой новизной, изобретательским уровнем и промышленной применимостью (20 лет).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35523" y="3893344"/>
            <a:ext cx="8770263" cy="11430"/>
          </a:xfrm>
          <a:prstGeom prst="roundRect">
            <a:avLst>
              <a:gd name="adj" fmla="val 223789"/>
            </a:avLst>
          </a:prstGeom>
          <a:solidFill>
            <a:srgbClr val="D8D4D4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631" y="3924181"/>
            <a:ext cx="4377809" cy="12551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78580" y="4401860"/>
            <a:ext cx="239792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357938" y="4094678"/>
            <a:ext cx="2131576" cy="26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Полезные Модели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6357938" y="4463296"/>
            <a:ext cx="7419975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Технические решения, относящиеся к устройству, обладающие новизной и промышленной применимостью (10 лет).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30064" y="5191125"/>
            <a:ext cx="7675721" cy="11430"/>
          </a:xfrm>
          <a:prstGeom prst="roundRect">
            <a:avLst>
              <a:gd name="adj" fmla="val 223789"/>
            </a:avLst>
          </a:prstGeom>
          <a:solidFill>
            <a:srgbClr val="D8D4D4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89" y="5221962"/>
            <a:ext cx="6566773" cy="125515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78461" y="5699641"/>
            <a:ext cx="239792" cy="299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7452360" y="5392460"/>
            <a:ext cx="2700218" cy="266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Промышленные Образцы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7452360" y="5761077"/>
            <a:ext cx="6325553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Художественно-конструкторские решения внешнего вида изделия, обладающие новизной и оригинальностью (5 лет, с продлением до 25 лет).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81990" y="6668929"/>
            <a:ext cx="13266420" cy="545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Патентообладателем может быть автор или юридическое лицо, к которому исключительное право перешло по договору. Процесс патентования включает подачу заявки, формальную экспертизу, экспертизу по существу и выдачу патента.</a:t>
            </a:r>
            <a:endParaRPr lang="en-US" sz="130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D7047EA-9FCD-46E4-999F-C6901E89F512}"/>
              </a:ext>
            </a:extLst>
          </p:cNvPr>
          <p:cNvSpPr/>
          <p:nvPr/>
        </p:nvSpPr>
        <p:spPr>
          <a:xfrm>
            <a:off x="12707007" y="7546657"/>
            <a:ext cx="1862254" cy="63507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5810"/>
            <a:ext cx="931390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Средства индивидуализации на рынке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82723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Средства индивидуализации — это объекты, позволяющие отличать товары, услуги и их производителей друг от друга. Их основная функция — информирование потребителей о происхождении продукции и защита деловой репутации предприятий. К ним относятся товарные знаки, знаки обслуживания, фирменные наименования, коммерческие обозначения и географические указания.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057763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5150" dirty="0"/>
          </a:p>
        </p:txBody>
      </p:sp>
      <p:sp>
        <p:nvSpPr>
          <p:cNvPr id="5" name="Text 3"/>
          <p:cNvSpPr/>
          <p:nvPr/>
        </p:nvSpPr>
        <p:spPr>
          <a:xfrm>
            <a:off x="1090613" y="39607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Товарный Знак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4389953"/>
            <a:ext cx="307467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Слово, логотип, слоган для маркировки товаров. Регистрируется, дает исключительное право на использование и запрет.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116467" y="3057763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5150" dirty="0"/>
          </a:p>
        </p:txBody>
      </p:sp>
      <p:sp>
        <p:nvSpPr>
          <p:cNvPr id="8" name="Text 6"/>
          <p:cNvSpPr/>
          <p:nvPr/>
        </p:nvSpPr>
        <p:spPr>
          <a:xfrm>
            <a:off x="4413290" y="39607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Знак Обслуживания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116467" y="4389953"/>
            <a:ext cx="307467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Аналог товарного знака, но для услуг.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439144" y="3057763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5150" dirty="0"/>
          </a:p>
        </p:txBody>
      </p:sp>
      <p:sp>
        <p:nvSpPr>
          <p:cNvPr id="11" name="Text 9"/>
          <p:cNvSpPr/>
          <p:nvPr/>
        </p:nvSpPr>
        <p:spPr>
          <a:xfrm>
            <a:off x="7439144" y="3960733"/>
            <a:ext cx="3074670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Фирменное Наименование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439144" y="4700111"/>
            <a:ext cx="307467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Официальное название компании, регистрируется в ЕГРЮЛ.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761821" y="3057763"/>
            <a:ext cx="30747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5150" dirty="0"/>
          </a:p>
        </p:txBody>
      </p:sp>
      <p:sp>
        <p:nvSpPr>
          <p:cNvPr id="14" name="Text 12"/>
          <p:cNvSpPr/>
          <p:nvPr/>
        </p:nvSpPr>
        <p:spPr>
          <a:xfrm>
            <a:off x="10761821" y="3960733"/>
            <a:ext cx="307478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Коммерческое Обозначение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761821" y="4700111"/>
            <a:ext cx="307478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Неформальное имя, логотип или слоган для индивидуализации предприятия, не всегда требует регистрации.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3790" y="6511052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Особый статус имеет коммерческая тайна (ноу-хау), представляющая собой совокупность секретной информации с коммерческой ценностью. Она не требует регистрации и охраняется до тех пор, пока информация не станет общедоступной, при условии соблюдения режима конфиденциальности.</a:t>
            </a:r>
            <a:endParaRPr lang="en-US" sz="155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3B12AF2-5DAA-4CBA-917F-68D486AF1398}"/>
              </a:ext>
            </a:extLst>
          </p:cNvPr>
          <p:cNvSpPr/>
          <p:nvPr/>
        </p:nvSpPr>
        <p:spPr>
          <a:xfrm>
            <a:off x="12707007" y="7546657"/>
            <a:ext cx="1862254" cy="63507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3433"/>
            <a:ext cx="776406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Домен и сайт как объекты права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10345"/>
            <a:ext cx="130428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Доменное имя само по себе не является объектом интеллектуальных прав по ГК РФ. Однако сайт может быть защищен авторским правом на его контент, дизайн и код. Правовой статус домена регулируется Федеральным законом «Об информации» и соглашениями, но защита домена чаще всего осуществляется через нормы об интеллектуальных правах, если он копирует товарный знак или другие зарегистрированные обозначения.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3432453"/>
            <a:ext cx="4236720" cy="238160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840" y="3432453"/>
            <a:ext cx="4236720" cy="2381607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270" y="3432453"/>
            <a:ext cx="4236720" cy="238160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93790" y="6166009"/>
            <a:ext cx="130428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Судебные споры за доменные имена часто связаны с нарушением прав на товарные знаки. Суды ориентируются на контент сайта, а не только на доменное имя. Для защиты прав на домен рекомендуется регистрировать его во всех свободных доменных зонах и проверять на совпадение с зарегистрированными товарными знаками. В случае недобросовестного использования можно взыскать компенсацию.</a:t>
            </a:r>
            <a:endParaRPr lang="en-US" sz="155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59455C-F490-431E-91E9-130C91979AD9}"/>
              </a:ext>
            </a:extLst>
          </p:cNvPr>
          <p:cNvSpPr/>
          <p:nvPr/>
        </p:nvSpPr>
        <p:spPr>
          <a:xfrm>
            <a:off x="12707007" y="7546657"/>
            <a:ext cx="1862254" cy="63507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1433</Words>
  <Application>Microsoft Office PowerPoint</Application>
  <PresentationFormat>Произвольный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Heebo</vt:lpstr>
      <vt:lpstr>Crimson Pro Semi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Маша Шабалкина</cp:lastModifiedBy>
  <cp:revision>3</cp:revision>
  <dcterms:created xsi:type="dcterms:W3CDTF">2025-06-15T20:10:40Z</dcterms:created>
  <dcterms:modified xsi:type="dcterms:W3CDTF">2025-06-15T20:13:47Z</dcterms:modified>
</cp:coreProperties>
</file>