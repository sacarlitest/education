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8"/>
  </p:notesMasterIdLst>
  <p:sldIdLst>
    <p:sldId id="257" r:id="rId2"/>
    <p:sldId id="258" r:id="rId3"/>
    <p:sldId id="259" r:id="rId4"/>
    <p:sldId id="260" r:id="rId5"/>
    <p:sldId id="265" r:id="rId6"/>
    <p:sldId id="262" r:id="rId7"/>
    <p:sldId id="266" r:id="rId8"/>
    <p:sldId id="267" r:id="rId9"/>
    <p:sldId id="268" r:id="rId10"/>
    <p:sldId id="270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63" r:id="rId20"/>
    <p:sldId id="264" r:id="rId21"/>
    <p:sldId id="278" r:id="rId22"/>
    <p:sldId id="280" r:id="rId23"/>
    <p:sldId id="279" r:id="rId24"/>
    <p:sldId id="281" r:id="rId25"/>
    <p:sldId id="283" r:id="rId26"/>
    <p:sldId id="28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36CC5C-699A-4850-9517-A0794B92391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E32CDE43-A636-49A3-9258-30530FE5A5D9}">
      <dgm:prSet/>
      <dgm:spPr/>
      <dgm:t>
        <a:bodyPr/>
        <a:lstStyle/>
        <a:p>
          <a:r>
            <a:rPr lang="ru-RU" b="1" dirty="0"/>
            <a:t>Контекстная реклама</a:t>
          </a:r>
          <a:endParaRPr lang="ru-RU" dirty="0"/>
        </a:p>
      </dgm:t>
    </dgm:pt>
    <dgm:pt modelId="{972D5028-4C9F-4400-BDCD-F80BF60EE3EB}" type="parTrans" cxnId="{49D52FC0-2575-4DD0-8F52-50962B26647E}">
      <dgm:prSet/>
      <dgm:spPr/>
      <dgm:t>
        <a:bodyPr/>
        <a:lstStyle/>
        <a:p>
          <a:endParaRPr lang="ru-RU"/>
        </a:p>
      </dgm:t>
    </dgm:pt>
    <dgm:pt modelId="{253417E3-66CA-4C87-AD49-DC8437243B50}" type="sibTrans" cxnId="{49D52FC0-2575-4DD0-8F52-50962B26647E}">
      <dgm:prSet/>
      <dgm:spPr/>
      <dgm:t>
        <a:bodyPr/>
        <a:lstStyle/>
        <a:p>
          <a:endParaRPr lang="ru-RU"/>
        </a:p>
      </dgm:t>
    </dgm:pt>
    <dgm:pt modelId="{E9A2E1AC-A6D8-46B8-8725-C7969A827E4D}">
      <dgm:prSet/>
      <dgm:spPr/>
      <dgm:t>
        <a:bodyPr/>
        <a:lstStyle/>
        <a:p>
          <a:r>
            <a:rPr lang="ru-RU" dirty="0"/>
            <a:t>объявления, отображающиеся в поисковых системах и на сайтах, в зависимости от введённого запроса или содержимого страницы (например, реклама на Google или Яндексе).</a:t>
          </a:r>
        </a:p>
      </dgm:t>
    </dgm:pt>
    <dgm:pt modelId="{619C1BD5-25BB-4629-8A37-2EE1D601380A}" type="parTrans" cxnId="{8DAECC3D-8A57-4933-84CB-28D9A62CD2AC}">
      <dgm:prSet/>
      <dgm:spPr/>
      <dgm:t>
        <a:bodyPr/>
        <a:lstStyle/>
        <a:p>
          <a:endParaRPr lang="ru-RU"/>
        </a:p>
      </dgm:t>
    </dgm:pt>
    <dgm:pt modelId="{D4B76AE9-EF11-476E-ADB3-A862915CF7D8}" type="sibTrans" cxnId="{8DAECC3D-8A57-4933-84CB-28D9A62CD2AC}">
      <dgm:prSet/>
      <dgm:spPr/>
      <dgm:t>
        <a:bodyPr/>
        <a:lstStyle/>
        <a:p>
          <a:endParaRPr lang="ru-RU"/>
        </a:p>
      </dgm:t>
    </dgm:pt>
    <dgm:pt modelId="{5E33B7B6-A436-48DE-8E1D-59175D8FD9A8}">
      <dgm:prSet/>
      <dgm:spPr/>
      <dgm:t>
        <a:bodyPr/>
        <a:lstStyle/>
        <a:p>
          <a:r>
            <a:rPr lang="ru-RU" b="1"/>
            <a:t>Таргетированная реклама</a:t>
          </a:r>
          <a:r>
            <a:rPr lang="ru-RU"/>
            <a:t> </a:t>
          </a:r>
        </a:p>
      </dgm:t>
    </dgm:pt>
    <dgm:pt modelId="{74C73346-22EC-4D81-909E-06EFDF66C888}" type="parTrans" cxnId="{2FEEE7D8-CE41-46EF-B2F3-FB320BBAA2A7}">
      <dgm:prSet/>
      <dgm:spPr/>
      <dgm:t>
        <a:bodyPr/>
        <a:lstStyle/>
        <a:p>
          <a:endParaRPr lang="ru-RU"/>
        </a:p>
      </dgm:t>
    </dgm:pt>
    <dgm:pt modelId="{D878303A-8683-451B-9F4F-5BA5A9E804BA}" type="sibTrans" cxnId="{2FEEE7D8-CE41-46EF-B2F3-FB320BBAA2A7}">
      <dgm:prSet/>
      <dgm:spPr/>
      <dgm:t>
        <a:bodyPr/>
        <a:lstStyle/>
        <a:p>
          <a:endParaRPr lang="ru-RU"/>
        </a:p>
      </dgm:t>
    </dgm:pt>
    <dgm:pt modelId="{73C06220-32A4-4AA5-8D1A-B15465127A3C}">
      <dgm:prSet/>
      <dgm:spPr/>
      <dgm:t>
        <a:bodyPr/>
        <a:lstStyle/>
        <a:p>
          <a:r>
            <a:rPr lang="ru-RU" dirty="0"/>
            <a:t>реклама, которая подбирается с учётом демографических, поведенческих и других данных пользователя (например, пол, возраст, интересы, история посещений сайтов).</a:t>
          </a:r>
        </a:p>
      </dgm:t>
    </dgm:pt>
    <dgm:pt modelId="{C67E74F3-CF29-440E-B7A1-4DF3F0B639A1}" type="parTrans" cxnId="{6E2B1F02-47FC-4E1A-B232-34205FCDA971}">
      <dgm:prSet/>
      <dgm:spPr/>
      <dgm:t>
        <a:bodyPr/>
        <a:lstStyle/>
        <a:p>
          <a:endParaRPr lang="ru-RU"/>
        </a:p>
      </dgm:t>
    </dgm:pt>
    <dgm:pt modelId="{C7875777-159B-4E8A-8330-DF24AEE88EB8}" type="sibTrans" cxnId="{6E2B1F02-47FC-4E1A-B232-34205FCDA971}">
      <dgm:prSet/>
      <dgm:spPr/>
      <dgm:t>
        <a:bodyPr/>
        <a:lstStyle/>
        <a:p>
          <a:endParaRPr lang="ru-RU"/>
        </a:p>
      </dgm:t>
    </dgm:pt>
    <dgm:pt modelId="{A3862D15-9C60-4502-BAD1-B3DB2D9101D1}">
      <dgm:prSet/>
      <dgm:spPr/>
      <dgm:t>
        <a:bodyPr/>
        <a:lstStyle/>
        <a:p>
          <a:r>
            <a:rPr lang="ru-RU" b="1"/>
            <a:t>Баннерная реклама</a:t>
          </a:r>
          <a:r>
            <a:rPr lang="ru-RU"/>
            <a:t> </a:t>
          </a:r>
        </a:p>
      </dgm:t>
    </dgm:pt>
    <dgm:pt modelId="{9973CA8E-DB3F-41D9-B6A7-CC3F94356BFF}" type="parTrans" cxnId="{C9024996-FD1A-42AD-94B4-5B01D9187808}">
      <dgm:prSet/>
      <dgm:spPr/>
      <dgm:t>
        <a:bodyPr/>
        <a:lstStyle/>
        <a:p>
          <a:endParaRPr lang="ru-RU"/>
        </a:p>
      </dgm:t>
    </dgm:pt>
    <dgm:pt modelId="{E5FDD0F9-4580-42BF-BF0B-9925D15CB409}" type="sibTrans" cxnId="{C9024996-FD1A-42AD-94B4-5B01D9187808}">
      <dgm:prSet/>
      <dgm:spPr/>
      <dgm:t>
        <a:bodyPr/>
        <a:lstStyle/>
        <a:p>
          <a:endParaRPr lang="ru-RU"/>
        </a:p>
      </dgm:t>
    </dgm:pt>
    <dgm:pt modelId="{3E69E160-B864-4AA3-9637-10476083759C}">
      <dgm:prSet/>
      <dgm:spPr/>
      <dgm:t>
        <a:bodyPr/>
        <a:lstStyle/>
        <a:p>
          <a:r>
            <a:rPr lang="ru-RU"/>
            <a:t>графические или анимированные объявления, размещаемые на различных веб-ресурсах.</a:t>
          </a:r>
        </a:p>
      </dgm:t>
    </dgm:pt>
    <dgm:pt modelId="{6F0FC9B7-BB25-43A2-B46F-B772630022F8}" type="parTrans" cxnId="{39D29CEC-D0F5-4296-B9B7-C7491B559C2F}">
      <dgm:prSet/>
      <dgm:spPr/>
      <dgm:t>
        <a:bodyPr/>
        <a:lstStyle/>
        <a:p>
          <a:endParaRPr lang="ru-RU"/>
        </a:p>
      </dgm:t>
    </dgm:pt>
    <dgm:pt modelId="{ECA94E15-78A2-4365-8770-26843DEE1542}" type="sibTrans" cxnId="{39D29CEC-D0F5-4296-B9B7-C7491B559C2F}">
      <dgm:prSet/>
      <dgm:spPr/>
      <dgm:t>
        <a:bodyPr/>
        <a:lstStyle/>
        <a:p>
          <a:endParaRPr lang="ru-RU"/>
        </a:p>
      </dgm:t>
    </dgm:pt>
    <dgm:pt modelId="{46F6D359-8291-4C5F-BE3D-26C5880733FD}" type="pres">
      <dgm:prSet presAssocID="{AF36CC5C-699A-4850-9517-A0794B923910}" presName="Name0" presStyleCnt="0">
        <dgm:presLayoutVars>
          <dgm:dir/>
          <dgm:animLvl val="lvl"/>
          <dgm:resizeHandles val="exact"/>
        </dgm:presLayoutVars>
      </dgm:prSet>
      <dgm:spPr/>
    </dgm:pt>
    <dgm:pt modelId="{62608878-2D92-4BA4-96C7-055E1EC97254}" type="pres">
      <dgm:prSet presAssocID="{E32CDE43-A636-49A3-9258-30530FE5A5D9}" presName="linNode" presStyleCnt="0"/>
      <dgm:spPr/>
    </dgm:pt>
    <dgm:pt modelId="{0B09929A-5C2E-4895-8A36-3FA515B9BFBA}" type="pres">
      <dgm:prSet presAssocID="{E32CDE43-A636-49A3-9258-30530FE5A5D9}" presName="parentText" presStyleLbl="node1" presStyleIdx="0" presStyleCnt="3" custScaleX="73176">
        <dgm:presLayoutVars>
          <dgm:chMax val="1"/>
          <dgm:bulletEnabled val="1"/>
        </dgm:presLayoutVars>
      </dgm:prSet>
      <dgm:spPr/>
    </dgm:pt>
    <dgm:pt modelId="{603A8A8E-B9EC-4002-87B3-72DD98880A10}" type="pres">
      <dgm:prSet presAssocID="{E32CDE43-A636-49A3-9258-30530FE5A5D9}" presName="descendantText" presStyleLbl="alignAccFollowNode1" presStyleIdx="0" presStyleCnt="3">
        <dgm:presLayoutVars>
          <dgm:bulletEnabled val="1"/>
        </dgm:presLayoutVars>
      </dgm:prSet>
      <dgm:spPr/>
    </dgm:pt>
    <dgm:pt modelId="{397B4999-EF2B-47C0-B809-E156553ADE58}" type="pres">
      <dgm:prSet presAssocID="{253417E3-66CA-4C87-AD49-DC8437243B50}" presName="sp" presStyleCnt="0"/>
      <dgm:spPr/>
    </dgm:pt>
    <dgm:pt modelId="{E0A7C48D-5E04-4609-B1FB-90720B37C7E1}" type="pres">
      <dgm:prSet presAssocID="{5E33B7B6-A436-48DE-8E1D-59175D8FD9A8}" presName="linNode" presStyleCnt="0"/>
      <dgm:spPr/>
    </dgm:pt>
    <dgm:pt modelId="{64909786-ED81-4593-8B32-A6F42E2B8FFF}" type="pres">
      <dgm:prSet presAssocID="{5E33B7B6-A436-48DE-8E1D-59175D8FD9A8}" presName="parentText" presStyleLbl="node1" presStyleIdx="1" presStyleCnt="3" custScaleX="72468">
        <dgm:presLayoutVars>
          <dgm:chMax val="1"/>
          <dgm:bulletEnabled val="1"/>
        </dgm:presLayoutVars>
      </dgm:prSet>
      <dgm:spPr/>
    </dgm:pt>
    <dgm:pt modelId="{3138DD49-9CE9-40B4-8888-935DCB7EC4C5}" type="pres">
      <dgm:prSet presAssocID="{5E33B7B6-A436-48DE-8E1D-59175D8FD9A8}" presName="descendantText" presStyleLbl="alignAccFollowNode1" presStyleIdx="1" presStyleCnt="3">
        <dgm:presLayoutVars>
          <dgm:bulletEnabled val="1"/>
        </dgm:presLayoutVars>
      </dgm:prSet>
      <dgm:spPr/>
    </dgm:pt>
    <dgm:pt modelId="{2D0A86C2-336C-4004-9658-343D8A3E85EF}" type="pres">
      <dgm:prSet presAssocID="{D878303A-8683-451B-9F4F-5BA5A9E804BA}" presName="sp" presStyleCnt="0"/>
      <dgm:spPr/>
    </dgm:pt>
    <dgm:pt modelId="{99374A77-BDC8-47C3-90D3-C6C7BB4B8793}" type="pres">
      <dgm:prSet presAssocID="{A3862D15-9C60-4502-BAD1-B3DB2D9101D1}" presName="linNode" presStyleCnt="0"/>
      <dgm:spPr/>
    </dgm:pt>
    <dgm:pt modelId="{482BC022-0EF8-4151-B72A-DA82AD3F54A2}" type="pres">
      <dgm:prSet presAssocID="{A3862D15-9C60-4502-BAD1-B3DB2D9101D1}" presName="parentText" presStyleLbl="node1" presStyleIdx="2" presStyleCnt="3" custScaleX="74592">
        <dgm:presLayoutVars>
          <dgm:chMax val="1"/>
          <dgm:bulletEnabled val="1"/>
        </dgm:presLayoutVars>
      </dgm:prSet>
      <dgm:spPr/>
    </dgm:pt>
    <dgm:pt modelId="{3F7599A8-A1DB-428B-A94F-A8139A85C0D8}" type="pres">
      <dgm:prSet presAssocID="{A3862D15-9C60-4502-BAD1-B3DB2D9101D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6E2B1F02-47FC-4E1A-B232-34205FCDA971}" srcId="{5E33B7B6-A436-48DE-8E1D-59175D8FD9A8}" destId="{73C06220-32A4-4AA5-8D1A-B15465127A3C}" srcOrd="0" destOrd="0" parTransId="{C67E74F3-CF29-440E-B7A1-4DF3F0B639A1}" sibTransId="{C7875777-159B-4E8A-8330-DF24AEE88EB8}"/>
    <dgm:cxn modelId="{4BCA910F-E84B-4011-81B8-966089143858}" type="presOf" srcId="{E32CDE43-A636-49A3-9258-30530FE5A5D9}" destId="{0B09929A-5C2E-4895-8A36-3FA515B9BFBA}" srcOrd="0" destOrd="0" presId="urn:microsoft.com/office/officeart/2005/8/layout/vList5"/>
    <dgm:cxn modelId="{8DAECC3D-8A57-4933-84CB-28D9A62CD2AC}" srcId="{E32CDE43-A636-49A3-9258-30530FE5A5D9}" destId="{E9A2E1AC-A6D8-46B8-8725-C7969A827E4D}" srcOrd="0" destOrd="0" parTransId="{619C1BD5-25BB-4629-8A37-2EE1D601380A}" sibTransId="{D4B76AE9-EF11-476E-ADB3-A862915CF7D8}"/>
    <dgm:cxn modelId="{8146706A-C4F1-49A4-BBEE-3E9ED9D861FB}" type="presOf" srcId="{3E69E160-B864-4AA3-9637-10476083759C}" destId="{3F7599A8-A1DB-428B-A94F-A8139A85C0D8}" srcOrd="0" destOrd="0" presId="urn:microsoft.com/office/officeart/2005/8/layout/vList5"/>
    <dgm:cxn modelId="{4982F950-3BBC-4C15-9D5C-199E2AB437D6}" type="presOf" srcId="{E9A2E1AC-A6D8-46B8-8725-C7969A827E4D}" destId="{603A8A8E-B9EC-4002-87B3-72DD98880A10}" srcOrd="0" destOrd="0" presId="urn:microsoft.com/office/officeart/2005/8/layout/vList5"/>
    <dgm:cxn modelId="{977EF685-36D7-4A55-A7A0-4F36DF951DFF}" type="presOf" srcId="{5E33B7B6-A436-48DE-8E1D-59175D8FD9A8}" destId="{64909786-ED81-4593-8B32-A6F42E2B8FFF}" srcOrd="0" destOrd="0" presId="urn:microsoft.com/office/officeart/2005/8/layout/vList5"/>
    <dgm:cxn modelId="{AB9FF794-CB69-46FF-979E-148646E7F1DC}" type="presOf" srcId="{A3862D15-9C60-4502-BAD1-B3DB2D9101D1}" destId="{482BC022-0EF8-4151-B72A-DA82AD3F54A2}" srcOrd="0" destOrd="0" presId="urn:microsoft.com/office/officeart/2005/8/layout/vList5"/>
    <dgm:cxn modelId="{C9024996-FD1A-42AD-94B4-5B01D9187808}" srcId="{AF36CC5C-699A-4850-9517-A0794B923910}" destId="{A3862D15-9C60-4502-BAD1-B3DB2D9101D1}" srcOrd="2" destOrd="0" parTransId="{9973CA8E-DB3F-41D9-B6A7-CC3F94356BFF}" sibTransId="{E5FDD0F9-4580-42BF-BF0B-9925D15CB409}"/>
    <dgm:cxn modelId="{8707A0BB-7C76-4532-B883-2000641CB711}" type="presOf" srcId="{73C06220-32A4-4AA5-8D1A-B15465127A3C}" destId="{3138DD49-9CE9-40B4-8888-935DCB7EC4C5}" srcOrd="0" destOrd="0" presId="urn:microsoft.com/office/officeart/2005/8/layout/vList5"/>
    <dgm:cxn modelId="{49D52FC0-2575-4DD0-8F52-50962B26647E}" srcId="{AF36CC5C-699A-4850-9517-A0794B923910}" destId="{E32CDE43-A636-49A3-9258-30530FE5A5D9}" srcOrd="0" destOrd="0" parTransId="{972D5028-4C9F-4400-BDCD-F80BF60EE3EB}" sibTransId="{253417E3-66CA-4C87-AD49-DC8437243B50}"/>
    <dgm:cxn modelId="{5C66F3CF-03B2-4799-9CD6-76F8F9F2852C}" type="presOf" srcId="{AF36CC5C-699A-4850-9517-A0794B923910}" destId="{46F6D359-8291-4C5F-BE3D-26C5880733FD}" srcOrd="0" destOrd="0" presId="urn:microsoft.com/office/officeart/2005/8/layout/vList5"/>
    <dgm:cxn modelId="{2FEEE7D8-CE41-46EF-B2F3-FB320BBAA2A7}" srcId="{AF36CC5C-699A-4850-9517-A0794B923910}" destId="{5E33B7B6-A436-48DE-8E1D-59175D8FD9A8}" srcOrd="1" destOrd="0" parTransId="{74C73346-22EC-4D81-909E-06EFDF66C888}" sibTransId="{D878303A-8683-451B-9F4F-5BA5A9E804BA}"/>
    <dgm:cxn modelId="{39D29CEC-D0F5-4296-B9B7-C7491B559C2F}" srcId="{A3862D15-9C60-4502-BAD1-B3DB2D9101D1}" destId="{3E69E160-B864-4AA3-9637-10476083759C}" srcOrd="0" destOrd="0" parTransId="{6F0FC9B7-BB25-43A2-B46F-B772630022F8}" sibTransId="{ECA94E15-78A2-4365-8770-26843DEE1542}"/>
    <dgm:cxn modelId="{D2007F82-414F-44F6-A4A6-54CA31DC1236}" type="presParOf" srcId="{46F6D359-8291-4C5F-BE3D-26C5880733FD}" destId="{62608878-2D92-4BA4-96C7-055E1EC97254}" srcOrd="0" destOrd="0" presId="urn:microsoft.com/office/officeart/2005/8/layout/vList5"/>
    <dgm:cxn modelId="{B2B3B1C3-1911-41AF-8EF6-2469A1422BC5}" type="presParOf" srcId="{62608878-2D92-4BA4-96C7-055E1EC97254}" destId="{0B09929A-5C2E-4895-8A36-3FA515B9BFBA}" srcOrd="0" destOrd="0" presId="urn:microsoft.com/office/officeart/2005/8/layout/vList5"/>
    <dgm:cxn modelId="{74659E40-1B87-41C1-A208-AC519A910434}" type="presParOf" srcId="{62608878-2D92-4BA4-96C7-055E1EC97254}" destId="{603A8A8E-B9EC-4002-87B3-72DD98880A10}" srcOrd="1" destOrd="0" presId="urn:microsoft.com/office/officeart/2005/8/layout/vList5"/>
    <dgm:cxn modelId="{8F3794BC-C27B-4D70-B493-2217A46FB7D7}" type="presParOf" srcId="{46F6D359-8291-4C5F-BE3D-26C5880733FD}" destId="{397B4999-EF2B-47C0-B809-E156553ADE58}" srcOrd="1" destOrd="0" presId="urn:microsoft.com/office/officeart/2005/8/layout/vList5"/>
    <dgm:cxn modelId="{017E3857-C6DB-4E43-9ACB-47ABE51A97A6}" type="presParOf" srcId="{46F6D359-8291-4C5F-BE3D-26C5880733FD}" destId="{E0A7C48D-5E04-4609-B1FB-90720B37C7E1}" srcOrd="2" destOrd="0" presId="urn:microsoft.com/office/officeart/2005/8/layout/vList5"/>
    <dgm:cxn modelId="{39C36832-6226-47B3-98A3-EE4BF1DFC070}" type="presParOf" srcId="{E0A7C48D-5E04-4609-B1FB-90720B37C7E1}" destId="{64909786-ED81-4593-8B32-A6F42E2B8FFF}" srcOrd="0" destOrd="0" presId="urn:microsoft.com/office/officeart/2005/8/layout/vList5"/>
    <dgm:cxn modelId="{B069CF3A-8C29-44E0-B42D-E61CC9C08A5F}" type="presParOf" srcId="{E0A7C48D-5E04-4609-B1FB-90720B37C7E1}" destId="{3138DD49-9CE9-40B4-8888-935DCB7EC4C5}" srcOrd="1" destOrd="0" presId="urn:microsoft.com/office/officeart/2005/8/layout/vList5"/>
    <dgm:cxn modelId="{AB854749-893E-4105-B064-DD188DA5E9B3}" type="presParOf" srcId="{46F6D359-8291-4C5F-BE3D-26C5880733FD}" destId="{2D0A86C2-336C-4004-9658-343D8A3E85EF}" srcOrd="3" destOrd="0" presId="urn:microsoft.com/office/officeart/2005/8/layout/vList5"/>
    <dgm:cxn modelId="{308962C3-1320-41B6-A5AA-E0334F08A3EE}" type="presParOf" srcId="{46F6D359-8291-4C5F-BE3D-26C5880733FD}" destId="{99374A77-BDC8-47C3-90D3-C6C7BB4B8793}" srcOrd="4" destOrd="0" presId="urn:microsoft.com/office/officeart/2005/8/layout/vList5"/>
    <dgm:cxn modelId="{11E9E205-0F54-4E12-90F6-9773E74F3EBC}" type="presParOf" srcId="{99374A77-BDC8-47C3-90D3-C6C7BB4B8793}" destId="{482BC022-0EF8-4151-B72A-DA82AD3F54A2}" srcOrd="0" destOrd="0" presId="urn:microsoft.com/office/officeart/2005/8/layout/vList5"/>
    <dgm:cxn modelId="{83BC16EF-9A35-4EBF-939C-029EC468E0AD}" type="presParOf" srcId="{99374A77-BDC8-47C3-90D3-C6C7BB4B8793}" destId="{3F7599A8-A1DB-428B-A94F-A8139A85C0D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352CD4-AA40-417C-9588-C7B5AFAEDD28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6989DCB0-910A-47CB-82B9-FC262B175A59}">
      <dgm:prSet/>
      <dgm:spPr/>
      <dgm:t>
        <a:bodyPr/>
        <a:lstStyle/>
        <a:p>
          <a:r>
            <a:rPr lang="ru-RU" b="1"/>
            <a:t>Видеореклама</a:t>
          </a:r>
          <a:endParaRPr lang="ru-RU"/>
        </a:p>
      </dgm:t>
    </dgm:pt>
    <dgm:pt modelId="{76B174EF-2DA9-4976-AE3A-CB1ED847366A}" type="parTrans" cxnId="{35B53FD2-02AB-457F-A395-47C5B2678790}">
      <dgm:prSet/>
      <dgm:spPr/>
      <dgm:t>
        <a:bodyPr/>
        <a:lstStyle/>
        <a:p>
          <a:endParaRPr lang="ru-RU"/>
        </a:p>
      </dgm:t>
    </dgm:pt>
    <dgm:pt modelId="{A0A00F3E-F06E-46E1-97C0-C46D7DE9CB18}" type="sibTrans" cxnId="{35B53FD2-02AB-457F-A395-47C5B2678790}">
      <dgm:prSet/>
      <dgm:spPr/>
      <dgm:t>
        <a:bodyPr/>
        <a:lstStyle/>
        <a:p>
          <a:endParaRPr lang="ru-RU"/>
        </a:p>
      </dgm:t>
    </dgm:pt>
    <dgm:pt modelId="{79B2520C-14B8-444E-B0BA-99D08047B6E2}">
      <dgm:prSet custT="1"/>
      <dgm:spPr/>
      <dgm:t>
        <a:bodyPr/>
        <a:lstStyle/>
        <a:p>
          <a:r>
            <a:rPr lang="ru-RU" sz="1400" dirty="0"/>
            <a:t>ролики, которые встраиваются в контент видеохостингов (например, YouTube).</a:t>
          </a:r>
        </a:p>
      </dgm:t>
    </dgm:pt>
    <dgm:pt modelId="{B4231FE6-104D-4AA8-A951-3A897C4FA3C1}" type="parTrans" cxnId="{A9E3715C-A274-4158-9A54-FFA528DB8455}">
      <dgm:prSet/>
      <dgm:spPr/>
      <dgm:t>
        <a:bodyPr/>
        <a:lstStyle/>
        <a:p>
          <a:endParaRPr lang="ru-RU"/>
        </a:p>
      </dgm:t>
    </dgm:pt>
    <dgm:pt modelId="{D32CC15A-DB39-4E36-9A03-A53D3C264786}" type="sibTrans" cxnId="{A9E3715C-A274-4158-9A54-FFA528DB8455}">
      <dgm:prSet/>
      <dgm:spPr/>
      <dgm:t>
        <a:bodyPr/>
        <a:lstStyle/>
        <a:p>
          <a:endParaRPr lang="ru-RU"/>
        </a:p>
      </dgm:t>
    </dgm:pt>
    <dgm:pt modelId="{0888BA36-E849-4A19-AB45-27C51B61001E}">
      <dgm:prSet/>
      <dgm:spPr/>
      <dgm:t>
        <a:bodyPr/>
        <a:lstStyle/>
        <a:p>
          <a:r>
            <a:rPr lang="ru-RU" b="1"/>
            <a:t>Ретаргетинг</a:t>
          </a:r>
          <a:r>
            <a:rPr lang="ru-RU"/>
            <a:t> </a:t>
          </a:r>
        </a:p>
      </dgm:t>
    </dgm:pt>
    <dgm:pt modelId="{78F9E7C2-391E-497B-AA66-C8B68E661C22}" type="parTrans" cxnId="{007DA3E3-ECC6-4509-A875-9D5ACE42217B}">
      <dgm:prSet/>
      <dgm:spPr/>
      <dgm:t>
        <a:bodyPr/>
        <a:lstStyle/>
        <a:p>
          <a:endParaRPr lang="ru-RU"/>
        </a:p>
      </dgm:t>
    </dgm:pt>
    <dgm:pt modelId="{2765FEB7-F05A-451A-AB0A-C9E941B9655F}" type="sibTrans" cxnId="{007DA3E3-ECC6-4509-A875-9D5ACE42217B}">
      <dgm:prSet/>
      <dgm:spPr/>
      <dgm:t>
        <a:bodyPr/>
        <a:lstStyle/>
        <a:p>
          <a:endParaRPr lang="ru-RU"/>
        </a:p>
      </dgm:t>
    </dgm:pt>
    <dgm:pt modelId="{9A79AD50-8434-401D-9A57-2690BA7AF0FE}">
      <dgm:prSet custT="1"/>
      <dgm:spPr/>
      <dgm:t>
        <a:bodyPr/>
        <a:lstStyle/>
        <a:p>
          <a:r>
            <a:rPr lang="ru-RU" sz="1400" dirty="0"/>
            <a:t>реклама, нацеленная на пользователей, ранее проявивших интерес к определённому товару или услуге (например, возвращение рекламы товара, который пользователь добавлял в корзину).</a:t>
          </a:r>
        </a:p>
      </dgm:t>
    </dgm:pt>
    <dgm:pt modelId="{6079B946-FD35-438D-BF3F-35DD74320623}" type="parTrans" cxnId="{2EAB76FC-3115-4ED1-82FF-E6987DDF2578}">
      <dgm:prSet/>
      <dgm:spPr/>
      <dgm:t>
        <a:bodyPr/>
        <a:lstStyle/>
        <a:p>
          <a:endParaRPr lang="ru-RU"/>
        </a:p>
      </dgm:t>
    </dgm:pt>
    <dgm:pt modelId="{44E1086C-CCB2-4F40-9406-E3F6447FD9A6}" type="sibTrans" cxnId="{2EAB76FC-3115-4ED1-82FF-E6987DDF2578}">
      <dgm:prSet/>
      <dgm:spPr/>
      <dgm:t>
        <a:bodyPr/>
        <a:lstStyle/>
        <a:p>
          <a:endParaRPr lang="ru-RU"/>
        </a:p>
      </dgm:t>
    </dgm:pt>
    <dgm:pt modelId="{711C5896-DBF7-4720-BB1D-8A0B7AE6B67C}" type="pres">
      <dgm:prSet presAssocID="{E8352CD4-AA40-417C-9588-C7B5AFAEDD28}" presName="Name0" presStyleCnt="0">
        <dgm:presLayoutVars>
          <dgm:dir/>
          <dgm:animLvl val="lvl"/>
          <dgm:resizeHandles val="exact"/>
        </dgm:presLayoutVars>
      </dgm:prSet>
      <dgm:spPr/>
    </dgm:pt>
    <dgm:pt modelId="{6486BFFE-542A-4C7B-B05C-6E93F5F47812}" type="pres">
      <dgm:prSet presAssocID="{6989DCB0-910A-47CB-82B9-FC262B175A59}" presName="linNode" presStyleCnt="0"/>
      <dgm:spPr/>
    </dgm:pt>
    <dgm:pt modelId="{95A5E499-8518-44CE-93FC-43939E41EC0E}" type="pres">
      <dgm:prSet presAssocID="{6989DCB0-910A-47CB-82B9-FC262B175A59}" presName="parentText" presStyleLbl="node1" presStyleIdx="0" presStyleCnt="2" custScaleX="87083" custScaleY="71387">
        <dgm:presLayoutVars>
          <dgm:chMax val="1"/>
          <dgm:bulletEnabled val="1"/>
        </dgm:presLayoutVars>
      </dgm:prSet>
      <dgm:spPr/>
    </dgm:pt>
    <dgm:pt modelId="{00BAB40E-9728-4910-B030-B60B5692400D}" type="pres">
      <dgm:prSet presAssocID="{6989DCB0-910A-47CB-82B9-FC262B175A59}" presName="descendantText" presStyleLbl="alignAccFollowNode1" presStyleIdx="0" presStyleCnt="2">
        <dgm:presLayoutVars>
          <dgm:bulletEnabled val="1"/>
        </dgm:presLayoutVars>
      </dgm:prSet>
      <dgm:spPr/>
    </dgm:pt>
    <dgm:pt modelId="{D0770D4C-7C27-437E-9F0A-C30AA7C3DC7F}" type="pres">
      <dgm:prSet presAssocID="{A0A00F3E-F06E-46E1-97C0-C46D7DE9CB18}" presName="sp" presStyleCnt="0"/>
      <dgm:spPr/>
    </dgm:pt>
    <dgm:pt modelId="{FF7F4A11-517D-41ED-9D27-51E5A7DAE072}" type="pres">
      <dgm:prSet presAssocID="{0888BA36-E849-4A19-AB45-27C51B61001E}" presName="linNode" presStyleCnt="0"/>
      <dgm:spPr/>
    </dgm:pt>
    <dgm:pt modelId="{169F4E53-A679-4655-9419-52FD092C9D01}" type="pres">
      <dgm:prSet presAssocID="{0888BA36-E849-4A19-AB45-27C51B61001E}" presName="parentText" presStyleLbl="node1" presStyleIdx="1" presStyleCnt="2" custScaleX="87661">
        <dgm:presLayoutVars>
          <dgm:chMax val="1"/>
          <dgm:bulletEnabled val="1"/>
        </dgm:presLayoutVars>
      </dgm:prSet>
      <dgm:spPr/>
    </dgm:pt>
    <dgm:pt modelId="{6E7B97AC-18BE-4CE0-B4CC-ECC98CDFE98B}" type="pres">
      <dgm:prSet presAssocID="{0888BA36-E849-4A19-AB45-27C51B61001E}" presName="descendantText" presStyleLbl="alignAccFollowNode1" presStyleIdx="1" presStyleCnt="2" custScaleY="123897">
        <dgm:presLayoutVars>
          <dgm:bulletEnabled val="1"/>
        </dgm:presLayoutVars>
      </dgm:prSet>
      <dgm:spPr/>
    </dgm:pt>
  </dgm:ptLst>
  <dgm:cxnLst>
    <dgm:cxn modelId="{0BBE2110-2A0F-4E24-99BC-30BF43CE5847}" type="presOf" srcId="{0888BA36-E849-4A19-AB45-27C51B61001E}" destId="{169F4E53-A679-4655-9419-52FD092C9D01}" srcOrd="0" destOrd="0" presId="urn:microsoft.com/office/officeart/2005/8/layout/vList5"/>
    <dgm:cxn modelId="{DF857F1B-25FF-4E41-A8F5-1C37E10CBE41}" type="presOf" srcId="{6989DCB0-910A-47CB-82B9-FC262B175A59}" destId="{95A5E499-8518-44CE-93FC-43939E41EC0E}" srcOrd="0" destOrd="0" presId="urn:microsoft.com/office/officeart/2005/8/layout/vList5"/>
    <dgm:cxn modelId="{D7D78932-2C90-4A3E-905E-B9AF4E7877AE}" type="presOf" srcId="{9A79AD50-8434-401D-9A57-2690BA7AF0FE}" destId="{6E7B97AC-18BE-4CE0-B4CC-ECC98CDFE98B}" srcOrd="0" destOrd="0" presId="urn:microsoft.com/office/officeart/2005/8/layout/vList5"/>
    <dgm:cxn modelId="{A9E3715C-A274-4158-9A54-FFA528DB8455}" srcId="{6989DCB0-910A-47CB-82B9-FC262B175A59}" destId="{79B2520C-14B8-444E-B0BA-99D08047B6E2}" srcOrd="0" destOrd="0" parTransId="{B4231FE6-104D-4AA8-A951-3A897C4FA3C1}" sibTransId="{D32CC15A-DB39-4E36-9A03-A53D3C264786}"/>
    <dgm:cxn modelId="{27FEA281-7085-4D3D-A0C7-614BDD7E4A72}" type="presOf" srcId="{79B2520C-14B8-444E-B0BA-99D08047B6E2}" destId="{00BAB40E-9728-4910-B030-B60B5692400D}" srcOrd="0" destOrd="0" presId="urn:microsoft.com/office/officeart/2005/8/layout/vList5"/>
    <dgm:cxn modelId="{0829BFAF-549C-4655-9930-2AFE96C0F404}" type="presOf" srcId="{E8352CD4-AA40-417C-9588-C7B5AFAEDD28}" destId="{711C5896-DBF7-4720-BB1D-8A0B7AE6B67C}" srcOrd="0" destOrd="0" presId="urn:microsoft.com/office/officeart/2005/8/layout/vList5"/>
    <dgm:cxn modelId="{35B53FD2-02AB-457F-A395-47C5B2678790}" srcId="{E8352CD4-AA40-417C-9588-C7B5AFAEDD28}" destId="{6989DCB0-910A-47CB-82B9-FC262B175A59}" srcOrd="0" destOrd="0" parTransId="{76B174EF-2DA9-4976-AE3A-CB1ED847366A}" sibTransId="{A0A00F3E-F06E-46E1-97C0-C46D7DE9CB18}"/>
    <dgm:cxn modelId="{007DA3E3-ECC6-4509-A875-9D5ACE42217B}" srcId="{E8352CD4-AA40-417C-9588-C7B5AFAEDD28}" destId="{0888BA36-E849-4A19-AB45-27C51B61001E}" srcOrd="1" destOrd="0" parTransId="{78F9E7C2-391E-497B-AA66-C8B68E661C22}" sibTransId="{2765FEB7-F05A-451A-AB0A-C9E941B9655F}"/>
    <dgm:cxn modelId="{2EAB76FC-3115-4ED1-82FF-E6987DDF2578}" srcId="{0888BA36-E849-4A19-AB45-27C51B61001E}" destId="{9A79AD50-8434-401D-9A57-2690BA7AF0FE}" srcOrd="0" destOrd="0" parTransId="{6079B946-FD35-438D-BF3F-35DD74320623}" sibTransId="{44E1086C-CCB2-4F40-9406-E3F6447FD9A6}"/>
    <dgm:cxn modelId="{117132E9-3D6C-46BF-8CB4-A8D0F04CF119}" type="presParOf" srcId="{711C5896-DBF7-4720-BB1D-8A0B7AE6B67C}" destId="{6486BFFE-542A-4C7B-B05C-6E93F5F47812}" srcOrd="0" destOrd="0" presId="urn:microsoft.com/office/officeart/2005/8/layout/vList5"/>
    <dgm:cxn modelId="{559EDB80-50AB-473E-90FE-589F43034C9B}" type="presParOf" srcId="{6486BFFE-542A-4C7B-B05C-6E93F5F47812}" destId="{95A5E499-8518-44CE-93FC-43939E41EC0E}" srcOrd="0" destOrd="0" presId="urn:microsoft.com/office/officeart/2005/8/layout/vList5"/>
    <dgm:cxn modelId="{ED08F328-3198-416D-9936-BEBC2547A237}" type="presParOf" srcId="{6486BFFE-542A-4C7B-B05C-6E93F5F47812}" destId="{00BAB40E-9728-4910-B030-B60B5692400D}" srcOrd="1" destOrd="0" presId="urn:microsoft.com/office/officeart/2005/8/layout/vList5"/>
    <dgm:cxn modelId="{C309E0FC-C4F0-403B-B596-577274A957EB}" type="presParOf" srcId="{711C5896-DBF7-4720-BB1D-8A0B7AE6B67C}" destId="{D0770D4C-7C27-437E-9F0A-C30AA7C3DC7F}" srcOrd="1" destOrd="0" presId="urn:microsoft.com/office/officeart/2005/8/layout/vList5"/>
    <dgm:cxn modelId="{7113FAA1-2F5B-4C62-B617-896576B84E08}" type="presParOf" srcId="{711C5896-DBF7-4720-BB1D-8A0B7AE6B67C}" destId="{FF7F4A11-517D-41ED-9D27-51E5A7DAE072}" srcOrd="2" destOrd="0" presId="urn:microsoft.com/office/officeart/2005/8/layout/vList5"/>
    <dgm:cxn modelId="{C11AC6E6-BB55-4850-AF37-76D3FCCEF256}" type="presParOf" srcId="{FF7F4A11-517D-41ED-9D27-51E5A7DAE072}" destId="{169F4E53-A679-4655-9419-52FD092C9D01}" srcOrd="0" destOrd="0" presId="urn:microsoft.com/office/officeart/2005/8/layout/vList5"/>
    <dgm:cxn modelId="{C8DA541B-667C-446A-94B3-3452320BAF57}" type="presParOf" srcId="{FF7F4A11-517D-41ED-9D27-51E5A7DAE072}" destId="{6E7B97AC-18BE-4CE0-B4CC-ECC98CDFE98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0A74D4-2FDE-4C82-8B79-51A7D30CE28D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868AE661-FE8F-4EC4-899A-BF474772E495}">
      <dgm:prSet/>
      <dgm:spPr/>
      <dgm:t>
        <a:bodyPr/>
        <a:lstStyle/>
        <a:p>
          <a:r>
            <a:rPr lang="ru-RU" b="1" dirty="0">
              <a:latin typeface="Times New Roman" panose="02020603050405020304" pitchFamily="18" charset="0"/>
              <a:cs typeface="Times New Roman" panose="02020603050405020304" pitchFamily="18" charset="0"/>
            </a:rPr>
            <a:t>Таргетинг</a:t>
          </a: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 — это настройка рекламных кампаний с учётом определённых характеристик и поведения пользователей. </a:t>
          </a:r>
        </a:p>
      </dgm:t>
    </dgm:pt>
    <dgm:pt modelId="{A0E13204-753C-475C-AEC4-DEF515EB393E}" type="parTrans" cxnId="{6EABCBEB-9FFE-451F-81CC-2363A47F4C55}">
      <dgm:prSet/>
      <dgm:spPr/>
      <dgm:t>
        <a:bodyPr/>
        <a:lstStyle/>
        <a:p>
          <a:endParaRPr lang="ru-RU"/>
        </a:p>
      </dgm:t>
    </dgm:pt>
    <dgm:pt modelId="{6D1374A2-6708-4D6C-B254-183837FD4F52}" type="sibTrans" cxnId="{6EABCBEB-9FFE-451F-81CC-2363A47F4C55}">
      <dgm:prSet/>
      <dgm:spPr/>
      <dgm:t>
        <a:bodyPr/>
        <a:lstStyle/>
        <a:p>
          <a:endParaRPr lang="ru-RU"/>
        </a:p>
      </dgm:t>
    </dgm:pt>
    <dgm:pt modelId="{88C1B57A-2D53-45B5-9F5B-0A929CC76873}">
      <dgm:prSet custT="1"/>
      <dgm:spPr/>
      <dgm:t>
        <a:bodyPr/>
        <a:lstStyle/>
        <a:p>
          <a:r>
            <a:rPr lang="ru-RU" sz="2000" b="1" dirty="0"/>
            <a:t>Контекстный таргетинг</a:t>
          </a:r>
          <a:endParaRPr lang="ru-RU" sz="2000" dirty="0"/>
        </a:p>
      </dgm:t>
    </dgm:pt>
    <dgm:pt modelId="{25EFEB1D-265E-4D22-A7BA-06A028325C6F}" type="parTrans" cxnId="{037C4C85-718C-4B1B-88DE-02AADDEEF66B}">
      <dgm:prSet/>
      <dgm:spPr/>
      <dgm:t>
        <a:bodyPr/>
        <a:lstStyle/>
        <a:p>
          <a:endParaRPr lang="ru-RU"/>
        </a:p>
      </dgm:t>
    </dgm:pt>
    <dgm:pt modelId="{E0348FF8-1CB3-4DDC-9ADD-4DD946D979C3}" type="sibTrans" cxnId="{037C4C85-718C-4B1B-88DE-02AADDEEF66B}">
      <dgm:prSet/>
      <dgm:spPr/>
      <dgm:t>
        <a:bodyPr/>
        <a:lstStyle/>
        <a:p>
          <a:endParaRPr lang="ru-RU"/>
        </a:p>
      </dgm:t>
    </dgm:pt>
    <dgm:pt modelId="{0D189DC0-BDED-4AA7-AF4B-A98729E7E5BD}">
      <dgm:prSet custT="1"/>
      <dgm:spPr/>
      <dgm:t>
        <a:bodyPr/>
        <a:lstStyle/>
        <a:p>
          <a:r>
            <a:rPr lang="ru-RU" sz="2000" dirty="0"/>
            <a:t>реклама, отображаемая в зависимости от содержания просматриваемой страницы. Например, на сайте о путешествиях могут показываться объявления турфирм или авиабилетов.</a:t>
          </a:r>
        </a:p>
      </dgm:t>
    </dgm:pt>
    <dgm:pt modelId="{3CCDFA66-22A4-49EE-9FF4-E5160877BEA4}" type="parTrans" cxnId="{2E058ACD-D656-4272-90D5-6F96E93D1A61}">
      <dgm:prSet/>
      <dgm:spPr/>
      <dgm:t>
        <a:bodyPr/>
        <a:lstStyle/>
        <a:p>
          <a:endParaRPr lang="ru-RU"/>
        </a:p>
      </dgm:t>
    </dgm:pt>
    <dgm:pt modelId="{3F66084B-14BB-4471-AF86-D8E289B94F54}" type="sibTrans" cxnId="{2E058ACD-D656-4272-90D5-6F96E93D1A61}">
      <dgm:prSet/>
      <dgm:spPr/>
      <dgm:t>
        <a:bodyPr/>
        <a:lstStyle/>
        <a:p>
          <a:endParaRPr lang="ru-RU"/>
        </a:p>
      </dgm:t>
    </dgm:pt>
    <dgm:pt modelId="{1F724EC8-4C98-4375-8B01-5FFE23E01915}">
      <dgm:prSet custT="1"/>
      <dgm:spPr/>
      <dgm:t>
        <a:bodyPr/>
        <a:lstStyle/>
        <a:p>
          <a:r>
            <a:rPr lang="ru-RU" sz="2000" b="1"/>
            <a:t>Поведенческий таргетинг</a:t>
          </a:r>
          <a:r>
            <a:rPr lang="ru-RU" sz="2000"/>
            <a:t> </a:t>
          </a:r>
        </a:p>
      </dgm:t>
    </dgm:pt>
    <dgm:pt modelId="{E4967CD0-D9A9-4A87-91E6-2B8BA63960BA}" type="parTrans" cxnId="{A9D7643F-C58D-4A23-BEBA-834054517E38}">
      <dgm:prSet/>
      <dgm:spPr/>
      <dgm:t>
        <a:bodyPr/>
        <a:lstStyle/>
        <a:p>
          <a:endParaRPr lang="ru-RU"/>
        </a:p>
      </dgm:t>
    </dgm:pt>
    <dgm:pt modelId="{19B1ACDB-534D-4684-B6B8-FE86F7CE1E77}" type="sibTrans" cxnId="{A9D7643F-C58D-4A23-BEBA-834054517E38}">
      <dgm:prSet/>
      <dgm:spPr/>
      <dgm:t>
        <a:bodyPr/>
        <a:lstStyle/>
        <a:p>
          <a:endParaRPr lang="ru-RU"/>
        </a:p>
      </dgm:t>
    </dgm:pt>
    <dgm:pt modelId="{03BC26E3-81A0-4387-BB45-0330711B7F6E}">
      <dgm:prSet custT="1"/>
      <dgm:spPr/>
      <dgm:t>
        <a:bodyPr/>
        <a:lstStyle/>
        <a:p>
          <a:r>
            <a:rPr lang="ru-RU" sz="2000" dirty="0"/>
            <a:t>используется для показа рекламы на основе истории действий пользователя в Интернете: какие сайты он посещал, что искал, на какие объявления кликал.</a:t>
          </a:r>
        </a:p>
      </dgm:t>
    </dgm:pt>
    <dgm:pt modelId="{1FC59CC3-8AE0-4831-BA9F-C927603295E3}" type="parTrans" cxnId="{C86A714B-CFDA-411D-BF9A-D7D954CCD780}">
      <dgm:prSet/>
      <dgm:spPr/>
      <dgm:t>
        <a:bodyPr/>
        <a:lstStyle/>
        <a:p>
          <a:endParaRPr lang="ru-RU"/>
        </a:p>
      </dgm:t>
    </dgm:pt>
    <dgm:pt modelId="{F3DDA6A7-8573-4965-AC43-4D7A3F940D4A}" type="sibTrans" cxnId="{C86A714B-CFDA-411D-BF9A-D7D954CCD780}">
      <dgm:prSet/>
      <dgm:spPr/>
      <dgm:t>
        <a:bodyPr/>
        <a:lstStyle/>
        <a:p>
          <a:endParaRPr lang="ru-RU"/>
        </a:p>
      </dgm:t>
    </dgm:pt>
    <dgm:pt modelId="{214CFDD9-54FB-4F79-9A26-B65571BF57B3}">
      <dgm:prSet custT="1"/>
      <dgm:spPr/>
      <dgm:t>
        <a:bodyPr/>
        <a:lstStyle/>
        <a:p>
          <a:r>
            <a:rPr lang="ru-RU" sz="2000" b="1" dirty="0" err="1"/>
            <a:t>Ретаргетинг</a:t>
          </a:r>
          <a:r>
            <a:rPr lang="ru-RU" sz="2000" b="1" dirty="0"/>
            <a:t> (или ремаркетинг) </a:t>
          </a:r>
          <a:endParaRPr lang="ru-RU" sz="2000" dirty="0"/>
        </a:p>
      </dgm:t>
    </dgm:pt>
    <dgm:pt modelId="{9A52A83A-DC02-4BC2-AE81-949C5B7A062E}" type="parTrans" cxnId="{431627AB-8960-4522-A8C4-91193C407763}">
      <dgm:prSet/>
      <dgm:spPr/>
      <dgm:t>
        <a:bodyPr/>
        <a:lstStyle/>
        <a:p>
          <a:endParaRPr lang="ru-RU"/>
        </a:p>
      </dgm:t>
    </dgm:pt>
    <dgm:pt modelId="{3BFC5673-0F27-4513-BA97-734ADCF26671}" type="sibTrans" cxnId="{431627AB-8960-4522-A8C4-91193C407763}">
      <dgm:prSet/>
      <dgm:spPr/>
      <dgm:t>
        <a:bodyPr/>
        <a:lstStyle/>
        <a:p>
          <a:endParaRPr lang="ru-RU"/>
        </a:p>
      </dgm:t>
    </dgm:pt>
    <dgm:pt modelId="{C537C474-2701-40CD-87C9-E4B2814BEC07}">
      <dgm:prSet custT="1"/>
      <dgm:spPr/>
      <dgm:t>
        <a:bodyPr/>
        <a:lstStyle/>
        <a:p>
          <a:r>
            <a:rPr lang="ru-RU" sz="2000" dirty="0"/>
            <a:t>технология, при которой пользователю показывается реклама товаров или услуг, которыми он уже интересовался. Например, если человек заходил на сайт магазина и просматривал определённую модель телефона, ему могут начать показываться баннеры с этим товаром на других сайтах.</a:t>
          </a:r>
        </a:p>
      </dgm:t>
    </dgm:pt>
    <dgm:pt modelId="{B4CA77A2-4426-44B5-A2BA-F2E2C882D72A}" type="parTrans" cxnId="{40256966-A6E5-43C2-947C-244FACB3E284}">
      <dgm:prSet/>
      <dgm:spPr/>
      <dgm:t>
        <a:bodyPr/>
        <a:lstStyle/>
        <a:p>
          <a:endParaRPr lang="ru-RU"/>
        </a:p>
      </dgm:t>
    </dgm:pt>
    <dgm:pt modelId="{937F6C8E-2AED-4228-A49F-D78ABF7B9A9A}" type="sibTrans" cxnId="{40256966-A6E5-43C2-947C-244FACB3E284}">
      <dgm:prSet/>
      <dgm:spPr/>
      <dgm:t>
        <a:bodyPr/>
        <a:lstStyle/>
        <a:p>
          <a:endParaRPr lang="ru-RU"/>
        </a:p>
      </dgm:t>
    </dgm:pt>
    <dgm:pt modelId="{7C96D4EA-3DBD-4B93-ADED-508DD9243A5B}" type="pres">
      <dgm:prSet presAssocID="{730A74D4-2FDE-4C82-8B79-51A7D30CE28D}" presName="Name0" presStyleCnt="0">
        <dgm:presLayoutVars>
          <dgm:dir/>
          <dgm:animLvl val="lvl"/>
          <dgm:resizeHandles val="exact"/>
        </dgm:presLayoutVars>
      </dgm:prSet>
      <dgm:spPr/>
    </dgm:pt>
    <dgm:pt modelId="{F22705FB-97B1-4A0B-A06C-2F790BCEE495}" type="pres">
      <dgm:prSet presAssocID="{868AE661-FE8F-4EC4-899A-BF474772E495}" presName="linNode" presStyleCnt="0"/>
      <dgm:spPr/>
    </dgm:pt>
    <dgm:pt modelId="{752D3C36-50EA-4EEE-A299-2B48452EF53B}" type="pres">
      <dgm:prSet presAssocID="{868AE661-FE8F-4EC4-899A-BF474772E495}" presName="parentText" presStyleLbl="node1" presStyleIdx="0" presStyleCnt="1" custScaleX="100521" custScaleY="56283">
        <dgm:presLayoutVars>
          <dgm:chMax val="1"/>
          <dgm:bulletEnabled val="1"/>
        </dgm:presLayoutVars>
      </dgm:prSet>
      <dgm:spPr/>
    </dgm:pt>
    <dgm:pt modelId="{2EFBE4B7-9852-4C37-91F7-F30F5FF0C14D}" type="pres">
      <dgm:prSet presAssocID="{868AE661-FE8F-4EC4-899A-BF474772E495}" presName="descendantText" presStyleLbl="alignAccFollowNode1" presStyleIdx="0" presStyleCnt="1" custScaleY="125122">
        <dgm:presLayoutVars>
          <dgm:bulletEnabled val="1"/>
        </dgm:presLayoutVars>
      </dgm:prSet>
      <dgm:spPr/>
    </dgm:pt>
  </dgm:ptLst>
  <dgm:cxnLst>
    <dgm:cxn modelId="{F829370F-C0E1-4B58-BF14-A6A99E867439}" type="presOf" srcId="{730A74D4-2FDE-4C82-8B79-51A7D30CE28D}" destId="{7C96D4EA-3DBD-4B93-ADED-508DD9243A5B}" srcOrd="0" destOrd="0" presId="urn:microsoft.com/office/officeart/2005/8/layout/vList5"/>
    <dgm:cxn modelId="{B139512C-B15C-402D-AAB1-0CA2B9BA254F}" type="presOf" srcId="{1F724EC8-4C98-4375-8B01-5FFE23E01915}" destId="{2EFBE4B7-9852-4C37-91F7-F30F5FF0C14D}" srcOrd="0" destOrd="2" presId="urn:microsoft.com/office/officeart/2005/8/layout/vList5"/>
    <dgm:cxn modelId="{A9D7643F-C58D-4A23-BEBA-834054517E38}" srcId="{868AE661-FE8F-4EC4-899A-BF474772E495}" destId="{1F724EC8-4C98-4375-8B01-5FFE23E01915}" srcOrd="1" destOrd="0" parTransId="{E4967CD0-D9A9-4A87-91E6-2B8BA63960BA}" sibTransId="{19B1ACDB-534D-4684-B6B8-FE86F7CE1E77}"/>
    <dgm:cxn modelId="{40256966-A6E5-43C2-947C-244FACB3E284}" srcId="{214CFDD9-54FB-4F79-9A26-B65571BF57B3}" destId="{C537C474-2701-40CD-87C9-E4B2814BEC07}" srcOrd="0" destOrd="0" parTransId="{B4CA77A2-4426-44B5-A2BA-F2E2C882D72A}" sibTransId="{937F6C8E-2AED-4228-A49F-D78ABF7B9A9A}"/>
    <dgm:cxn modelId="{C86A714B-CFDA-411D-BF9A-D7D954CCD780}" srcId="{1F724EC8-4C98-4375-8B01-5FFE23E01915}" destId="{03BC26E3-81A0-4387-BB45-0330711B7F6E}" srcOrd="0" destOrd="0" parTransId="{1FC59CC3-8AE0-4831-BA9F-C927603295E3}" sibTransId="{F3DDA6A7-8573-4965-AC43-4D7A3F940D4A}"/>
    <dgm:cxn modelId="{B7661C4D-9710-46E1-9E7A-6F103DCAAD10}" type="presOf" srcId="{C537C474-2701-40CD-87C9-E4B2814BEC07}" destId="{2EFBE4B7-9852-4C37-91F7-F30F5FF0C14D}" srcOrd="0" destOrd="5" presId="urn:microsoft.com/office/officeart/2005/8/layout/vList5"/>
    <dgm:cxn modelId="{6FE39D74-1A7A-429C-96CB-00C7235DFC59}" type="presOf" srcId="{214CFDD9-54FB-4F79-9A26-B65571BF57B3}" destId="{2EFBE4B7-9852-4C37-91F7-F30F5FF0C14D}" srcOrd="0" destOrd="4" presId="urn:microsoft.com/office/officeart/2005/8/layout/vList5"/>
    <dgm:cxn modelId="{037C4C85-718C-4B1B-88DE-02AADDEEF66B}" srcId="{868AE661-FE8F-4EC4-899A-BF474772E495}" destId="{88C1B57A-2D53-45B5-9F5B-0A929CC76873}" srcOrd="0" destOrd="0" parTransId="{25EFEB1D-265E-4D22-A7BA-06A028325C6F}" sibTransId="{E0348FF8-1CB3-4DDC-9ADD-4DD946D979C3}"/>
    <dgm:cxn modelId="{05A77490-87C7-43A0-B44A-FD227D5FBD34}" type="presOf" srcId="{03BC26E3-81A0-4387-BB45-0330711B7F6E}" destId="{2EFBE4B7-9852-4C37-91F7-F30F5FF0C14D}" srcOrd="0" destOrd="3" presId="urn:microsoft.com/office/officeart/2005/8/layout/vList5"/>
    <dgm:cxn modelId="{133820A2-EA26-4F3B-9226-0267405AE366}" type="presOf" srcId="{0D189DC0-BDED-4AA7-AF4B-A98729E7E5BD}" destId="{2EFBE4B7-9852-4C37-91F7-F30F5FF0C14D}" srcOrd="0" destOrd="1" presId="urn:microsoft.com/office/officeart/2005/8/layout/vList5"/>
    <dgm:cxn modelId="{431627AB-8960-4522-A8C4-91193C407763}" srcId="{868AE661-FE8F-4EC4-899A-BF474772E495}" destId="{214CFDD9-54FB-4F79-9A26-B65571BF57B3}" srcOrd="2" destOrd="0" parTransId="{9A52A83A-DC02-4BC2-AE81-949C5B7A062E}" sibTransId="{3BFC5673-0F27-4513-BA97-734ADCF26671}"/>
    <dgm:cxn modelId="{018BF7C0-2325-4A9B-B65E-E22DD0664D8F}" type="presOf" srcId="{88C1B57A-2D53-45B5-9F5B-0A929CC76873}" destId="{2EFBE4B7-9852-4C37-91F7-F30F5FF0C14D}" srcOrd="0" destOrd="0" presId="urn:microsoft.com/office/officeart/2005/8/layout/vList5"/>
    <dgm:cxn modelId="{2E058ACD-D656-4272-90D5-6F96E93D1A61}" srcId="{88C1B57A-2D53-45B5-9F5B-0A929CC76873}" destId="{0D189DC0-BDED-4AA7-AF4B-A98729E7E5BD}" srcOrd="0" destOrd="0" parTransId="{3CCDFA66-22A4-49EE-9FF4-E5160877BEA4}" sibTransId="{3F66084B-14BB-4471-AF86-D8E289B94F54}"/>
    <dgm:cxn modelId="{6EABCBEB-9FFE-451F-81CC-2363A47F4C55}" srcId="{730A74D4-2FDE-4C82-8B79-51A7D30CE28D}" destId="{868AE661-FE8F-4EC4-899A-BF474772E495}" srcOrd="0" destOrd="0" parTransId="{A0E13204-753C-475C-AEC4-DEF515EB393E}" sibTransId="{6D1374A2-6708-4D6C-B254-183837FD4F52}"/>
    <dgm:cxn modelId="{821C2BFA-4C97-45D5-9107-106FE1AB2C6A}" type="presOf" srcId="{868AE661-FE8F-4EC4-899A-BF474772E495}" destId="{752D3C36-50EA-4EEE-A299-2B48452EF53B}" srcOrd="0" destOrd="0" presId="urn:microsoft.com/office/officeart/2005/8/layout/vList5"/>
    <dgm:cxn modelId="{FAB46DD7-6DF1-4400-99E0-B3C3EC80144D}" type="presParOf" srcId="{7C96D4EA-3DBD-4B93-ADED-508DD9243A5B}" destId="{F22705FB-97B1-4A0B-A06C-2F790BCEE495}" srcOrd="0" destOrd="0" presId="urn:microsoft.com/office/officeart/2005/8/layout/vList5"/>
    <dgm:cxn modelId="{D522E511-DEC6-4C35-B4D9-813C63E67AB8}" type="presParOf" srcId="{F22705FB-97B1-4A0B-A06C-2F790BCEE495}" destId="{752D3C36-50EA-4EEE-A299-2B48452EF53B}" srcOrd="0" destOrd="0" presId="urn:microsoft.com/office/officeart/2005/8/layout/vList5"/>
    <dgm:cxn modelId="{2C8BCEAC-EE23-4E63-89CA-239E6332947A}" type="presParOf" srcId="{F22705FB-97B1-4A0B-A06C-2F790BCEE495}" destId="{2EFBE4B7-9852-4C37-91F7-F30F5FF0C14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FEE75B-E3AD-4841-8C95-5C8E10D0C1A9}" type="doc">
      <dgm:prSet loTypeId="urn:microsoft.com/office/officeart/2005/8/layout/hList7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BCAA1D65-2E17-4648-88F8-0F449AAFFBB0}">
      <dgm:prSet/>
      <dgm:spPr/>
      <dgm:t>
        <a:bodyPr/>
        <a:lstStyle/>
        <a:p>
          <a:r>
            <a:rPr lang="ru-RU" b="1" dirty="0"/>
            <a:t>Google </a:t>
          </a:r>
          <a:r>
            <a:rPr lang="ru-RU" b="1" dirty="0" err="1"/>
            <a:t>Ads</a:t>
          </a:r>
          <a:r>
            <a:rPr lang="ru-RU" dirty="0"/>
            <a:t> — одна из самых мощных и популярных рекламных платформ в мире, использующая данные из поисковика, YouTube, Gmail и других сервисов Google.</a:t>
          </a:r>
        </a:p>
      </dgm:t>
    </dgm:pt>
    <dgm:pt modelId="{5218C141-432C-4AC4-B247-39020E5CD5B5}" type="parTrans" cxnId="{89F614BC-E5B5-4EDC-9755-C11102FC899E}">
      <dgm:prSet/>
      <dgm:spPr/>
      <dgm:t>
        <a:bodyPr/>
        <a:lstStyle/>
        <a:p>
          <a:endParaRPr lang="ru-RU"/>
        </a:p>
      </dgm:t>
    </dgm:pt>
    <dgm:pt modelId="{63A724CC-DABE-4374-9B34-B08FCDADD707}" type="sibTrans" cxnId="{89F614BC-E5B5-4EDC-9755-C11102FC899E}">
      <dgm:prSet/>
      <dgm:spPr/>
      <dgm:t>
        <a:bodyPr/>
        <a:lstStyle/>
        <a:p>
          <a:endParaRPr lang="ru-RU"/>
        </a:p>
      </dgm:t>
    </dgm:pt>
    <dgm:pt modelId="{10914A48-4677-46B7-861A-3CB68678B0E0}">
      <dgm:prSet/>
      <dgm:spPr/>
      <dgm:t>
        <a:bodyPr/>
        <a:lstStyle/>
        <a:p>
          <a:r>
            <a:rPr lang="ru-RU" b="1" dirty="0"/>
            <a:t>Яндекс Директ</a:t>
          </a:r>
          <a:r>
            <a:rPr lang="ru-RU" dirty="0"/>
            <a:t> — крупнейшая рекламная платформа в Рунете, позволяющая размещать контекстную и медийную рекламу на сайтах Яндекса и партнёрских площадках.</a:t>
          </a:r>
        </a:p>
      </dgm:t>
    </dgm:pt>
    <dgm:pt modelId="{2F91B022-600A-484F-9D1D-564469F610AD}" type="parTrans" cxnId="{E7EB692A-ACD0-480D-BDD7-366FEDFDFEEF}">
      <dgm:prSet/>
      <dgm:spPr/>
      <dgm:t>
        <a:bodyPr/>
        <a:lstStyle/>
        <a:p>
          <a:endParaRPr lang="ru-RU"/>
        </a:p>
      </dgm:t>
    </dgm:pt>
    <dgm:pt modelId="{35610FF2-920A-4077-8E90-1F18EA20E070}" type="sibTrans" cxnId="{E7EB692A-ACD0-480D-BDD7-366FEDFDFEEF}">
      <dgm:prSet/>
      <dgm:spPr/>
      <dgm:t>
        <a:bodyPr/>
        <a:lstStyle/>
        <a:p>
          <a:endParaRPr lang="ru-RU"/>
        </a:p>
      </dgm:t>
    </dgm:pt>
    <dgm:pt modelId="{26B71C15-C7E7-4146-8E61-674CBB8AF794}">
      <dgm:prSet/>
      <dgm:spPr/>
      <dgm:t>
        <a:bodyPr/>
        <a:lstStyle/>
        <a:p>
          <a:r>
            <a:rPr lang="ru-RU" b="1"/>
            <a:t>VK Реклама</a:t>
          </a:r>
          <a:r>
            <a:rPr lang="ru-RU"/>
            <a:t> — платформа для продвижения в социальных сетях ВКонтакте и Одноклассники, активно использующая социально-демографические и поведенческие данные.</a:t>
          </a:r>
        </a:p>
      </dgm:t>
    </dgm:pt>
    <dgm:pt modelId="{2295FF18-A105-45B4-A4E3-14B2D1F65400}" type="parTrans" cxnId="{7425D247-06A9-4482-93F6-1498368B3FA3}">
      <dgm:prSet/>
      <dgm:spPr/>
      <dgm:t>
        <a:bodyPr/>
        <a:lstStyle/>
        <a:p>
          <a:endParaRPr lang="ru-RU"/>
        </a:p>
      </dgm:t>
    </dgm:pt>
    <dgm:pt modelId="{5A6FACFE-2D65-4934-B6E6-4799E62E17FF}" type="sibTrans" cxnId="{7425D247-06A9-4482-93F6-1498368B3FA3}">
      <dgm:prSet/>
      <dgm:spPr/>
      <dgm:t>
        <a:bodyPr/>
        <a:lstStyle/>
        <a:p>
          <a:endParaRPr lang="ru-RU"/>
        </a:p>
      </dgm:t>
    </dgm:pt>
    <dgm:pt modelId="{5975A2B1-C908-4A1C-B242-E419A049932B}" type="pres">
      <dgm:prSet presAssocID="{0AFEE75B-E3AD-4841-8C95-5C8E10D0C1A9}" presName="Name0" presStyleCnt="0">
        <dgm:presLayoutVars>
          <dgm:dir/>
          <dgm:resizeHandles val="exact"/>
        </dgm:presLayoutVars>
      </dgm:prSet>
      <dgm:spPr/>
    </dgm:pt>
    <dgm:pt modelId="{1DA963CD-36D0-4172-99F9-42567041A25B}" type="pres">
      <dgm:prSet presAssocID="{0AFEE75B-E3AD-4841-8C95-5C8E10D0C1A9}" presName="fgShape" presStyleLbl="fgShp" presStyleIdx="0" presStyleCnt="1"/>
      <dgm:spPr/>
    </dgm:pt>
    <dgm:pt modelId="{776B89C4-4CA3-4430-A3E0-631715499FF3}" type="pres">
      <dgm:prSet presAssocID="{0AFEE75B-E3AD-4841-8C95-5C8E10D0C1A9}" presName="linComp" presStyleCnt="0"/>
      <dgm:spPr/>
    </dgm:pt>
    <dgm:pt modelId="{A6CF3200-8B1B-4266-AD97-EA3C10CEB8EC}" type="pres">
      <dgm:prSet presAssocID="{BCAA1D65-2E17-4648-88F8-0F449AAFFBB0}" presName="compNode" presStyleCnt="0"/>
      <dgm:spPr/>
    </dgm:pt>
    <dgm:pt modelId="{5715855D-0AB7-43D6-BE12-1BB46DEF74EE}" type="pres">
      <dgm:prSet presAssocID="{BCAA1D65-2E17-4648-88F8-0F449AAFFBB0}" presName="bkgdShape" presStyleLbl="node1" presStyleIdx="0" presStyleCnt="3"/>
      <dgm:spPr/>
    </dgm:pt>
    <dgm:pt modelId="{FCC7524C-8587-4911-827B-E5264B2EDC76}" type="pres">
      <dgm:prSet presAssocID="{BCAA1D65-2E17-4648-88F8-0F449AAFFBB0}" presName="nodeTx" presStyleLbl="node1" presStyleIdx="0" presStyleCnt="3">
        <dgm:presLayoutVars>
          <dgm:bulletEnabled val="1"/>
        </dgm:presLayoutVars>
      </dgm:prSet>
      <dgm:spPr/>
    </dgm:pt>
    <dgm:pt modelId="{3593BF0C-5296-406B-AEFE-DC4DB5E62769}" type="pres">
      <dgm:prSet presAssocID="{BCAA1D65-2E17-4648-88F8-0F449AAFFBB0}" presName="invisiNode" presStyleLbl="node1" presStyleIdx="0" presStyleCnt="3"/>
      <dgm:spPr/>
    </dgm:pt>
    <dgm:pt modelId="{88926E0E-F4F4-49CD-9F57-FCB17BA50C93}" type="pres">
      <dgm:prSet presAssocID="{BCAA1D65-2E17-4648-88F8-0F449AAFFBB0}" presName="imagNode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BC5F315F-206D-4099-8417-624AD8F45CAF}" type="pres">
      <dgm:prSet presAssocID="{63A724CC-DABE-4374-9B34-B08FCDADD707}" presName="sibTrans" presStyleLbl="sibTrans2D1" presStyleIdx="0" presStyleCnt="0"/>
      <dgm:spPr/>
    </dgm:pt>
    <dgm:pt modelId="{E8A6AC7A-C670-4591-9BCE-1231ADF072E2}" type="pres">
      <dgm:prSet presAssocID="{10914A48-4677-46B7-861A-3CB68678B0E0}" presName="compNode" presStyleCnt="0"/>
      <dgm:spPr/>
    </dgm:pt>
    <dgm:pt modelId="{6DA30D9C-6101-4A8F-AF8B-3721EB0600D0}" type="pres">
      <dgm:prSet presAssocID="{10914A48-4677-46B7-861A-3CB68678B0E0}" presName="bkgdShape" presStyleLbl="node1" presStyleIdx="1" presStyleCnt="3"/>
      <dgm:spPr/>
    </dgm:pt>
    <dgm:pt modelId="{B72236A3-D16A-463B-9797-E55E93B70558}" type="pres">
      <dgm:prSet presAssocID="{10914A48-4677-46B7-861A-3CB68678B0E0}" presName="nodeTx" presStyleLbl="node1" presStyleIdx="1" presStyleCnt="3">
        <dgm:presLayoutVars>
          <dgm:bulletEnabled val="1"/>
        </dgm:presLayoutVars>
      </dgm:prSet>
      <dgm:spPr/>
    </dgm:pt>
    <dgm:pt modelId="{A486451B-A72B-43DF-8E08-AD13E77F0255}" type="pres">
      <dgm:prSet presAssocID="{10914A48-4677-46B7-861A-3CB68678B0E0}" presName="invisiNode" presStyleLbl="node1" presStyleIdx="1" presStyleCnt="3"/>
      <dgm:spPr/>
    </dgm:pt>
    <dgm:pt modelId="{C0314B8E-B3A8-443E-8A8D-99BEA5961A43}" type="pres">
      <dgm:prSet presAssocID="{10914A48-4677-46B7-861A-3CB68678B0E0}" presName="imagNode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481926FD-1465-4003-B503-647074708BDC}" type="pres">
      <dgm:prSet presAssocID="{35610FF2-920A-4077-8E90-1F18EA20E070}" presName="sibTrans" presStyleLbl="sibTrans2D1" presStyleIdx="0" presStyleCnt="0"/>
      <dgm:spPr/>
    </dgm:pt>
    <dgm:pt modelId="{D332E511-4D70-4250-9F46-791B36D86EBA}" type="pres">
      <dgm:prSet presAssocID="{26B71C15-C7E7-4146-8E61-674CBB8AF794}" presName="compNode" presStyleCnt="0"/>
      <dgm:spPr/>
    </dgm:pt>
    <dgm:pt modelId="{EE042A17-B69A-4C4F-B464-359F1039B438}" type="pres">
      <dgm:prSet presAssocID="{26B71C15-C7E7-4146-8E61-674CBB8AF794}" presName="bkgdShape" presStyleLbl="node1" presStyleIdx="2" presStyleCnt="3"/>
      <dgm:spPr/>
    </dgm:pt>
    <dgm:pt modelId="{A9B9D0EA-6683-4106-A5F6-1FE13982C885}" type="pres">
      <dgm:prSet presAssocID="{26B71C15-C7E7-4146-8E61-674CBB8AF794}" presName="nodeTx" presStyleLbl="node1" presStyleIdx="2" presStyleCnt="3">
        <dgm:presLayoutVars>
          <dgm:bulletEnabled val="1"/>
        </dgm:presLayoutVars>
      </dgm:prSet>
      <dgm:spPr/>
    </dgm:pt>
    <dgm:pt modelId="{B4F5C4F8-8C8F-495A-BB8A-0731C815993E}" type="pres">
      <dgm:prSet presAssocID="{26B71C15-C7E7-4146-8E61-674CBB8AF794}" presName="invisiNode" presStyleLbl="node1" presStyleIdx="2" presStyleCnt="3"/>
      <dgm:spPr/>
    </dgm:pt>
    <dgm:pt modelId="{9888522E-B921-433B-8629-6905659BAC67}" type="pres">
      <dgm:prSet presAssocID="{26B71C15-C7E7-4146-8E61-674CBB8AF794}" presName="imagNode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</dgm:spPr>
    </dgm:pt>
  </dgm:ptLst>
  <dgm:cxnLst>
    <dgm:cxn modelId="{92804812-B3DA-408D-9572-2DF099E604E4}" type="presOf" srcId="{BCAA1D65-2E17-4648-88F8-0F449AAFFBB0}" destId="{FCC7524C-8587-4911-827B-E5264B2EDC76}" srcOrd="1" destOrd="0" presId="urn:microsoft.com/office/officeart/2005/8/layout/hList7"/>
    <dgm:cxn modelId="{5AE6A426-0725-4842-865A-7BDE0AF04B40}" type="presOf" srcId="{35610FF2-920A-4077-8E90-1F18EA20E070}" destId="{481926FD-1465-4003-B503-647074708BDC}" srcOrd="0" destOrd="0" presId="urn:microsoft.com/office/officeart/2005/8/layout/hList7"/>
    <dgm:cxn modelId="{E7EB692A-ACD0-480D-BDD7-366FEDFDFEEF}" srcId="{0AFEE75B-E3AD-4841-8C95-5C8E10D0C1A9}" destId="{10914A48-4677-46B7-861A-3CB68678B0E0}" srcOrd="1" destOrd="0" parTransId="{2F91B022-600A-484F-9D1D-564469F610AD}" sibTransId="{35610FF2-920A-4077-8E90-1F18EA20E070}"/>
    <dgm:cxn modelId="{1258DE2C-2CB5-45FC-84C5-99B459A2085D}" type="presOf" srcId="{26B71C15-C7E7-4146-8E61-674CBB8AF794}" destId="{A9B9D0EA-6683-4106-A5F6-1FE13982C885}" srcOrd="1" destOrd="0" presId="urn:microsoft.com/office/officeart/2005/8/layout/hList7"/>
    <dgm:cxn modelId="{7425D247-06A9-4482-93F6-1498368B3FA3}" srcId="{0AFEE75B-E3AD-4841-8C95-5C8E10D0C1A9}" destId="{26B71C15-C7E7-4146-8E61-674CBB8AF794}" srcOrd="2" destOrd="0" parTransId="{2295FF18-A105-45B4-A4E3-14B2D1F65400}" sibTransId="{5A6FACFE-2D65-4934-B6E6-4799E62E17FF}"/>
    <dgm:cxn modelId="{FE02F34E-0BAC-4156-B22A-2CEFA06FC4FE}" type="presOf" srcId="{0AFEE75B-E3AD-4841-8C95-5C8E10D0C1A9}" destId="{5975A2B1-C908-4A1C-B242-E419A049932B}" srcOrd="0" destOrd="0" presId="urn:microsoft.com/office/officeart/2005/8/layout/hList7"/>
    <dgm:cxn modelId="{AE3EFD54-FC34-4465-BE0C-D2EEBF73EA1C}" type="presOf" srcId="{10914A48-4677-46B7-861A-3CB68678B0E0}" destId="{B72236A3-D16A-463B-9797-E55E93B70558}" srcOrd="1" destOrd="0" presId="urn:microsoft.com/office/officeart/2005/8/layout/hList7"/>
    <dgm:cxn modelId="{8450A988-B518-4422-BAD4-1BFE0DB8AECB}" type="presOf" srcId="{BCAA1D65-2E17-4648-88F8-0F449AAFFBB0}" destId="{5715855D-0AB7-43D6-BE12-1BB46DEF74EE}" srcOrd="0" destOrd="0" presId="urn:microsoft.com/office/officeart/2005/8/layout/hList7"/>
    <dgm:cxn modelId="{FF8C53B8-AB59-4365-82AC-9A7C391C1D92}" type="presOf" srcId="{26B71C15-C7E7-4146-8E61-674CBB8AF794}" destId="{EE042A17-B69A-4C4F-B464-359F1039B438}" srcOrd="0" destOrd="0" presId="urn:microsoft.com/office/officeart/2005/8/layout/hList7"/>
    <dgm:cxn modelId="{89F614BC-E5B5-4EDC-9755-C11102FC899E}" srcId="{0AFEE75B-E3AD-4841-8C95-5C8E10D0C1A9}" destId="{BCAA1D65-2E17-4648-88F8-0F449AAFFBB0}" srcOrd="0" destOrd="0" parTransId="{5218C141-432C-4AC4-B247-39020E5CD5B5}" sibTransId="{63A724CC-DABE-4374-9B34-B08FCDADD707}"/>
    <dgm:cxn modelId="{05F5A2C4-7E0A-4664-BA11-2B509A674318}" type="presOf" srcId="{63A724CC-DABE-4374-9B34-B08FCDADD707}" destId="{BC5F315F-206D-4099-8417-624AD8F45CAF}" srcOrd="0" destOrd="0" presId="urn:microsoft.com/office/officeart/2005/8/layout/hList7"/>
    <dgm:cxn modelId="{FFA230CC-0EC8-4046-B719-CD4683112CAC}" type="presOf" srcId="{10914A48-4677-46B7-861A-3CB68678B0E0}" destId="{6DA30D9C-6101-4A8F-AF8B-3721EB0600D0}" srcOrd="0" destOrd="0" presId="urn:microsoft.com/office/officeart/2005/8/layout/hList7"/>
    <dgm:cxn modelId="{2A3C17D1-68F5-4886-AA0A-2CC9AE54B1AD}" type="presParOf" srcId="{5975A2B1-C908-4A1C-B242-E419A049932B}" destId="{1DA963CD-36D0-4172-99F9-42567041A25B}" srcOrd="0" destOrd="0" presId="urn:microsoft.com/office/officeart/2005/8/layout/hList7"/>
    <dgm:cxn modelId="{2D8B6103-1724-4C4A-9606-B33F9ECC24D8}" type="presParOf" srcId="{5975A2B1-C908-4A1C-B242-E419A049932B}" destId="{776B89C4-4CA3-4430-A3E0-631715499FF3}" srcOrd="1" destOrd="0" presId="urn:microsoft.com/office/officeart/2005/8/layout/hList7"/>
    <dgm:cxn modelId="{BF43D890-1AFB-4DBD-8C85-0B13264E74E8}" type="presParOf" srcId="{776B89C4-4CA3-4430-A3E0-631715499FF3}" destId="{A6CF3200-8B1B-4266-AD97-EA3C10CEB8EC}" srcOrd="0" destOrd="0" presId="urn:microsoft.com/office/officeart/2005/8/layout/hList7"/>
    <dgm:cxn modelId="{D58C9443-CA1B-4C33-B035-BF3ABBFC77DC}" type="presParOf" srcId="{A6CF3200-8B1B-4266-AD97-EA3C10CEB8EC}" destId="{5715855D-0AB7-43D6-BE12-1BB46DEF74EE}" srcOrd="0" destOrd="0" presId="urn:microsoft.com/office/officeart/2005/8/layout/hList7"/>
    <dgm:cxn modelId="{A7AA1B2F-59F2-43DF-A98F-ADF05009D84C}" type="presParOf" srcId="{A6CF3200-8B1B-4266-AD97-EA3C10CEB8EC}" destId="{FCC7524C-8587-4911-827B-E5264B2EDC76}" srcOrd="1" destOrd="0" presId="urn:microsoft.com/office/officeart/2005/8/layout/hList7"/>
    <dgm:cxn modelId="{67222A0A-6C5F-492C-A276-D4C33E6C131E}" type="presParOf" srcId="{A6CF3200-8B1B-4266-AD97-EA3C10CEB8EC}" destId="{3593BF0C-5296-406B-AEFE-DC4DB5E62769}" srcOrd="2" destOrd="0" presId="urn:microsoft.com/office/officeart/2005/8/layout/hList7"/>
    <dgm:cxn modelId="{4A26EF47-C943-4863-8D20-DDF2DC0352CF}" type="presParOf" srcId="{A6CF3200-8B1B-4266-AD97-EA3C10CEB8EC}" destId="{88926E0E-F4F4-49CD-9F57-FCB17BA50C93}" srcOrd="3" destOrd="0" presId="urn:microsoft.com/office/officeart/2005/8/layout/hList7"/>
    <dgm:cxn modelId="{3CF9A909-C7C2-439F-8624-D2F31BEF7A5A}" type="presParOf" srcId="{776B89C4-4CA3-4430-A3E0-631715499FF3}" destId="{BC5F315F-206D-4099-8417-624AD8F45CAF}" srcOrd="1" destOrd="0" presId="urn:microsoft.com/office/officeart/2005/8/layout/hList7"/>
    <dgm:cxn modelId="{44E3D31C-CE58-41EF-B3C1-8026879DA1DE}" type="presParOf" srcId="{776B89C4-4CA3-4430-A3E0-631715499FF3}" destId="{E8A6AC7A-C670-4591-9BCE-1231ADF072E2}" srcOrd="2" destOrd="0" presId="urn:microsoft.com/office/officeart/2005/8/layout/hList7"/>
    <dgm:cxn modelId="{AD9B42E4-B660-466A-99E8-790BC4D3B22D}" type="presParOf" srcId="{E8A6AC7A-C670-4591-9BCE-1231ADF072E2}" destId="{6DA30D9C-6101-4A8F-AF8B-3721EB0600D0}" srcOrd="0" destOrd="0" presId="urn:microsoft.com/office/officeart/2005/8/layout/hList7"/>
    <dgm:cxn modelId="{CA287022-C70F-47F8-9F47-DE3D20512925}" type="presParOf" srcId="{E8A6AC7A-C670-4591-9BCE-1231ADF072E2}" destId="{B72236A3-D16A-463B-9797-E55E93B70558}" srcOrd="1" destOrd="0" presId="urn:microsoft.com/office/officeart/2005/8/layout/hList7"/>
    <dgm:cxn modelId="{76A98ED3-6D17-4B98-A1C3-4E8A8F939376}" type="presParOf" srcId="{E8A6AC7A-C670-4591-9BCE-1231ADF072E2}" destId="{A486451B-A72B-43DF-8E08-AD13E77F0255}" srcOrd="2" destOrd="0" presId="urn:microsoft.com/office/officeart/2005/8/layout/hList7"/>
    <dgm:cxn modelId="{24EFB227-769E-447D-9F45-1C125E3ED6E2}" type="presParOf" srcId="{E8A6AC7A-C670-4591-9BCE-1231ADF072E2}" destId="{C0314B8E-B3A8-443E-8A8D-99BEA5961A43}" srcOrd="3" destOrd="0" presId="urn:microsoft.com/office/officeart/2005/8/layout/hList7"/>
    <dgm:cxn modelId="{E3A1FEB8-932D-46CD-82D3-CD7BC46D51CB}" type="presParOf" srcId="{776B89C4-4CA3-4430-A3E0-631715499FF3}" destId="{481926FD-1465-4003-B503-647074708BDC}" srcOrd="3" destOrd="0" presId="urn:microsoft.com/office/officeart/2005/8/layout/hList7"/>
    <dgm:cxn modelId="{37AC7671-87BA-453D-A3B8-DD0A35DCA69C}" type="presParOf" srcId="{776B89C4-4CA3-4430-A3E0-631715499FF3}" destId="{D332E511-4D70-4250-9F46-791B36D86EBA}" srcOrd="4" destOrd="0" presId="urn:microsoft.com/office/officeart/2005/8/layout/hList7"/>
    <dgm:cxn modelId="{04AAA449-DEA7-4901-BFB1-288810AA56B4}" type="presParOf" srcId="{D332E511-4D70-4250-9F46-791B36D86EBA}" destId="{EE042A17-B69A-4C4F-B464-359F1039B438}" srcOrd="0" destOrd="0" presId="urn:microsoft.com/office/officeart/2005/8/layout/hList7"/>
    <dgm:cxn modelId="{B6A56328-CF3A-42C4-8370-27A12106EEFF}" type="presParOf" srcId="{D332E511-4D70-4250-9F46-791B36D86EBA}" destId="{A9B9D0EA-6683-4106-A5F6-1FE13982C885}" srcOrd="1" destOrd="0" presId="urn:microsoft.com/office/officeart/2005/8/layout/hList7"/>
    <dgm:cxn modelId="{E60FE004-60CA-4FD8-8376-B39EFFF9FD74}" type="presParOf" srcId="{D332E511-4D70-4250-9F46-791B36D86EBA}" destId="{B4F5C4F8-8C8F-495A-BB8A-0731C815993E}" srcOrd="2" destOrd="0" presId="urn:microsoft.com/office/officeart/2005/8/layout/hList7"/>
    <dgm:cxn modelId="{1BA01B39-5B10-4D09-8B52-4C2DE92DE048}" type="presParOf" srcId="{D332E511-4D70-4250-9F46-791B36D86EBA}" destId="{9888522E-B921-433B-8629-6905659BAC6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661078-EEBD-4403-AC4E-CF66C464EDA4}" type="doc">
      <dgm:prSet loTypeId="urn:microsoft.com/office/officeart/2005/8/layout/hList7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4F00C5E0-D78F-452E-B3DC-2EAA2FE30D71}">
      <dgm:prSet custT="1"/>
      <dgm:spPr/>
      <dgm:t>
        <a:bodyPr/>
        <a:lstStyle/>
        <a:p>
          <a:r>
            <a:rPr lang="ru-RU" sz="1400" dirty="0"/>
            <a:t>1) Альфа-Банк (2015 г.) Альфа-Банк был оштрафован на 100 000 рублей за рассылку SMS-рекламы без согласия абонента. Клиент получил рекламные сообщения даже после того, как попросил исключить его из рассылки. Банк утверждал, что сообщения были информационными, но </a:t>
          </a:r>
          <a:r>
            <a:rPr lang="ru-RU" sz="1400" b="1" dirty="0">
              <a:solidFill>
                <a:schemeClr val="tx1"/>
              </a:solidFill>
            </a:rPr>
            <a:t>ФАС (Федеральная антимонопольная служба)</a:t>
          </a:r>
          <a:r>
            <a:rPr lang="ru-RU" sz="1400" dirty="0">
              <a:solidFill>
                <a:schemeClr val="tx1"/>
              </a:solidFill>
            </a:rPr>
            <a:t> </a:t>
          </a:r>
          <a:r>
            <a:rPr lang="ru-RU" sz="1400" dirty="0"/>
            <a:t>признала их рекламой и наложила штраф.</a:t>
          </a:r>
        </a:p>
      </dgm:t>
    </dgm:pt>
    <dgm:pt modelId="{0FB80B2D-ABD0-4729-B4AA-66D45AC82970}" type="parTrans" cxnId="{A408ECFC-6CEF-4D33-BC97-BF823145B0CF}">
      <dgm:prSet/>
      <dgm:spPr/>
      <dgm:t>
        <a:bodyPr/>
        <a:lstStyle/>
        <a:p>
          <a:endParaRPr lang="ru-RU" sz="1400"/>
        </a:p>
      </dgm:t>
    </dgm:pt>
    <dgm:pt modelId="{62ADD2AA-88E0-45EF-ACB5-359B762AABD2}" type="sibTrans" cxnId="{A408ECFC-6CEF-4D33-BC97-BF823145B0CF}">
      <dgm:prSet/>
      <dgm:spPr/>
      <dgm:t>
        <a:bodyPr/>
        <a:lstStyle/>
        <a:p>
          <a:endParaRPr lang="ru-RU" sz="1400"/>
        </a:p>
      </dgm:t>
    </dgm:pt>
    <dgm:pt modelId="{9EA09224-49BE-4D54-ACBB-8CAA8F3BFBB5}">
      <dgm:prSet custT="1"/>
      <dgm:spPr/>
      <dgm:t>
        <a:bodyPr/>
        <a:lstStyle/>
        <a:p>
          <a:r>
            <a:rPr lang="ru-RU" sz="1400" dirty="0"/>
            <a:t>2) Банк «Открытие» (2020 г.) Клиент банка «Открытие» пожаловался в ФАС на получение рекламных SMS без согласия. Банк утверждал, что сообщение было персональным предложением, а не рекламой. Однако ФАС и суды признали сообщение рекламным и наложили штраф в размере 760 000 рублей. </a:t>
          </a:r>
          <a:r>
            <a:rPr lang="ru-RU" sz="1400" b="1" u="sng" dirty="0">
              <a:solidFill>
                <a:schemeClr val="tx1"/>
              </a:solidFill>
            </a:rPr>
            <a:t>Суд отметил, что даже персонализированные предложения могут считаться рекламой, если они направлены на неопределённый круг лиц.</a:t>
          </a:r>
          <a:endParaRPr lang="ru-RU" sz="1400" b="1" dirty="0">
            <a:solidFill>
              <a:schemeClr val="tx1"/>
            </a:solidFill>
          </a:endParaRPr>
        </a:p>
      </dgm:t>
    </dgm:pt>
    <dgm:pt modelId="{56A26AB0-E4C9-49B6-8BE0-DCAECDC1CEC0}" type="parTrans" cxnId="{0992FC41-917F-47C4-AD30-D9F4AE631253}">
      <dgm:prSet/>
      <dgm:spPr/>
      <dgm:t>
        <a:bodyPr/>
        <a:lstStyle/>
        <a:p>
          <a:endParaRPr lang="ru-RU" sz="1400"/>
        </a:p>
      </dgm:t>
    </dgm:pt>
    <dgm:pt modelId="{15A26D74-72BA-47A1-AB47-2DFD7DE1F19A}" type="sibTrans" cxnId="{0992FC41-917F-47C4-AD30-D9F4AE631253}">
      <dgm:prSet/>
      <dgm:spPr/>
      <dgm:t>
        <a:bodyPr/>
        <a:lstStyle/>
        <a:p>
          <a:endParaRPr lang="ru-RU" sz="1400"/>
        </a:p>
      </dgm:t>
    </dgm:pt>
    <dgm:pt modelId="{40755EF7-4564-4645-8590-171EDCC60AC9}">
      <dgm:prSet custT="1"/>
      <dgm:spPr/>
      <dgm:t>
        <a:bodyPr/>
        <a:lstStyle/>
        <a:p>
          <a:r>
            <a:rPr lang="ru-RU" sz="1400"/>
            <a:t>3) «МегаФон» (2023 г.) В 2023 году ФАС оштрафовала оператора связи «МегаФон» на 500 000 рублей за рассылку SMS-рекламы кредитов без согласия абонентов. Компания утверждала, что согласие было получено при заключении договора, но суды трёх инстанций поддержали решение ФАС, указав на отсутствие надлежащего согласия.</a:t>
          </a:r>
        </a:p>
      </dgm:t>
    </dgm:pt>
    <dgm:pt modelId="{3D3CFE63-7F30-4C67-8C64-5DBFEED4964F}" type="parTrans" cxnId="{0D65B3D2-15D5-4585-8DC0-431F610EBA33}">
      <dgm:prSet/>
      <dgm:spPr/>
      <dgm:t>
        <a:bodyPr/>
        <a:lstStyle/>
        <a:p>
          <a:endParaRPr lang="ru-RU" sz="1400"/>
        </a:p>
      </dgm:t>
    </dgm:pt>
    <dgm:pt modelId="{C215B079-C189-4F2E-B819-A72D26F9E01E}" type="sibTrans" cxnId="{0D65B3D2-15D5-4585-8DC0-431F610EBA33}">
      <dgm:prSet/>
      <dgm:spPr/>
      <dgm:t>
        <a:bodyPr/>
        <a:lstStyle/>
        <a:p>
          <a:endParaRPr lang="ru-RU" sz="1400"/>
        </a:p>
      </dgm:t>
    </dgm:pt>
    <dgm:pt modelId="{2FE544F3-72F3-49A9-B624-2B741284E007}" type="pres">
      <dgm:prSet presAssocID="{09661078-EEBD-4403-AC4E-CF66C464EDA4}" presName="Name0" presStyleCnt="0">
        <dgm:presLayoutVars>
          <dgm:dir/>
          <dgm:resizeHandles val="exact"/>
        </dgm:presLayoutVars>
      </dgm:prSet>
      <dgm:spPr/>
    </dgm:pt>
    <dgm:pt modelId="{7446A651-B04F-4410-AF15-641A03821DC0}" type="pres">
      <dgm:prSet presAssocID="{09661078-EEBD-4403-AC4E-CF66C464EDA4}" presName="fgShape" presStyleLbl="fgShp" presStyleIdx="0" presStyleCnt="1"/>
      <dgm:spPr/>
    </dgm:pt>
    <dgm:pt modelId="{575AB619-DE85-45D2-BEC6-4096C56D5E2E}" type="pres">
      <dgm:prSet presAssocID="{09661078-EEBD-4403-AC4E-CF66C464EDA4}" presName="linComp" presStyleCnt="0"/>
      <dgm:spPr/>
    </dgm:pt>
    <dgm:pt modelId="{69A96B7D-8303-4063-9575-50B5149F8B6C}" type="pres">
      <dgm:prSet presAssocID="{4F00C5E0-D78F-452E-B3DC-2EAA2FE30D71}" presName="compNode" presStyleCnt="0"/>
      <dgm:spPr/>
    </dgm:pt>
    <dgm:pt modelId="{A40F1805-0C54-420B-8820-B8B088783FB5}" type="pres">
      <dgm:prSet presAssocID="{4F00C5E0-D78F-452E-B3DC-2EAA2FE30D71}" presName="bkgdShape" presStyleLbl="node1" presStyleIdx="0" presStyleCnt="3"/>
      <dgm:spPr/>
    </dgm:pt>
    <dgm:pt modelId="{5E548E93-B751-4C16-AE5E-C066B14288BB}" type="pres">
      <dgm:prSet presAssocID="{4F00C5E0-D78F-452E-B3DC-2EAA2FE30D71}" presName="nodeTx" presStyleLbl="node1" presStyleIdx="0" presStyleCnt="3">
        <dgm:presLayoutVars>
          <dgm:bulletEnabled val="1"/>
        </dgm:presLayoutVars>
      </dgm:prSet>
      <dgm:spPr/>
    </dgm:pt>
    <dgm:pt modelId="{7FC9669A-D4B3-4FA6-8FB0-3EE52A5E02D9}" type="pres">
      <dgm:prSet presAssocID="{4F00C5E0-D78F-452E-B3DC-2EAA2FE30D71}" presName="invisiNode" presStyleLbl="node1" presStyleIdx="0" presStyleCnt="3"/>
      <dgm:spPr/>
    </dgm:pt>
    <dgm:pt modelId="{DFB0E594-CAB5-4808-B909-B3F548474B35}" type="pres">
      <dgm:prSet presAssocID="{4F00C5E0-D78F-452E-B3DC-2EAA2FE30D71}" presName="imagNode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07CB5677-99FD-4F09-9455-AE333C7BB003}" type="pres">
      <dgm:prSet presAssocID="{62ADD2AA-88E0-45EF-ACB5-359B762AABD2}" presName="sibTrans" presStyleLbl="sibTrans2D1" presStyleIdx="0" presStyleCnt="0"/>
      <dgm:spPr/>
    </dgm:pt>
    <dgm:pt modelId="{08DF317F-15D6-4D13-B29E-BC36723D56BD}" type="pres">
      <dgm:prSet presAssocID="{9EA09224-49BE-4D54-ACBB-8CAA8F3BFBB5}" presName="compNode" presStyleCnt="0"/>
      <dgm:spPr/>
    </dgm:pt>
    <dgm:pt modelId="{E1722AF4-2FCC-48AA-AB0B-6E10995F24A9}" type="pres">
      <dgm:prSet presAssocID="{9EA09224-49BE-4D54-ACBB-8CAA8F3BFBB5}" presName="bkgdShape" presStyleLbl="node1" presStyleIdx="1" presStyleCnt="3"/>
      <dgm:spPr/>
    </dgm:pt>
    <dgm:pt modelId="{6B224DE3-6C11-42E1-9C9C-74D211C144F4}" type="pres">
      <dgm:prSet presAssocID="{9EA09224-49BE-4D54-ACBB-8CAA8F3BFBB5}" presName="nodeTx" presStyleLbl="node1" presStyleIdx="1" presStyleCnt="3">
        <dgm:presLayoutVars>
          <dgm:bulletEnabled val="1"/>
        </dgm:presLayoutVars>
      </dgm:prSet>
      <dgm:spPr/>
    </dgm:pt>
    <dgm:pt modelId="{E4085EA5-C895-4980-A5A1-98C7961CCD31}" type="pres">
      <dgm:prSet presAssocID="{9EA09224-49BE-4D54-ACBB-8CAA8F3BFBB5}" presName="invisiNode" presStyleLbl="node1" presStyleIdx="1" presStyleCnt="3"/>
      <dgm:spPr/>
    </dgm:pt>
    <dgm:pt modelId="{9CD1D609-A50B-4F0D-8D24-6D86006A1A71}" type="pres">
      <dgm:prSet presAssocID="{9EA09224-49BE-4D54-ACBB-8CAA8F3BFBB5}" presName="imagNode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75625F42-08F6-44BF-A71A-960E918D9E8A}" type="pres">
      <dgm:prSet presAssocID="{15A26D74-72BA-47A1-AB47-2DFD7DE1F19A}" presName="sibTrans" presStyleLbl="sibTrans2D1" presStyleIdx="0" presStyleCnt="0"/>
      <dgm:spPr/>
    </dgm:pt>
    <dgm:pt modelId="{2E31CA4B-2822-4C25-BD5D-183D7B046369}" type="pres">
      <dgm:prSet presAssocID="{40755EF7-4564-4645-8590-171EDCC60AC9}" presName="compNode" presStyleCnt="0"/>
      <dgm:spPr/>
    </dgm:pt>
    <dgm:pt modelId="{ABE81E8B-B7BB-4EBA-9207-7600B6A1E38A}" type="pres">
      <dgm:prSet presAssocID="{40755EF7-4564-4645-8590-171EDCC60AC9}" presName="bkgdShape" presStyleLbl="node1" presStyleIdx="2" presStyleCnt="3"/>
      <dgm:spPr/>
    </dgm:pt>
    <dgm:pt modelId="{20F4B13A-DA7E-4AD7-859B-8D029ACCB2C9}" type="pres">
      <dgm:prSet presAssocID="{40755EF7-4564-4645-8590-171EDCC60AC9}" presName="nodeTx" presStyleLbl="node1" presStyleIdx="2" presStyleCnt="3">
        <dgm:presLayoutVars>
          <dgm:bulletEnabled val="1"/>
        </dgm:presLayoutVars>
      </dgm:prSet>
      <dgm:spPr/>
    </dgm:pt>
    <dgm:pt modelId="{FB462175-8186-43CD-B996-39BA19BD5FF8}" type="pres">
      <dgm:prSet presAssocID="{40755EF7-4564-4645-8590-171EDCC60AC9}" presName="invisiNode" presStyleLbl="node1" presStyleIdx="2" presStyleCnt="3"/>
      <dgm:spPr/>
    </dgm:pt>
    <dgm:pt modelId="{8FA779E2-D5AE-4636-946D-8534CB7C7515}" type="pres">
      <dgm:prSet presAssocID="{40755EF7-4564-4645-8590-171EDCC60AC9}" presName="imagNode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</dgm:spPr>
    </dgm:pt>
  </dgm:ptLst>
  <dgm:cxnLst>
    <dgm:cxn modelId="{683F0D0F-2FBA-45C8-83A2-5CFE63B26DC1}" type="presOf" srcId="{40755EF7-4564-4645-8590-171EDCC60AC9}" destId="{ABE81E8B-B7BB-4EBA-9207-7600B6A1E38A}" srcOrd="0" destOrd="0" presId="urn:microsoft.com/office/officeart/2005/8/layout/hList7"/>
    <dgm:cxn modelId="{0992FC41-917F-47C4-AD30-D9F4AE631253}" srcId="{09661078-EEBD-4403-AC4E-CF66C464EDA4}" destId="{9EA09224-49BE-4D54-ACBB-8CAA8F3BFBB5}" srcOrd="1" destOrd="0" parTransId="{56A26AB0-E4C9-49B6-8BE0-DCAECDC1CEC0}" sibTransId="{15A26D74-72BA-47A1-AB47-2DFD7DE1F19A}"/>
    <dgm:cxn modelId="{75A2034C-BD77-4077-8724-A3F7CE8E4D7C}" type="presOf" srcId="{15A26D74-72BA-47A1-AB47-2DFD7DE1F19A}" destId="{75625F42-08F6-44BF-A71A-960E918D9E8A}" srcOrd="0" destOrd="0" presId="urn:microsoft.com/office/officeart/2005/8/layout/hList7"/>
    <dgm:cxn modelId="{D8063390-81EE-4FEC-865E-C5B7D110C360}" type="presOf" srcId="{9EA09224-49BE-4D54-ACBB-8CAA8F3BFBB5}" destId="{E1722AF4-2FCC-48AA-AB0B-6E10995F24A9}" srcOrd="0" destOrd="0" presId="urn:microsoft.com/office/officeart/2005/8/layout/hList7"/>
    <dgm:cxn modelId="{422A16B6-9B6D-49DC-8DE8-21A14BA9F416}" type="presOf" srcId="{4F00C5E0-D78F-452E-B3DC-2EAA2FE30D71}" destId="{A40F1805-0C54-420B-8820-B8B088783FB5}" srcOrd="0" destOrd="0" presId="urn:microsoft.com/office/officeart/2005/8/layout/hList7"/>
    <dgm:cxn modelId="{83B72AB6-755D-4599-B131-B4A5ADEAA943}" type="presOf" srcId="{40755EF7-4564-4645-8590-171EDCC60AC9}" destId="{20F4B13A-DA7E-4AD7-859B-8D029ACCB2C9}" srcOrd="1" destOrd="0" presId="urn:microsoft.com/office/officeart/2005/8/layout/hList7"/>
    <dgm:cxn modelId="{3A1897C6-BEB1-4F05-B1A2-37D54B957DC8}" type="presOf" srcId="{4F00C5E0-D78F-452E-B3DC-2EAA2FE30D71}" destId="{5E548E93-B751-4C16-AE5E-C066B14288BB}" srcOrd="1" destOrd="0" presId="urn:microsoft.com/office/officeart/2005/8/layout/hList7"/>
    <dgm:cxn modelId="{B6173ECC-7ACF-4464-993E-9258BD151996}" type="presOf" srcId="{9EA09224-49BE-4D54-ACBB-8CAA8F3BFBB5}" destId="{6B224DE3-6C11-42E1-9C9C-74D211C144F4}" srcOrd="1" destOrd="0" presId="urn:microsoft.com/office/officeart/2005/8/layout/hList7"/>
    <dgm:cxn modelId="{0D65B3D2-15D5-4585-8DC0-431F610EBA33}" srcId="{09661078-EEBD-4403-AC4E-CF66C464EDA4}" destId="{40755EF7-4564-4645-8590-171EDCC60AC9}" srcOrd="2" destOrd="0" parTransId="{3D3CFE63-7F30-4C67-8C64-5DBFEED4964F}" sibTransId="{C215B079-C189-4F2E-B819-A72D26F9E01E}"/>
    <dgm:cxn modelId="{5237F2D7-AC8F-470A-AF91-2CAC9B63C0F5}" type="presOf" srcId="{62ADD2AA-88E0-45EF-ACB5-359B762AABD2}" destId="{07CB5677-99FD-4F09-9455-AE333C7BB003}" srcOrd="0" destOrd="0" presId="urn:microsoft.com/office/officeart/2005/8/layout/hList7"/>
    <dgm:cxn modelId="{09388FE4-1EA5-4A53-A6E2-86FE654729C8}" type="presOf" srcId="{09661078-EEBD-4403-AC4E-CF66C464EDA4}" destId="{2FE544F3-72F3-49A9-B624-2B741284E007}" srcOrd="0" destOrd="0" presId="urn:microsoft.com/office/officeart/2005/8/layout/hList7"/>
    <dgm:cxn modelId="{A408ECFC-6CEF-4D33-BC97-BF823145B0CF}" srcId="{09661078-EEBD-4403-AC4E-CF66C464EDA4}" destId="{4F00C5E0-D78F-452E-B3DC-2EAA2FE30D71}" srcOrd="0" destOrd="0" parTransId="{0FB80B2D-ABD0-4729-B4AA-66D45AC82970}" sibTransId="{62ADD2AA-88E0-45EF-ACB5-359B762AABD2}"/>
    <dgm:cxn modelId="{03AF1FC8-B5E9-448E-BFA1-10FFFFC7F5DA}" type="presParOf" srcId="{2FE544F3-72F3-49A9-B624-2B741284E007}" destId="{7446A651-B04F-4410-AF15-641A03821DC0}" srcOrd="0" destOrd="0" presId="urn:microsoft.com/office/officeart/2005/8/layout/hList7"/>
    <dgm:cxn modelId="{B560055F-3E8C-4639-8F6D-296C6D3CEEA7}" type="presParOf" srcId="{2FE544F3-72F3-49A9-B624-2B741284E007}" destId="{575AB619-DE85-45D2-BEC6-4096C56D5E2E}" srcOrd="1" destOrd="0" presId="urn:microsoft.com/office/officeart/2005/8/layout/hList7"/>
    <dgm:cxn modelId="{7C68CD65-C6C0-498D-927B-C4E7636BEA06}" type="presParOf" srcId="{575AB619-DE85-45D2-BEC6-4096C56D5E2E}" destId="{69A96B7D-8303-4063-9575-50B5149F8B6C}" srcOrd="0" destOrd="0" presId="urn:microsoft.com/office/officeart/2005/8/layout/hList7"/>
    <dgm:cxn modelId="{609AF7D9-B9A3-436E-AFE5-E74DAF08BCAE}" type="presParOf" srcId="{69A96B7D-8303-4063-9575-50B5149F8B6C}" destId="{A40F1805-0C54-420B-8820-B8B088783FB5}" srcOrd="0" destOrd="0" presId="urn:microsoft.com/office/officeart/2005/8/layout/hList7"/>
    <dgm:cxn modelId="{7A5B2E7F-3BC7-43F5-A83A-5898F6F0D620}" type="presParOf" srcId="{69A96B7D-8303-4063-9575-50B5149F8B6C}" destId="{5E548E93-B751-4C16-AE5E-C066B14288BB}" srcOrd="1" destOrd="0" presId="urn:microsoft.com/office/officeart/2005/8/layout/hList7"/>
    <dgm:cxn modelId="{22C35E63-C9C8-418F-B431-A0476D40FC8E}" type="presParOf" srcId="{69A96B7D-8303-4063-9575-50B5149F8B6C}" destId="{7FC9669A-D4B3-4FA6-8FB0-3EE52A5E02D9}" srcOrd="2" destOrd="0" presId="urn:microsoft.com/office/officeart/2005/8/layout/hList7"/>
    <dgm:cxn modelId="{90C64C3F-D4D1-4E06-903C-9084E68B75D3}" type="presParOf" srcId="{69A96B7D-8303-4063-9575-50B5149F8B6C}" destId="{DFB0E594-CAB5-4808-B909-B3F548474B35}" srcOrd="3" destOrd="0" presId="urn:microsoft.com/office/officeart/2005/8/layout/hList7"/>
    <dgm:cxn modelId="{098E73D9-A506-4F19-87B5-F97FF1BD7647}" type="presParOf" srcId="{575AB619-DE85-45D2-BEC6-4096C56D5E2E}" destId="{07CB5677-99FD-4F09-9455-AE333C7BB003}" srcOrd="1" destOrd="0" presId="urn:microsoft.com/office/officeart/2005/8/layout/hList7"/>
    <dgm:cxn modelId="{85624C33-BEAB-43F2-A4F9-46E3BEE3FB2A}" type="presParOf" srcId="{575AB619-DE85-45D2-BEC6-4096C56D5E2E}" destId="{08DF317F-15D6-4D13-B29E-BC36723D56BD}" srcOrd="2" destOrd="0" presId="urn:microsoft.com/office/officeart/2005/8/layout/hList7"/>
    <dgm:cxn modelId="{2A5E4D0B-07F9-4C70-A3A7-470BBA010BA6}" type="presParOf" srcId="{08DF317F-15D6-4D13-B29E-BC36723D56BD}" destId="{E1722AF4-2FCC-48AA-AB0B-6E10995F24A9}" srcOrd="0" destOrd="0" presId="urn:microsoft.com/office/officeart/2005/8/layout/hList7"/>
    <dgm:cxn modelId="{25CE4F86-D9BF-4F96-B4FB-0687AA14BC8F}" type="presParOf" srcId="{08DF317F-15D6-4D13-B29E-BC36723D56BD}" destId="{6B224DE3-6C11-42E1-9C9C-74D211C144F4}" srcOrd="1" destOrd="0" presId="urn:microsoft.com/office/officeart/2005/8/layout/hList7"/>
    <dgm:cxn modelId="{415AEB22-7DCF-46FF-B16B-85F44FC91372}" type="presParOf" srcId="{08DF317F-15D6-4D13-B29E-BC36723D56BD}" destId="{E4085EA5-C895-4980-A5A1-98C7961CCD31}" srcOrd="2" destOrd="0" presId="urn:microsoft.com/office/officeart/2005/8/layout/hList7"/>
    <dgm:cxn modelId="{802FC4B7-C00E-40D1-9DF2-7D6BB74F8557}" type="presParOf" srcId="{08DF317F-15D6-4D13-B29E-BC36723D56BD}" destId="{9CD1D609-A50B-4F0D-8D24-6D86006A1A71}" srcOrd="3" destOrd="0" presId="urn:microsoft.com/office/officeart/2005/8/layout/hList7"/>
    <dgm:cxn modelId="{D0FDC2C7-5F7A-4BFE-9831-1E8AB6FC813A}" type="presParOf" srcId="{575AB619-DE85-45D2-BEC6-4096C56D5E2E}" destId="{75625F42-08F6-44BF-A71A-960E918D9E8A}" srcOrd="3" destOrd="0" presId="urn:microsoft.com/office/officeart/2005/8/layout/hList7"/>
    <dgm:cxn modelId="{90D548BB-CD5D-4F07-900B-EA0E1B1E8CA9}" type="presParOf" srcId="{575AB619-DE85-45D2-BEC6-4096C56D5E2E}" destId="{2E31CA4B-2822-4C25-BD5D-183D7B046369}" srcOrd="4" destOrd="0" presId="urn:microsoft.com/office/officeart/2005/8/layout/hList7"/>
    <dgm:cxn modelId="{F6A12669-1639-49D2-8C8A-C8B4CD74E894}" type="presParOf" srcId="{2E31CA4B-2822-4C25-BD5D-183D7B046369}" destId="{ABE81E8B-B7BB-4EBA-9207-7600B6A1E38A}" srcOrd="0" destOrd="0" presId="urn:microsoft.com/office/officeart/2005/8/layout/hList7"/>
    <dgm:cxn modelId="{59E0D554-35AC-48EA-A773-7A0F3E1772C2}" type="presParOf" srcId="{2E31CA4B-2822-4C25-BD5D-183D7B046369}" destId="{20F4B13A-DA7E-4AD7-859B-8D029ACCB2C9}" srcOrd="1" destOrd="0" presId="urn:microsoft.com/office/officeart/2005/8/layout/hList7"/>
    <dgm:cxn modelId="{F126679F-A09F-4852-BED3-72957A48FA07}" type="presParOf" srcId="{2E31CA4B-2822-4C25-BD5D-183D7B046369}" destId="{FB462175-8186-43CD-B996-39BA19BD5FF8}" srcOrd="2" destOrd="0" presId="urn:microsoft.com/office/officeart/2005/8/layout/hList7"/>
    <dgm:cxn modelId="{A17CC872-A1C2-4DB2-BCFE-D350DD792A20}" type="presParOf" srcId="{2E31CA4B-2822-4C25-BD5D-183D7B046369}" destId="{8FA779E2-D5AE-4636-946D-8534CB7C7515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A8A8E-B9EC-4002-87B3-72DD98880A10}">
      <dsp:nvSpPr>
        <dsp:cNvPr id="0" name=""/>
        <dsp:cNvSpPr/>
      </dsp:nvSpPr>
      <dsp:spPr>
        <a:xfrm rot="5400000">
          <a:off x="3413251" y="-1374253"/>
          <a:ext cx="970918" cy="396583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объявления, отображающиеся в поисковых системах и на сайтах, в зависимости от введённого запроса или содержимого страницы (например, реклама на Google или Яндексе).</a:t>
          </a:r>
        </a:p>
      </dsp:txBody>
      <dsp:txXfrm rot="-5400000">
        <a:off x="1915794" y="170600"/>
        <a:ext cx="3918436" cy="876126"/>
      </dsp:txXfrm>
    </dsp:sp>
    <dsp:sp modelId="{0B09929A-5C2E-4895-8A36-3FA515B9BFBA}">
      <dsp:nvSpPr>
        <dsp:cNvPr id="0" name=""/>
        <dsp:cNvSpPr/>
      </dsp:nvSpPr>
      <dsp:spPr>
        <a:xfrm>
          <a:off x="283398" y="1838"/>
          <a:ext cx="1632396" cy="12136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/>
            <a:t>Контекстная реклама</a:t>
          </a:r>
          <a:endParaRPr lang="ru-RU" sz="1400" kern="1200" dirty="0"/>
        </a:p>
      </dsp:txBody>
      <dsp:txXfrm>
        <a:off x="342643" y="61083"/>
        <a:ext cx="1513906" cy="1095158"/>
      </dsp:txXfrm>
    </dsp:sp>
    <dsp:sp modelId="{3138DD49-9CE9-40B4-8888-935DCB7EC4C5}">
      <dsp:nvSpPr>
        <dsp:cNvPr id="0" name=""/>
        <dsp:cNvSpPr/>
      </dsp:nvSpPr>
      <dsp:spPr>
        <a:xfrm rot="5400000">
          <a:off x="3397458" y="-99922"/>
          <a:ext cx="970918" cy="3965832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реклама, которая подбирается с учётом демографических, поведенческих и других данных пользователя (например, пол, возраст, интересы, история посещений сайтов).</a:t>
          </a:r>
        </a:p>
      </dsp:txBody>
      <dsp:txXfrm rot="-5400000">
        <a:off x="1900001" y="1444931"/>
        <a:ext cx="3918436" cy="876126"/>
      </dsp:txXfrm>
    </dsp:sp>
    <dsp:sp modelId="{64909786-ED81-4593-8B32-A6F42E2B8FFF}">
      <dsp:nvSpPr>
        <dsp:cNvPr id="0" name=""/>
        <dsp:cNvSpPr/>
      </dsp:nvSpPr>
      <dsp:spPr>
        <a:xfrm>
          <a:off x="283398" y="1276169"/>
          <a:ext cx="1616602" cy="1213648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/>
            <a:t>Таргетированная реклама</a:t>
          </a:r>
          <a:r>
            <a:rPr lang="ru-RU" sz="1400" kern="1200"/>
            <a:t> </a:t>
          </a:r>
        </a:p>
      </dsp:txBody>
      <dsp:txXfrm>
        <a:off x="342643" y="1335414"/>
        <a:ext cx="1498112" cy="1095158"/>
      </dsp:txXfrm>
    </dsp:sp>
    <dsp:sp modelId="{3F7599A8-A1DB-428B-A94F-A8139A85C0D8}">
      <dsp:nvSpPr>
        <dsp:cNvPr id="0" name=""/>
        <dsp:cNvSpPr/>
      </dsp:nvSpPr>
      <dsp:spPr>
        <a:xfrm rot="5400000">
          <a:off x="3444839" y="1174407"/>
          <a:ext cx="970918" cy="3965832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/>
            <a:t>графические или анимированные объявления, размещаемые на различных веб-ресурсах.</a:t>
          </a:r>
        </a:p>
      </dsp:txBody>
      <dsp:txXfrm rot="-5400000">
        <a:off x="1947382" y="2719260"/>
        <a:ext cx="3918436" cy="876126"/>
      </dsp:txXfrm>
    </dsp:sp>
    <dsp:sp modelId="{482BC022-0EF8-4151-B72A-DA82AD3F54A2}">
      <dsp:nvSpPr>
        <dsp:cNvPr id="0" name=""/>
        <dsp:cNvSpPr/>
      </dsp:nvSpPr>
      <dsp:spPr>
        <a:xfrm>
          <a:off x="283398" y="2550499"/>
          <a:ext cx="1663984" cy="1213648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/>
            <a:t>Баннерная реклама</a:t>
          </a:r>
          <a:r>
            <a:rPr lang="ru-RU" sz="1400" kern="1200"/>
            <a:t> </a:t>
          </a:r>
        </a:p>
      </dsp:txBody>
      <dsp:txXfrm>
        <a:off x="342643" y="2609744"/>
        <a:ext cx="1545494" cy="10951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BAB40E-9728-4910-B030-B60B5692400D}">
      <dsp:nvSpPr>
        <dsp:cNvPr id="0" name=""/>
        <dsp:cNvSpPr/>
      </dsp:nvSpPr>
      <dsp:spPr>
        <a:xfrm rot="5400000">
          <a:off x="2932026" y="-1088763"/>
          <a:ext cx="1330910" cy="351129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ролики, которые встраиваются в контент видеохостингов (например, YouTube).</a:t>
          </a:r>
        </a:p>
      </dsp:txBody>
      <dsp:txXfrm rot="-5400000">
        <a:off x="1841833" y="66400"/>
        <a:ext cx="3446326" cy="1200970"/>
      </dsp:txXfrm>
    </dsp:sp>
    <dsp:sp modelId="{95A5E499-8518-44CE-93FC-43939E41EC0E}">
      <dsp:nvSpPr>
        <dsp:cNvPr id="0" name=""/>
        <dsp:cNvSpPr/>
      </dsp:nvSpPr>
      <dsp:spPr>
        <a:xfrm>
          <a:off x="121854" y="73073"/>
          <a:ext cx="1719979" cy="118762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/>
            <a:t>Видеореклама</a:t>
          </a:r>
          <a:endParaRPr lang="ru-RU" sz="1700" kern="1200"/>
        </a:p>
      </dsp:txBody>
      <dsp:txXfrm>
        <a:off x="179829" y="131048"/>
        <a:ext cx="1604029" cy="1071671"/>
      </dsp:txXfrm>
    </dsp:sp>
    <dsp:sp modelId="{6E7B97AC-18BE-4CE0-B4CC-ECC98CDFE98B}">
      <dsp:nvSpPr>
        <dsp:cNvPr id="0" name=""/>
        <dsp:cNvSpPr/>
      </dsp:nvSpPr>
      <dsp:spPr>
        <a:xfrm rot="5400000">
          <a:off x="2784418" y="491692"/>
          <a:ext cx="1648958" cy="3511296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реклама, нацеленная на пользователей, ранее проявивших интерес к определённому товару или услуге (например, возвращение рекламы товара, который пользователь добавлял в корзину).</a:t>
          </a:r>
        </a:p>
      </dsp:txBody>
      <dsp:txXfrm rot="-5400000">
        <a:off x="1853250" y="1503356"/>
        <a:ext cx="3430801" cy="1487968"/>
      </dsp:txXfrm>
    </dsp:sp>
    <dsp:sp modelId="{169F4E53-A679-4655-9419-52FD092C9D01}">
      <dsp:nvSpPr>
        <dsp:cNvPr id="0" name=""/>
        <dsp:cNvSpPr/>
      </dsp:nvSpPr>
      <dsp:spPr>
        <a:xfrm>
          <a:off x="121854" y="1415521"/>
          <a:ext cx="1731395" cy="166363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/>
            <a:t>Ретаргетинг</a:t>
          </a:r>
          <a:r>
            <a:rPr lang="ru-RU" sz="1700" kern="1200"/>
            <a:t> </a:t>
          </a:r>
        </a:p>
      </dsp:txBody>
      <dsp:txXfrm>
        <a:off x="203066" y="1496733"/>
        <a:ext cx="1568971" cy="15012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FBE4B7-9852-4C37-91F7-F30F5FF0C14D}">
      <dsp:nvSpPr>
        <dsp:cNvPr id="0" name=""/>
        <dsp:cNvSpPr/>
      </dsp:nvSpPr>
      <dsp:spPr>
        <a:xfrm rot="5400000">
          <a:off x="3507983" y="-106862"/>
          <a:ext cx="5800682" cy="6014415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1" kern="1200" dirty="0"/>
            <a:t>Контекстный таргетинг</a:t>
          </a:r>
          <a:endParaRPr lang="ru-RU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реклама, отображаемая в зависимости от содержания просматриваемой страницы. Например, на сайте о путешествиях могут показываться объявления турфирм или авиабилетов.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1" kern="1200"/>
            <a:t>Поведенческий таргетинг</a:t>
          </a:r>
          <a:r>
            <a:rPr lang="ru-RU" sz="2000" kern="1200"/>
            <a:t> 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используется для показа рекламы на основе истории действий пользователя в Интернете: какие сайты он посещал, что искал, на какие объявления кликал.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1" kern="1200" dirty="0" err="1"/>
            <a:t>Ретаргетинг</a:t>
          </a:r>
          <a:r>
            <a:rPr lang="ru-RU" sz="2000" b="1" kern="1200" dirty="0"/>
            <a:t> (или ремаркетинг) </a:t>
          </a:r>
          <a:endParaRPr lang="ru-RU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технология, при которой пользователю показывается реклама товаров или услуг, которыми он уже интересовался. Например, если человек заходил на сайт магазина и просматривал определённую модель телефона, ему могут начать показываться баннеры с этим товаром на других сайтах.</a:t>
          </a:r>
        </a:p>
      </dsp:txBody>
      <dsp:txXfrm rot="-5400000">
        <a:off x="3401117" y="283170"/>
        <a:ext cx="5731249" cy="5234350"/>
      </dsp:txXfrm>
    </dsp:sp>
    <dsp:sp modelId="{752D3C36-50EA-4EEE-A299-2B48452EF53B}">
      <dsp:nvSpPr>
        <dsp:cNvPr id="0" name=""/>
        <dsp:cNvSpPr/>
      </dsp:nvSpPr>
      <dsp:spPr>
        <a:xfrm>
          <a:off x="382" y="1269538"/>
          <a:ext cx="3400734" cy="32616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Таргетинг</a:t>
          </a:r>
          <a:r>
            <a:rPr lang="ru-RU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— это настройка рекламных кампаний с учётом определённых характеристик и поведения пользователей. </a:t>
          </a:r>
        </a:p>
      </dsp:txBody>
      <dsp:txXfrm>
        <a:off x="159601" y="1428757"/>
        <a:ext cx="3082296" cy="29431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15855D-0AB7-43D6-BE12-1BB46DEF74EE}">
      <dsp:nvSpPr>
        <dsp:cNvPr id="0" name=""/>
        <dsp:cNvSpPr/>
      </dsp:nvSpPr>
      <dsp:spPr>
        <a:xfrm>
          <a:off x="1491" y="0"/>
          <a:ext cx="2321198" cy="42622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1" kern="1200" dirty="0"/>
            <a:t>Google </a:t>
          </a:r>
          <a:r>
            <a:rPr lang="ru-RU" sz="1300" b="1" kern="1200" dirty="0" err="1"/>
            <a:t>Ads</a:t>
          </a:r>
          <a:r>
            <a:rPr lang="ru-RU" sz="1300" kern="1200" dirty="0"/>
            <a:t> — одна из самых мощных и популярных рекламных платформ в мире, использующая данные из поисковика, YouTube, Gmail и других сервисов Google.</a:t>
          </a:r>
        </a:p>
      </dsp:txBody>
      <dsp:txXfrm>
        <a:off x="1491" y="1704894"/>
        <a:ext cx="2321198" cy="1704894"/>
      </dsp:txXfrm>
    </dsp:sp>
    <dsp:sp modelId="{88926E0E-F4F4-49CD-9F57-FCB17BA50C93}">
      <dsp:nvSpPr>
        <dsp:cNvPr id="0" name=""/>
        <dsp:cNvSpPr/>
      </dsp:nvSpPr>
      <dsp:spPr>
        <a:xfrm>
          <a:off x="452428" y="255734"/>
          <a:ext cx="1419324" cy="1419324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A30D9C-6101-4A8F-AF8B-3721EB0600D0}">
      <dsp:nvSpPr>
        <dsp:cNvPr id="0" name=""/>
        <dsp:cNvSpPr/>
      </dsp:nvSpPr>
      <dsp:spPr>
        <a:xfrm>
          <a:off x="2392326" y="0"/>
          <a:ext cx="2321198" cy="4262236"/>
        </a:xfrm>
        <a:prstGeom prst="roundRect">
          <a:avLst>
            <a:gd name="adj" fmla="val 1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1" kern="1200" dirty="0"/>
            <a:t>Яндекс Директ</a:t>
          </a:r>
          <a:r>
            <a:rPr lang="ru-RU" sz="1300" kern="1200" dirty="0"/>
            <a:t> — крупнейшая рекламная платформа в Рунете, позволяющая размещать контекстную и медийную рекламу на сайтах Яндекса и партнёрских площадках.</a:t>
          </a:r>
        </a:p>
      </dsp:txBody>
      <dsp:txXfrm>
        <a:off x="2392326" y="1704894"/>
        <a:ext cx="2321198" cy="1704894"/>
      </dsp:txXfrm>
    </dsp:sp>
    <dsp:sp modelId="{C0314B8E-B3A8-443E-8A8D-99BEA5961A43}">
      <dsp:nvSpPr>
        <dsp:cNvPr id="0" name=""/>
        <dsp:cNvSpPr/>
      </dsp:nvSpPr>
      <dsp:spPr>
        <a:xfrm>
          <a:off x="2843263" y="255734"/>
          <a:ext cx="1419324" cy="1419324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42A17-B69A-4C4F-B464-359F1039B438}">
      <dsp:nvSpPr>
        <dsp:cNvPr id="0" name=""/>
        <dsp:cNvSpPr/>
      </dsp:nvSpPr>
      <dsp:spPr>
        <a:xfrm>
          <a:off x="4783160" y="0"/>
          <a:ext cx="2321198" cy="4262236"/>
        </a:xfrm>
        <a:prstGeom prst="roundRect">
          <a:avLst>
            <a:gd name="adj" fmla="val 1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1" kern="1200"/>
            <a:t>VK Реклама</a:t>
          </a:r>
          <a:r>
            <a:rPr lang="ru-RU" sz="1300" kern="1200"/>
            <a:t> — платформа для продвижения в социальных сетях ВКонтакте и Одноклассники, активно использующая социально-демографические и поведенческие данные.</a:t>
          </a:r>
        </a:p>
      </dsp:txBody>
      <dsp:txXfrm>
        <a:off x="4783160" y="1704894"/>
        <a:ext cx="2321198" cy="1704894"/>
      </dsp:txXfrm>
    </dsp:sp>
    <dsp:sp modelId="{9888522E-B921-433B-8629-6905659BAC67}">
      <dsp:nvSpPr>
        <dsp:cNvPr id="0" name=""/>
        <dsp:cNvSpPr/>
      </dsp:nvSpPr>
      <dsp:spPr>
        <a:xfrm>
          <a:off x="5234097" y="255734"/>
          <a:ext cx="1419324" cy="1419324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963CD-36D0-4172-99F9-42567041A25B}">
      <dsp:nvSpPr>
        <dsp:cNvPr id="0" name=""/>
        <dsp:cNvSpPr/>
      </dsp:nvSpPr>
      <dsp:spPr>
        <a:xfrm>
          <a:off x="284234" y="3409788"/>
          <a:ext cx="6537382" cy="639335"/>
        </a:xfrm>
        <a:prstGeom prst="left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F1805-0C54-420B-8820-B8B088783FB5}">
      <dsp:nvSpPr>
        <dsp:cNvPr id="0" name=""/>
        <dsp:cNvSpPr/>
      </dsp:nvSpPr>
      <dsp:spPr>
        <a:xfrm>
          <a:off x="2337" y="0"/>
          <a:ext cx="3636779" cy="59033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1) Альфа-Банк (2015 г.) Альфа-Банк был оштрафован на 100 000 рублей за рассылку SMS-рекламы без согласия абонента. Клиент получил рекламные сообщения даже после того, как попросил исключить его из рассылки. Банк утверждал, что сообщения были информационными, но </a:t>
          </a:r>
          <a:r>
            <a:rPr lang="ru-RU" sz="1400" b="1" kern="1200" dirty="0">
              <a:solidFill>
                <a:schemeClr val="tx1"/>
              </a:solidFill>
            </a:rPr>
            <a:t>ФАС (Федеральная антимонопольная служба)</a:t>
          </a:r>
          <a:r>
            <a:rPr lang="ru-RU" sz="1400" kern="1200" dirty="0">
              <a:solidFill>
                <a:schemeClr val="tx1"/>
              </a:solidFill>
            </a:rPr>
            <a:t> </a:t>
          </a:r>
          <a:r>
            <a:rPr lang="ru-RU" sz="1400" kern="1200" dirty="0"/>
            <a:t>признала их рекламой и наложила штраф.</a:t>
          </a:r>
        </a:p>
      </dsp:txBody>
      <dsp:txXfrm>
        <a:off x="2337" y="2361331"/>
        <a:ext cx="3636779" cy="2361331"/>
      </dsp:txXfrm>
    </dsp:sp>
    <dsp:sp modelId="{DFB0E594-CAB5-4808-B909-B3F548474B35}">
      <dsp:nvSpPr>
        <dsp:cNvPr id="0" name=""/>
        <dsp:cNvSpPr/>
      </dsp:nvSpPr>
      <dsp:spPr>
        <a:xfrm>
          <a:off x="837823" y="354199"/>
          <a:ext cx="1965808" cy="1965808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722AF4-2FCC-48AA-AB0B-6E10995F24A9}">
      <dsp:nvSpPr>
        <dsp:cNvPr id="0" name=""/>
        <dsp:cNvSpPr/>
      </dsp:nvSpPr>
      <dsp:spPr>
        <a:xfrm>
          <a:off x="3748220" y="0"/>
          <a:ext cx="3636779" cy="5903328"/>
        </a:xfrm>
        <a:prstGeom prst="roundRect">
          <a:avLst>
            <a:gd name="adj" fmla="val 1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2) Банк «Открытие» (2020 г.) Клиент банка «Открытие» пожаловался в ФАС на получение рекламных SMS без согласия. Банк утверждал, что сообщение было персональным предложением, а не рекламой. Однако ФАС и суды признали сообщение рекламным и наложили штраф в размере 760 000 рублей. </a:t>
          </a:r>
          <a:r>
            <a:rPr lang="ru-RU" sz="1400" b="1" u="sng" kern="1200" dirty="0">
              <a:solidFill>
                <a:schemeClr val="tx1"/>
              </a:solidFill>
            </a:rPr>
            <a:t>Суд отметил, что даже персонализированные предложения могут считаться рекламой, если они направлены на неопределённый круг лиц.</a:t>
          </a:r>
          <a:endParaRPr lang="ru-RU" sz="1400" b="1" kern="1200" dirty="0">
            <a:solidFill>
              <a:schemeClr val="tx1"/>
            </a:solidFill>
          </a:endParaRPr>
        </a:p>
      </dsp:txBody>
      <dsp:txXfrm>
        <a:off x="3748220" y="2361331"/>
        <a:ext cx="3636779" cy="2361331"/>
      </dsp:txXfrm>
    </dsp:sp>
    <dsp:sp modelId="{9CD1D609-A50B-4F0D-8D24-6D86006A1A71}">
      <dsp:nvSpPr>
        <dsp:cNvPr id="0" name=""/>
        <dsp:cNvSpPr/>
      </dsp:nvSpPr>
      <dsp:spPr>
        <a:xfrm>
          <a:off x="4583706" y="354199"/>
          <a:ext cx="1965808" cy="1965808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81E8B-B7BB-4EBA-9207-7600B6A1E38A}">
      <dsp:nvSpPr>
        <dsp:cNvPr id="0" name=""/>
        <dsp:cNvSpPr/>
      </dsp:nvSpPr>
      <dsp:spPr>
        <a:xfrm>
          <a:off x="7494103" y="0"/>
          <a:ext cx="3636779" cy="5903328"/>
        </a:xfrm>
        <a:prstGeom prst="roundRect">
          <a:avLst>
            <a:gd name="adj" fmla="val 1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3) «МегаФон» (2023 г.) В 2023 году ФАС оштрафовала оператора связи «МегаФон» на 500 000 рублей за рассылку SMS-рекламы кредитов без согласия абонентов. Компания утверждала, что согласие было получено при заключении договора, но суды трёх инстанций поддержали решение ФАС, указав на отсутствие надлежащего согласия.</a:t>
          </a:r>
        </a:p>
      </dsp:txBody>
      <dsp:txXfrm>
        <a:off x="7494103" y="2361331"/>
        <a:ext cx="3636779" cy="2361331"/>
      </dsp:txXfrm>
    </dsp:sp>
    <dsp:sp modelId="{8FA779E2-D5AE-4636-946D-8534CB7C7515}">
      <dsp:nvSpPr>
        <dsp:cNvPr id="0" name=""/>
        <dsp:cNvSpPr/>
      </dsp:nvSpPr>
      <dsp:spPr>
        <a:xfrm>
          <a:off x="8329589" y="354199"/>
          <a:ext cx="1965808" cy="1965808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6A651-B04F-4410-AF15-641A03821DC0}">
      <dsp:nvSpPr>
        <dsp:cNvPr id="0" name=""/>
        <dsp:cNvSpPr/>
      </dsp:nvSpPr>
      <dsp:spPr>
        <a:xfrm>
          <a:off x="445328" y="4722662"/>
          <a:ext cx="10242563" cy="885499"/>
        </a:xfrm>
        <a:prstGeom prst="left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69787-FD58-439E-B783-7762FF187933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A6323-2303-4C74-9D87-107DCB0486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49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2DF45A-3337-4626-A6A5-537DC4AFC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4D84F-C0E7-43FE-9998-B078B13D5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7E2B49-1F91-4271-A210-2B430C86E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B75CD-0C8A-4BA8-8FA6-50C60EE573C2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2BCE21-6BD2-47F7-9DFD-F01B978B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A5FAD7-E7C5-4E68-B1D8-A6E49C57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883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7C7E8-5BDE-414C-BA0E-F3932B08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7861C7-5E02-4B19-B94F-95B1D33FE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1AFC7C-92FB-424E-A4CE-2573B0BCD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8B0D-47C6-48EA-BDED-3204E353344C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EE862C-F64F-4476-9D6E-EF03003E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357723-37BA-4EBB-B929-5AFD1E125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22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1BC2B-CF05-44C8-9560-EBF8DD66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D759BC-638F-4B58-B57A-773ED75DE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20AA50-2498-438A-9372-165AC91D6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8C49-0EEA-408B-8304-A4D3831795B0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27D82B-1688-49E8-91EF-2DF3D290C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C64567-8E2D-45E7-8CDC-896AB342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679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5E6E1-234F-4BBA-91C3-ED74AB9BB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255FB0-2275-43E2-BE30-630D3803C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7527B6-521F-4355-8332-A163D7561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0E7E61-92C0-48E3-82FE-6D30DF16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F9972-2CBF-4B15-B5B7-F546BA72C53D}" type="datetime1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CB4350-B5C9-4D2F-899B-BD14BC0D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CC17D1-BEE1-4DBD-AB2A-EB557EBB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488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3368A-F78A-4B08-B60D-D3B79DAD1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646C43-BF20-4394-9A23-586229F47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5BBDEF-D9E8-4F57-B9FA-274D996B0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D1AE2A-8A31-40D9-BB43-1250684FB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1ADA03D-C813-469A-A839-47153214B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7C343B-1F89-41AE-9842-473E6AC4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0744-8BCF-443C-BF52-E721542FF35C}" type="datetime1">
              <a:rPr lang="ru-RU" smtClean="0"/>
              <a:t>16.06.2025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C749E9-84DF-4941-A163-F2FFCAD7F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6BED6C-F41B-45E5-9C18-8E4BD25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36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0F93DB-FA6F-4F68-9A35-EAAF5338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136B46F-DC09-4B09-A1D9-F331E1E6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8F072-F126-4E29-B64F-F734B07D2381}" type="datetime1">
              <a:rPr lang="ru-RU" smtClean="0"/>
              <a:t>16.06.2025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12EE1B-1D46-4EAD-A439-480537E9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E6127F-01B6-4A8E-8856-24A3EE169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08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C1A574-4B50-40E8-8396-2DE55C66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4C5E-A682-4B64-99F8-51E6AC6C2B60}" type="datetime1">
              <a:rPr lang="ru-RU" smtClean="0"/>
              <a:t>16.06.2025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2C1941C-2360-40BB-9246-A76BF96D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FED9CD-9ADC-4F5A-80D5-C82875A2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3585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4400D-6404-4061-A36A-DB1668F7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88309B-C1D8-461C-A26C-62CC02BFD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827720-4FC2-4189-946B-98BB1D7E0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6720BD-C396-488C-8D42-A4534E99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CE32-9891-4880-A1D9-2DBA8E2765BB}" type="datetime1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EACA61-ABD6-469E-AB0F-F8A72D98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373676-6D81-4412-9C3B-50D5F0EC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043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01316-4A9C-45F3-9E20-877036E6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283099A-2F07-46D2-98BE-CD970F61C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A48FB8-6F35-4664-A5D1-73D6056E7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E2E69E-396E-43E2-B85A-424755C3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909A-B257-4297-B48F-24EDCFC258C3}" type="datetime1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9AA9D6-077A-445B-9570-DA1ECFF2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AB2674-605E-4F77-BD56-116381248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34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EE0F1-E7AA-4BEF-ABF5-E2F390D5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398025-89F2-4280-9D19-1E5FD12FA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A083FD-8CCE-4528-9E0C-6BEA0FCF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50FF-2478-4574-8F7A-6BD755FBC069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FB300-56BE-4B4C-8A82-8516978FB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9D071F-350B-4EE3-AFC2-08659B0F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55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2A8DA89-86E3-4C2B-BB91-C8562606C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559232-CB9F-4E5D-BF4D-D385926D7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F858DE-B3D1-486E-BB61-11765B411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0B6C-4808-491F-8B1B-B8CC15ED71E1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9BDCBA-DFBF-4E15-8A4D-63C4AE291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E6AD72-55A7-4D85-84F0-9F08818F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73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D7F068-FA5F-4DD6-B3DE-88D3CB51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15C18B-1561-455E-ACEC-24C4B32D3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13A885-EC5B-41DB-9266-39D3FE9CF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1C2C0-8BB1-43F2-9733-DC7C0BE58D0F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0AA97A-15B4-4FD4-A3C3-50AE3EEB2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E926B3-5AC4-4A52-BEBC-094163AC3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DEDB6-1A77-455C-A667-0D58C11CDB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60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target.vk.ru/pro/education/online-course/start/targeted-advertising" TargetMode="External"/><Relationship Id="rId2" Type="http://schemas.openxmlformats.org/officeDocument/2006/relationships/hyperlink" Target="https://vc.ru/legal/1806639-spam-kogda-reklama-stanovitsya-vne-zakona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t.technology/blog/user-dat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9F8D3B7-BD13-0513-A5D1-A8DBA3721408}"/>
              </a:ext>
            </a:extLst>
          </p:cNvPr>
          <p:cNvSpPr txBox="1">
            <a:spLocks/>
          </p:cNvSpPr>
          <p:nvPr/>
        </p:nvSpPr>
        <p:spPr>
          <a:xfrm>
            <a:off x="1336555" y="686463"/>
            <a:ext cx="9143999" cy="36933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706E82-BC64-4BDD-4AC4-2DCBB55918DC}"/>
              </a:ext>
            </a:extLst>
          </p:cNvPr>
          <p:cNvSpPr txBox="1"/>
          <p:nvPr/>
        </p:nvSpPr>
        <p:spPr>
          <a:xfrm>
            <a:off x="1417004" y="893054"/>
            <a:ext cx="8983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образования Санкт-Петербургский государственный технологический институт (Технический университет)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1B5441-FE5A-BF12-F57C-D7BA9CA14EE9}"/>
              </a:ext>
            </a:extLst>
          </p:cNvPr>
          <p:cNvSpPr txBox="1"/>
          <p:nvPr/>
        </p:nvSpPr>
        <p:spPr>
          <a:xfrm>
            <a:off x="1913815" y="3138190"/>
            <a:ext cx="8648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Дисциплина: «Правовые основы информатики»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6654B4-4DE4-F9D5-1E31-D1FF6F84ABA0}"/>
              </a:ext>
            </a:extLst>
          </p:cNvPr>
          <p:cNvSpPr txBox="1"/>
          <p:nvPr/>
        </p:nvSpPr>
        <p:spPr>
          <a:xfrm>
            <a:off x="1604448" y="3701089"/>
            <a:ext cx="8983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Спам и реклама – отслеживание интересов в Интернет. Способы и технологии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3CB654-E249-00C3-0D75-48558BEA86B2}"/>
              </a:ext>
            </a:extLst>
          </p:cNvPr>
          <p:cNvSpPr txBox="1"/>
          <p:nvPr/>
        </p:nvSpPr>
        <p:spPr>
          <a:xfrm>
            <a:off x="1852855" y="1744294"/>
            <a:ext cx="87977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подготовки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09.03.03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Прикладная информатика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Направленность образовательной программы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Прикладная информатика в химии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информационных технологий и управления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систем автоматизированного проектирования и управления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1F6653-B979-6C0F-4F2D-A690379C2D81}"/>
              </a:ext>
            </a:extLst>
          </p:cNvPr>
          <p:cNvSpPr txBox="1"/>
          <p:nvPr/>
        </p:nvSpPr>
        <p:spPr>
          <a:xfrm>
            <a:off x="3203740" y="59455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</a:t>
            </a:r>
          </a:p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6A7FFDD-8A36-4763-A623-39EC2174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92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C10097-88CA-4125-9524-B368F94BE9B4}"/>
              </a:ext>
            </a:extLst>
          </p:cNvPr>
          <p:cNvSpPr txBox="1"/>
          <p:nvPr/>
        </p:nvSpPr>
        <p:spPr>
          <a:xfrm>
            <a:off x="1387018" y="1109709"/>
            <a:ext cx="9417963" cy="4062651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	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спама и интернет-рекламы	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 отслеживания интересов пользователей в Интернете	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собранной информации в целях рекламы	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Законодательное регулирование в РФ	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 и примеры	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пользователя и методы противодействия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	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использованных источников	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115218-E07E-4479-833E-9631FC76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EEDEDB6-1A77-455C-A667-0D58C11CDB0F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793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A629500-E636-4DCC-A742-B825939D2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9" r="20103"/>
          <a:stretch/>
        </p:blipFill>
        <p:spPr>
          <a:xfrm>
            <a:off x="5740563" y="814693"/>
            <a:ext cx="5946612" cy="5011834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27CA64F-77F1-4D6C-80BB-9586FF37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28D0A-EE07-4F51-96BD-026F06968F19}"/>
              </a:ext>
            </a:extLst>
          </p:cNvPr>
          <p:cNvSpPr txBox="1"/>
          <p:nvPr/>
        </p:nvSpPr>
        <p:spPr>
          <a:xfrm>
            <a:off x="392229" y="407288"/>
            <a:ext cx="2004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Введение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9B0BF-1CD9-47D8-83D2-E4388EC83EE3}"/>
              </a:ext>
            </a:extLst>
          </p:cNvPr>
          <p:cNvSpPr txBox="1"/>
          <p:nvPr/>
        </p:nvSpPr>
        <p:spPr>
          <a:xfrm>
            <a:off x="392229" y="814693"/>
            <a:ext cx="6865822" cy="501913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indent="449580" algn="just">
              <a:lnSpc>
                <a:spcPct val="115000"/>
              </a:lnSpc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В условиях стремительного развития цифровых технологий и повсеместного использования Интернета особое значение приобретает проблема конфиденциальности личной информации. Сегодня практически каждый пользователь сталкивается с персонализированной рекламой, а также с навязчивыми сообщениями — спамом, который заполняет электронную почту, мессенджеры и соцсети. Всё это становится возможным благодаря технологиям отслеживания интересов пользователей в сети. Актуальность данной темы обусловлена тем, что такие методы затрагивают вопросы не только удобства и маркетинга, но и безопасности персональных данных, а также прав граждан на частную жизнь.</a:t>
            </a:r>
          </a:p>
          <a:p>
            <a:pPr indent="449580" algn="just">
              <a:lnSpc>
                <a:spcPct val="115000"/>
              </a:lnSpc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9975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965198-8894-4B6D-ACE7-56C93A35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241F3-B4C1-4AE2-B623-F9C5B6EE5C01}"/>
              </a:ext>
            </a:extLst>
          </p:cNvPr>
          <p:cNvSpPr txBox="1"/>
          <p:nvPr/>
        </p:nvSpPr>
        <p:spPr>
          <a:xfrm>
            <a:off x="260748" y="286821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Понятие спама и интернет-рекламы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83615-E3C6-4965-97DF-47090D0DE368}"/>
              </a:ext>
            </a:extLst>
          </p:cNvPr>
          <p:cNvSpPr txBox="1"/>
          <p:nvPr/>
        </p:nvSpPr>
        <p:spPr>
          <a:xfrm>
            <a:off x="260748" y="916804"/>
            <a:ext cx="10934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Спам</a:t>
            </a: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— это массовая рассылка сообщений рекламного, агитационного или иного характера, </a:t>
            </a:r>
            <a:r>
              <a:rPr lang="ru-RU" sz="20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осуществляемая без согласия получателя. </a:t>
            </a:r>
            <a:endParaRPr lang="ru-RU" sz="20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1AED3-94FA-467F-80E6-38AD9DFB51ED}"/>
              </a:ext>
            </a:extLst>
          </p:cNvPr>
          <p:cNvSpPr txBox="1"/>
          <p:nvPr/>
        </p:nvSpPr>
        <p:spPr>
          <a:xfrm>
            <a:off x="260748" y="1654508"/>
            <a:ext cx="109341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Интернет-реклама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форма продвижения товаров и услуг через цифровые каналы. </a:t>
            </a:r>
          </a:p>
        </p:txBody>
      </p:sp>
      <p:graphicFrame>
        <p:nvGraphicFramePr>
          <p:cNvPr id="16" name="Схема 15">
            <a:extLst>
              <a:ext uri="{FF2B5EF4-FFF2-40B4-BE49-F238E27FC236}">
                <a16:creationId xmlns:a16="http://schemas.microsoft.com/office/drawing/2014/main" id="{A472DC9A-3458-41AC-901B-446B339D67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5602585"/>
              </p:ext>
            </p:extLst>
          </p:nvPr>
        </p:nvGraphicFramePr>
        <p:xfrm>
          <a:off x="0" y="2457260"/>
          <a:ext cx="6196614" cy="3765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7" name="Схема 16">
            <a:extLst>
              <a:ext uri="{FF2B5EF4-FFF2-40B4-BE49-F238E27FC236}">
                <a16:creationId xmlns:a16="http://schemas.microsoft.com/office/drawing/2014/main" id="{FD0E3372-E5B7-4BDB-98F1-11DB7F0B73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999773"/>
              </p:ext>
            </p:extLst>
          </p:nvPr>
        </p:nvGraphicFramePr>
        <p:xfrm>
          <a:off x="6196614" y="2665189"/>
          <a:ext cx="5486400" cy="3080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138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D9C6E1-07AC-4AE3-8FBD-E7DD661FF6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889"/>
          <a:stretch/>
        </p:blipFill>
        <p:spPr>
          <a:xfrm>
            <a:off x="5187179" y="1159261"/>
            <a:ext cx="6547696" cy="431124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965198-8894-4B6D-ACE7-56C93A35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241F3-B4C1-4AE2-B623-F9C5B6EE5C01}"/>
              </a:ext>
            </a:extLst>
          </p:cNvPr>
          <p:cNvSpPr txBox="1"/>
          <p:nvPr/>
        </p:nvSpPr>
        <p:spPr>
          <a:xfrm>
            <a:off x="260748" y="286821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Понятие спама и интернет-рекламы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081ED0-C3A1-4CE8-900B-18426CCD2725}"/>
              </a:ext>
            </a:extLst>
          </p:cNvPr>
          <p:cNvSpPr txBox="1"/>
          <p:nvPr/>
        </p:nvSpPr>
        <p:spPr>
          <a:xfrm>
            <a:off x="260749" y="1159261"/>
            <a:ext cx="6900447" cy="466518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indent="449580" algn="just">
              <a:lnSpc>
                <a:spcPct val="115000"/>
              </a:lnSpc>
            </a:pPr>
            <a:r>
              <a:rPr lang="ru-RU" sz="20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С юридической точки зрения, реклама </a:t>
            </a: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- информация, распространенная любым способом, в любой форме и с использованием любых средств, адресованная неопределенному кругу лиц и направленная на привлечение внимания к объекту рекламирования, формирование или поддержание интереса к нему и его продвижение на рынке  (статья 3 Федерального закона «О рекламе»).</a:t>
            </a:r>
          </a:p>
          <a:p>
            <a:pPr algn="just">
              <a:lnSpc>
                <a:spcPct val="115000"/>
              </a:lnSpc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indent="449580" algn="just">
              <a:lnSpc>
                <a:spcPct val="115000"/>
              </a:lnSpc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При этом, по закону (статья 18 того же закона), </a:t>
            </a:r>
            <a:r>
              <a:rPr lang="ru-RU" sz="20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рассылка рекламы допускается только с предварительного согласия пользователя.</a:t>
            </a:r>
            <a:r>
              <a:rPr lang="ru-RU" sz="20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В противном случае она признаётся незаконной и может квалифицироваться как спам.</a:t>
            </a:r>
          </a:p>
        </p:txBody>
      </p:sp>
    </p:spTree>
    <p:extLst>
      <p:ext uri="{BB962C8B-B14F-4D97-AF65-F5344CB8AC3E}">
        <p14:creationId xmlns:p14="http://schemas.microsoft.com/office/powerpoint/2010/main" val="1970918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C29AEF2-7B1B-4F82-AC22-3ABAF5EAEE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432"/>
          <a:stretch/>
        </p:blipFill>
        <p:spPr>
          <a:xfrm>
            <a:off x="4615312" y="766732"/>
            <a:ext cx="7247823" cy="532453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DDC03-EAB3-456A-8B03-5FED50BBA7E9}"/>
              </a:ext>
            </a:extLst>
          </p:cNvPr>
          <p:cNvSpPr txBox="1"/>
          <p:nvPr/>
        </p:nvSpPr>
        <p:spPr>
          <a:xfrm>
            <a:off x="190098" y="201412"/>
            <a:ext cx="8049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Технологии отслеживания интересов пользователей в Интернете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A590F-FFE9-430B-93A6-CFCFD0786120}"/>
              </a:ext>
            </a:extLst>
          </p:cNvPr>
          <p:cNvSpPr txBox="1"/>
          <p:nvPr/>
        </p:nvSpPr>
        <p:spPr>
          <a:xfrm>
            <a:off x="190098" y="766732"/>
            <a:ext cx="7665580" cy="532453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Cookies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небольшие текстовые файлы, которые веб-сайты сохраняют на устройстве пользователя при посещении. Они позволяют запоминать различные сведения: от настроек языка до содержимого корзины в интернет-магазине. 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виды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cookies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Сессионные куки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временные, удаляются после закрытия браузера.</a:t>
            </a:r>
          </a:p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Постоянные куки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сохраняются на устройстве в течение заданного срока.</a:t>
            </a:r>
          </a:p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Сторонние куки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устанавливаются не сайтом, который посещает пользователь, а сторонними сервисами (например, рекламными сетями), что позволяет отслеживать перемещения пользователя между разными сайтами.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Cookies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являются одним из ключевых инструментов в сборе информации для контекстной и таргетированной рекламы.</a:t>
            </a:r>
          </a:p>
        </p:txBody>
      </p:sp>
    </p:spTree>
    <p:extLst>
      <p:ext uri="{BB962C8B-B14F-4D97-AF65-F5344CB8AC3E}">
        <p14:creationId xmlns:p14="http://schemas.microsoft.com/office/powerpoint/2010/main" val="2278353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4CF0D7B-56A1-4E4B-B1FB-825AE66AB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2756" y="1004727"/>
            <a:ext cx="7091815" cy="4730334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7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DDC03-EAB3-456A-8B03-5FED50BBA7E9}"/>
              </a:ext>
            </a:extLst>
          </p:cNvPr>
          <p:cNvSpPr txBox="1"/>
          <p:nvPr/>
        </p:nvSpPr>
        <p:spPr>
          <a:xfrm>
            <a:off x="190098" y="201412"/>
            <a:ext cx="8049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Технологии отслеживания интересов пользователей в Интернете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CFCBE1-DA55-4E00-9A45-27B760B7ACFD}"/>
              </a:ext>
            </a:extLst>
          </p:cNvPr>
          <p:cNvSpPr txBox="1"/>
          <p:nvPr/>
        </p:nvSpPr>
        <p:spPr>
          <a:xfrm>
            <a:off x="87429" y="1004727"/>
            <a:ext cx="6008571" cy="473033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24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2) </a:t>
            </a:r>
            <a:r>
              <a:rPr lang="ru-RU" sz="24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Трекинг-пиксель (или веб-маяк)</a:t>
            </a:r>
            <a:r>
              <a:rPr lang="ru-RU" sz="24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ru-RU" sz="24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— это крошечное (обычно 1×1 пиксель) прозрачное изображение, встроенное в веб-страницу или электронное письмо. Когда пользователь загружает такую страницу или открывает письмо, пиксель отправляет запрос на сервер, фиксируя факт просмотра, IP-адрес, тип устройства, местоположение и другие данные. Эти технологии часто используются в </a:t>
            </a:r>
            <a:r>
              <a:rPr lang="ru-RU" sz="24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email</a:t>
            </a:r>
            <a:r>
              <a:rPr lang="ru-RU" sz="24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-маркетинге и рекламе для измерения эффективности кампаний.</a:t>
            </a:r>
          </a:p>
        </p:txBody>
      </p:sp>
    </p:spTree>
    <p:extLst>
      <p:ext uri="{BB962C8B-B14F-4D97-AF65-F5344CB8AC3E}">
        <p14:creationId xmlns:p14="http://schemas.microsoft.com/office/powerpoint/2010/main" val="160349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ngerprint: Как это работает и где применяется |Ltespace.com">
            <a:extLst>
              <a:ext uri="{FF2B5EF4-FFF2-40B4-BE49-F238E27FC236}">
                <a16:creationId xmlns:a16="http://schemas.microsoft.com/office/drawing/2014/main" id="{D48120D4-7B22-41A1-B3FC-BC4CF27D01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20"/>
          <a:stretch/>
        </p:blipFill>
        <p:spPr bwMode="auto">
          <a:xfrm>
            <a:off x="5016491" y="1306128"/>
            <a:ext cx="6619875" cy="388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8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DDC03-EAB3-456A-8B03-5FED50BBA7E9}"/>
              </a:ext>
            </a:extLst>
          </p:cNvPr>
          <p:cNvSpPr txBox="1"/>
          <p:nvPr/>
        </p:nvSpPr>
        <p:spPr>
          <a:xfrm>
            <a:off x="190098" y="201412"/>
            <a:ext cx="8049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Технологии отслеживания интересов пользователей в Интернете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C2995-57A6-4447-8895-07BB63B43C1B}"/>
              </a:ext>
            </a:extLst>
          </p:cNvPr>
          <p:cNvSpPr txBox="1"/>
          <p:nvPr/>
        </p:nvSpPr>
        <p:spPr>
          <a:xfrm>
            <a:off x="400312" y="1306128"/>
            <a:ext cx="5694208" cy="388939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3) </a:t>
            </a:r>
            <a:r>
              <a:rPr lang="ru-RU" sz="1800" b="1" kern="5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Fingerprinting</a:t>
            </a:r>
            <a:r>
              <a:rPr lang="ru-RU" sz="18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(цифровой отпечаток устройства)</a:t>
            </a: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— это технология, позволяющая идентифицировать устройство пользователя без использования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cookies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. Сбор данных включает параметры браузера, операционной системы, разрешение экрана, установленные шрифты, часовой пояс, плагины и другие технические характеристики. В совокупности эти данные создают уникальный «отпечаток», по которому можно отслеживать пользователя при повторных визитах, даже если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cookies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были удалены.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Fingerprinting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сложнее обнаружить и заблокировать, чем традиционные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трекеры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8962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68EBBD-82D8-4CA3-B388-F77E8EF80B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48" b="14408"/>
          <a:stretch/>
        </p:blipFill>
        <p:spPr>
          <a:xfrm>
            <a:off x="6709843" y="998561"/>
            <a:ext cx="4769085" cy="218758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DDC03-EAB3-456A-8B03-5FED50BBA7E9}"/>
              </a:ext>
            </a:extLst>
          </p:cNvPr>
          <p:cNvSpPr txBox="1"/>
          <p:nvPr/>
        </p:nvSpPr>
        <p:spPr>
          <a:xfrm>
            <a:off x="190098" y="201412"/>
            <a:ext cx="8049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Технологии отслеживания интересов пользователей в Интернете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2E8B6-FF59-463C-ABF3-C0C4DFBF4AAD}"/>
              </a:ext>
            </a:extLst>
          </p:cNvPr>
          <p:cNvSpPr txBox="1"/>
          <p:nvPr/>
        </p:nvSpPr>
        <p:spPr>
          <a:xfrm>
            <a:off x="276725" y="998562"/>
            <a:ext cx="7019224" cy="218758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4) </a:t>
            </a:r>
            <a:r>
              <a:rPr lang="ru-RU" sz="20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IP-адрес</a:t>
            </a:r>
            <a:r>
              <a:rPr lang="ru-RU" sz="20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— уникальный сетевой адрес, по которому можно определить примерное местоположение пользователя. Современные сайты могут использовать геолокацию для отображения контента, релевантного конкретному региону, а рекламные сети — для показа рекламы, ориентированной на местный рынок.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4DFEA-A5E7-49E7-A61C-6437D59A6110}"/>
              </a:ext>
            </a:extLst>
          </p:cNvPr>
          <p:cNvSpPr txBox="1"/>
          <p:nvPr/>
        </p:nvSpPr>
        <p:spPr>
          <a:xfrm>
            <a:off x="1392855" y="4031399"/>
            <a:ext cx="9406290" cy="14797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Также используются другие идентификаторы, такие как </a:t>
            </a:r>
            <a:r>
              <a:rPr lang="ru-RU" sz="20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ID мобильного устройства, идентификаторы браузера (</a:t>
            </a:r>
            <a:r>
              <a:rPr lang="ru-RU" sz="2000" b="1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user-agent</a:t>
            </a:r>
            <a:r>
              <a:rPr lang="ru-RU" sz="20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), MAC-адреса</a:t>
            </a: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и др. В совокупности они позволяют отслеживать и анализировать поведение пользователей как в Интернете, так и в мобильных приложениях.</a:t>
            </a:r>
          </a:p>
        </p:txBody>
      </p:sp>
    </p:spTree>
    <p:extLst>
      <p:ext uri="{BB962C8B-B14F-4D97-AF65-F5344CB8AC3E}">
        <p14:creationId xmlns:p14="http://schemas.microsoft.com/office/powerpoint/2010/main" val="576510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3A0EE0-5679-47EF-8E7C-965C03B8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02730" y="1024956"/>
            <a:ext cx="6710413" cy="466518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10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DDC03-EAB3-456A-8B03-5FED50BBA7E9}"/>
              </a:ext>
            </a:extLst>
          </p:cNvPr>
          <p:cNvSpPr txBox="1"/>
          <p:nvPr/>
        </p:nvSpPr>
        <p:spPr>
          <a:xfrm>
            <a:off x="478856" y="271511"/>
            <a:ext cx="8049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Технологии отслеживания интересов пользователей в Интернете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81697-FCB0-4438-A3F3-D80EAF89435B}"/>
              </a:ext>
            </a:extLst>
          </p:cNvPr>
          <p:cNvSpPr txBox="1"/>
          <p:nvPr/>
        </p:nvSpPr>
        <p:spPr>
          <a:xfrm>
            <a:off x="478856" y="1024956"/>
            <a:ext cx="5905902" cy="466518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Современные рекламные и аналитические системы активно используют </a:t>
            </a:r>
            <a:r>
              <a:rPr lang="ru-RU" sz="2000" u="sng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алгоритмы машинного обучения (ML) и искусственный интеллект (ИИ)</a:t>
            </a: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для обработки собранных данных. Эти технологии позволяют:</a:t>
            </a:r>
          </a:p>
          <a:p>
            <a:pPr algn="just">
              <a:lnSpc>
                <a:spcPct val="115000"/>
              </a:lnSpc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выявлять интересы и предпочтения пользователя;</a:t>
            </a:r>
            <a:endParaRPr lang="ru-RU" sz="20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прогнозировать поведение и вероятные покупки;</a:t>
            </a:r>
            <a:endParaRPr lang="ru-RU" sz="20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формировать сегменты аудитории для точного таргетинга;</a:t>
            </a:r>
            <a:endParaRPr lang="ru-RU" sz="20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адаптировать содержание и рекламу в реальном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3530216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1B305-E88D-4DB3-B69A-E5A0436BF787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Использование собранной информации в целях рекламы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BECAC4E5-05C3-4F4C-A06B-25BB8304CF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1887716"/>
              </p:ext>
            </p:extLst>
          </p:nvPr>
        </p:nvGraphicFramePr>
        <p:xfrm>
          <a:off x="1388043" y="750020"/>
          <a:ext cx="9415914" cy="5800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0686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1B305-E88D-4DB3-B69A-E5A0436BF787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Использование собранной информации в целях рекламы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05DA3-DDE7-4E7B-BF5A-B39E417CC0B3}"/>
              </a:ext>
            </a:extLst>
          </p:cNvPr>
          <p:cNvSpPr txBox="1"/>
          <p:nvPr/>
        </p:nvSpPr>
        <p:spPr>
          <a:xfrm>
            <a:off x="305600" y="929185"/>
            <a:ext cx="11658601" cy="64633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Крупнейшие интернет-компании предлагают свои платформы для запуска рекламных кампаний, собирая и обрабатывая огромные объёмы пользовательских данных. </a:t>
            </a:r>
            <a:endParaRPr lang="ru-RU" dirty="0"/>
          </a:p>
        </p:txBody>
      </p:sp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B32F8B6A-A0F2-4863-A858-86E86ECC8A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750188"/>
              </p:ext>
            </p:extLst>
          </p:nvPr>
        </p:nvGraphicFramePr>
        <p:xfrm>
          <a:off x="2581974" y="1899165"/>
          <a:ext cx="7105851" cy="4262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622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1B305-E88D-4DB3-B69A-E5A0436BF787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Законодательное регулирование в РФ</a:t>
            </a:r>
            <a:endParaRPr lang="ru-RU" sz="2000" b="1" kern="5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3C622-B6B0-4E45-B1CC-0BD4519FAD8E}"/>
              </a:ext>
            </a:extLst>
          </p:cNvPr>
          <p:cNvSpPr txBox="1"/>
          <p:nvPr/>
        </p:nvSpPr>
        <p:spPr>
          <a:xfrm>
            <a:off x="1161648" y="1038455"/>
            <a:ext cx="9868703" cy="51635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>
                <a:alpha val="0"/>
              </a:srgb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Федеральный закон "О персональных данных" №152-ФЗ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Федеральный закон №152-ФЗ от 27 июля 2006 года «О персональных данных» 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регулирует порядок сбора, хранения, использования и распространения персональной информации. </a:t>
            </a: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Персональные данные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это любая информация, прямо или косвенно относящаяся к определённому или определяемому физическому лицу (например, ФИО, адрес, номер телефона, IP-адрес, данные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cookie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и т. д.).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Согласно закону, обработка персональных данных возможна только при наличии законных оснований, и должна осуществляться с соблюдением принципов минимизации, целесообразности и безопасности.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Одним из ключевых положений закона является требование получения предварительного согласия субъекта персональных данных на их обработку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 Это согласие должно быть информированным, конкретным и добровольным. Без него любая сборка и анализ пользовательской информации (включая с помощью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cookies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и других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трекеров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считается нарушением закона.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65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1B305-E88D-4DB3-B69A-E5A0436BF787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Законодательное регулирование в РФ</a:t>
            </a:r>
            <a:endParaRPr lang="ru-RU" sz="2000" b="1" kern="5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5BB4B6-3C90-4580-9F37-6E05BEE1AB80}"/>
              </a:ext>
            </a:extLst>
          </p:cNvPr>
          <p:cNvSpPr txBox="1"/>
          <p:nvPr/>
        </p:nvSpPr>
        <p:spPr>
          <a:xfrm>
            <a:off x="2037748" y="1325026"/>
            <a:ext cx="8886926" cy="420794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2) Федеральный закон "О рекламе" №38-ФЗ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Статья 18 Федерального закона №38-ФЗ от 13 марта 2006 года «О рекламе» 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устанавливает специальные требования к распространению рекламы в электронной форме. Основное правило — </a:t>
            </a: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реклама может быть направлена пользователю только при наличии его предварительного согласия.</a:t>
            </a:r>
            <a:endParaRPr lang="ru-RU" sz="1800" kern="5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Закон прямо запрещает распространение рекламы через электронную почту, мессенджеры и иные каналы без предварительного согласия абонента или получателя. При этом рекламодатель обязан обеспечить возможность отказа от дальнейшего получения рекламы в каждом сообщении. Нарушение этих требований признаётся незаконной рекламной деятельностью и может повлечь административную ответственность.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388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1B305-E88D-4DB3-B69A-E5A0436BF787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Законодательное регулирование в РФ</a:t>
            </a:r>
            <a:endParaRPr lang="ru-RU" sz="2000" b="1" kern="5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31B9D1-2A25-4D5A-88A0-FF98FC236809}"/>
              </a:ext>
            </a:extLst>
          </p:cNvPr>
          <p:cNvSpPr txBox="1"/>
          <p:nvPr/>
        </p:nvSpPr>
        <p:spPr>
          <a:xfrm>
            <a:off x="2067026" y="1165752"/>
            <a:ext cx="8530389" cy="4526496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3) Федеральный закон №149-ФЗ от 27 июля 2006 года "Об информации, информационных технологиях и о защите информации"</a:t>
            </a: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регулирует принципы сбора, хранения, обработки и защиты информации в цифровой среде. В контексте рекламы и спама он подчёркивает необходимость обеспечения конфиденциальности информации и запрет на распространение данных без соответствующих правовых оснований.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Данный закон также содержит положения о работе операторов информации и </a:t>
            </a: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обязанности обеспечивать безопасность при обработке данных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включая защиту от утечек и несанкционированного доступа.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За нарушения законодательства в области рекламы и защиты персональных данных предусмотрена административная, а в отдельных случаях — уголовная ответственность.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669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1B305-E88D-4DB3-B69A-E5A0436BF787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Законодательное регулирование в РФ</a:t>
            </a:r>
            <a:endParaRPr lang="ru-RU" sz="2000" b="1" kern="5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7B39F-F17E-4CB9-8EA5-941680CBACD5}"/>
              </a:ext>
            </a:extLst>
          </p:cNvPr>
          <p:cNvSpPr txBox="1"/>
          <p:nvPr/>
        </p:nvSpPr>
        <p:spPr>
          <a:xfrm>
            <a:off x="305601" y="731404"/>
            <a:ext cx="8857649" cy="165955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КоАП РФ (Кодекс об административных правонарушениях):</a:t>
            </a:r>
            <a:endParaRPr lang="ru-RU" sz="1800" kern="5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Статья 13.11 — нарушение правил обработки персональных данных;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Статья 14.3 — нарушение законодательства о рекламе, включая рассылку без согласия.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Штрафы могут достигать 100 000–500 000 рублей для юридических лиц.</a:t>
            </a:r>
            <a:endParaRPr lang="ru-RU" sz="1800" kern="5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E67A1-03FA-4705-A9D4-5F8539E935BA}"/>
              </a:ext>
            </a:extLst>
          </p:cNvPr>
          <p:cNvSpPr txBox="1"/>
          <p:nvPr/>
        </p:nvSpPr>
        <p:spPr>
          <a:xfrm>
            <a:off x="305601" y="2649514"/>
            <a:ext cx="9425540" cy="388939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УК РФ (Уголовный кодекс):</a:t>
            </a:r>
            <a:endParaRPr lang="ru-RU" sz="1800" kern="5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 случаях, если рассылка спама связана с мошенничеством, хищением или причинением крупного ущерба, она может квалифицироваться как уголовное преступление (например, по статьям 272, 273, 274 УК РФ — неправомерный доступ к информации, создание вредоносных программ и т. д.).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Основным государственным органом, осуществляющим контроль за соблюдением законодательства в области персональных данных и рекламы, является </a:t>
            </a:r>
            <a:r>
              <a:rPr lang="ru-RU" sz="18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Роскомнадзор</a:t>
            </a: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(Федеральная служба по надзору в сфере связи, информационных технологий и массовых коммуникаций).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781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1B305-E88D-4DB3-B69A-E5A0436BF787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Практика и примеры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3569BA3D-6A56-4895-96E4-50FD0FB7D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6732832"/>
              </p:ext>
            </p:extLst>
          </p:nvPr>
        </p:nvGraphicFramePr>
        <p:xfrm>
          <a:off x="529389" y="818147"/>
          <a:ext cx="11133221" cy="5903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8574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91A82B-57A9-4773-9585-78AC322A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1B305-E88D-4DB3-B69A-E5A0436BF787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Практика и примеры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57C944-D74F-48A6-A0D8-5B8A6245984F}"/>
              </a:ext>
            </a:extLst>
          </p:cNvPr>
          <p:cNvSpPr txBox="1"/>
          <p:nvPr/>
        </p:nvSpPr>
        <p:spPr>
          <a:xfrm>
            <a:off x="305601" y="1006478"/>
            <a:ext cx="6097604" cy="484504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Cambridge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Analytica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(2018) — крупнейший скандал, связанный с незаконным сбором и использованием персональных данных миллионов пользователей Facebook. </a:t>
            </a:r>
            <a:r>
              <a:rPr lang="ru-RU" sz="1800" u="sng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Компания использовала поведенческий анализ для политической рекламы, влияя на выборы и общественное мнение. 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 результате: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Facebook был оштрафован на 5 миллиардов долларов в США;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По всему миру начались реформы законодательства о защите данных;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Внимание общественности к проблеме приватности существенно возросло.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074" name="Picture 2" descr="Cambridge Analytica in Australia deregisters business name | Cambridge  Analytica | The Guardian">
            <a:extLst>
              <a:ext uri="{FF2B5EF4-FFF2-40B4-BE49-F238E27FC236}">
                <a16:creationId xmlns:a16="http://schemas.microsoft.com/office/drawing/2014/main" id="{9C0C1A84-2F87-4E94-92F7-5190D20E2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206" y="1006479"/>
            <a:ext cx="4839102" cy="483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792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F040076-56C3-481E-9154-3A023F63F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19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6E61D-BF2C-4205-BDE9-229F40D408AF}"/>
              </a:ext>
            </a:extLst>
          </p:cNvPr>
          <p:cNvSpPr txBox="1"/>
          <p:nvPr/>
        </p:nvSpPr>
        <p:spPr>
          <a:xfrm>
            <a:off x="305601" y="1247228"/>
            <a:ext cx="11523847" cy="133248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24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Google и Amazon (ЕС, 2020–2022) — получили многомиллионные штрафы за нарушение правил согласия на </a:t>
            </a:r>
            <a:r>
              <a:rPr lang="ru-RU" sz="24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cookies</a:t>
            </a:r>
            <a:r>
              <a:rPr lang="ru-RU" sz="24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и непрозрачность в обработке пользовательских данных.</a:t>
            </a:r>
            <a:endParaRPr lang="ru-RU" sz="24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F74A3-EB43-49CE-9179-457C4533B060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Практика и примеры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pic>
        <p:nvPicPr>
          <p:cNvPr id="4098" name="Picture 2" descr="Amazon запустит платформу для люксовых fashion-брендов - E-pepper.ru |  eCommerce хаб">
            <a:extLst>
              <a:ext uri="{FF2B5EF4-FFF2-40B4-BE49-F238E27FC236}">
                <a16:creationId xmlns:a16="http://schemas.microsoft.com/office/drawing/2014/main" id="{E6E8D0EC-A49C-4A50-ABD6-5CE90AD6A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01" y="3032911"/>
            <a:ext cx="4949793" cy="3056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Google LLC: приложения для Android в Google Play">
            <a:extLst>
              <a:ext uri="{FF2B5EF4-FFF2-40B4-BE49-F238E27FC236}">
                <a16:creationId xmlns:a16="http://schemas.microsoft.com/office/drawing/2014/main" id="{DA284680-C624-437C-A955-C8582B820B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71B58E-4A51-4D56-BEED-8CBDA1635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383" y="3032163"/>
            <a:ext cx="5435065" cy="305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09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A37458-C9BD-4536-9937-59BCBDBA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20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3B8FE-E353-4790-BA88-974CDCEF0643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Практика и примеры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947382-A443-4284-A8DB-E004207FF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68" y="2559201"/>
            <a:ext cx="7643663" cy="36845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518A9C-AC2F-4DDD-90E9-060429F23E0A}"/>
              </a:ext>
            </a:extLst>
          </p:cNvPr>
          <p:cNvSpPr txBox="1"/>
          <p:nvPr/>
        </p:nvSpPr>
        <p:spPr>
          <a:xfrm>
            <a:off x="305600" y="745617"/>
            <a:ext cx="11427595" cy="64633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ru-RU" sz="18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GDPR (</a:t>
            </a:r>
            <a:r>
              <a:rPr lang="en-US" sz="18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General Data Protection Regulation</a:t>
            </a:r>
            <a:r>
              <a:rPr lang="ru-RU" sz="18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ЕС) 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— общий регламент ЕС по защите данных, вступивший в силу в 2018 году, является одной из самых строгих норм в мире в сфере защиты персональных данных.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4803F-49BE-4444-8EB9-0EDA5179408E}"/>
              </a:ext>
            </a:extLst>
          </p:cNvPr>
          <p:cNvSpPr txBox="1"/>
          <p:nvPr/>
        </p:nvSpPr>
        <p:spPr>
          <a:xfrm>
            <a:off x="305599" y="1580985"/>
            <a:ext cx="11427595" cy="64633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sz="18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CCPA California Consumer Privacy Act</a:t>
            </a:r>
            <a:r>
              <a:rPr lang="ru-RU" sz="18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США)</a:t>
            </a:r>
            <a:r>
              <a:rPr lang="ru-RU" sz="18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действует в Калифорнии с 2020 года и распространяется на компании, работающие с данными резидентов штата.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0605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8D9D513-B923-4BC7-A4C6-DB6E26C704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142"/>
          <a:stretch/>
        </p:blipFill>
        <p:spPr>
          <a:xfrm>
            <a:off x="6580972" y="750019"/>
            <a:ext cx="5305427" cy="5800691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A37458-C9BD-4536-9937-59BCBDBA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21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3B8FE-E353-4790-BA88-974CDCEF0643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Защита пользователя и методы противодействия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0A4A8-2DAB-49B3-865C-3D24600768D9}"/>
              </a:ext>
            </a:extLst>
          </p:cNvPr>
          <p:cNvSpPr txBox="1"/>
          <p:nvPr/>
        </p:nvSpPr>
        <p:spPr>
          <a:xfrm>
            <a:off x="305601" y="750020"/>
            <a:ext cx="9310036" cy="580069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1. Возможности отключения трекинга (расширения, настройки браузеров). Инструменты для ограничения сбора данных: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Блокировка сторонних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cookies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— отключение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cookies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, помогает сократить объем собираемой информации.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Режим "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Do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Not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Track" — специальная настройка, при которой браузер сообщает сайтам о нежелании пользователя быть отслеживаемым. Хотя это не является обязательным требованием, многие сайты уважают этот сигнал.</a:t>
            </a:r>
          </a:p>
          <a:p>
            <a:pPr algn="just">
              <a:lnSpc>
                <a:spcPct val="115000"/>
              </a:lnSpc>
            </a:pP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Браузерные расширения: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uBlock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Origin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AdBlock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Plus,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Privacy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Badger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Ghostery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— блокируют рекламные и отслеживающие скрипты;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Cookie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AutoDelete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— автоматически удаляет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cookies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после закрытия вкладки;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NoScript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— запрещает выполнение JavaScript, что защищает от скрытого трекинга.</a:t>
            </a:r>
          </a:p>
        </p:txBody>
      </p:sp>
    </p:spTree>
    <p:extLst>
      <p:ext uri="{BB962C8B-B14F-4D97-AF65-F5344CB8AC3E}">
        <p14:creationId xmlns:p14="http://schemas.microsoft.com/office/powerpoint/2010/main" val="1580838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1201-10D4-460C-BDE2-6FF9E6BC4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898" y="874208"/>
            <a:ext cx="7301796" cy="548214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A37458-C9BD-4536-9937-59BCBDBA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22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3B8FE-E353-4790-BA88-974CDCEF0643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Защита пользователя и методы противодействия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0AE61-BAD7-4361-A2ED-2D27301A0E33}"/>
              </a:ext>
            </a:extLst>
          </p:cNvPr>
          <p:cNvSpPr txBox="1"/>
          <p:nvPr/>
        </p:nvSpPr>
        <p:spPr>
          <a:xfrm>
            <a:off x="305601" y="874208"/>
            <a:ext cx="6094520" cy="548214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2. Антивирусы и фильтры спама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Большинство современных антивирусных программ (Kaspersky,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Dr.Web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, ESET,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Bitdefender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и др.) включают модули защиты от фишинга и нежелательной рекламы.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Почтовые фильтры (например, в Gmail,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Яндекс.Почте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) автоматически распознают и перемещают спам-сообщения во «входящие» и «спам» на основе ключевых слов, репутации отправителя и пользовательской активности.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Некоторые решения, такие как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Spamhaus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, используют централизованные базы спамеров, позволяя мгновенно блокировать массовую рассылку.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Важно периодически проверять настройки фильтров и актуализировать базы данных антивируса.</a:t>
            </a:r>
          </a:p>
        </p:txBody>
      </p:sp>
    </p:spTree>
    <p:extLst>
      <p:ext uri="{BB962C8B-B14F-4D97-AF65-F5344CB8AC3E}">
        <p14:creationId xmlns:p14="http://schemas.microsoft.com/office/powerpoint/2010/main" val="1310867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3FCCD9E7-2458-449C-BD41-217FF5014B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2" r="15097"/>
          <a:stretch/>
        </p:blipFill>
        <p:spPr bwMode="auto">
          <a:xfrm>
            <a:off x="2483316" y="920785"/>
            <a:ext cx="9146432" cy="484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A37458-C9BD-4536-9937-59BCBDBA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23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3B8FE-E353-4790-BA88-974CDCEF0643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Защита пользователя и методы противодействия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9446B-DCBF-410F-ADE7-35BAD5B7CF18}"/>
              </a:ext>
            </a:extLst>
          </p:cNvPr>
          <p:cNvSpPr txBox="1"/>
          <p:nvPr/>
        </p:nvSpPr>
        <p:spPr>
          <a:xfrm>
            <a:off x="305601" y="920784"/>
            <a:ext cx="7182854" cy="484504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3. Использование VPN и режимов конфиденциальности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VPN (Virtual Private Network) — обеспечивает шифрование интернет-трафика и скрытие реального IP-адреса пользователя. Это затрудняет определение его геолокации и других идентификаторов.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Режим инкогнито в браузерах не сохраняет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cookies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, историю просмотров и данные форм после закрытия окна, хотя не защищает от трекинга на уровне сайта или сети.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Браузеры с повышенной конфиденциальностью, такие как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Brave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, автоматически блокируют множество </a:t>
            </a:r>
            <a:r>
              <a:rPr lang="ru-RU" sz="18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трекеров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и используют встроенные технологии шифрования и анонимизации.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Применение этих средств особенно актуально при работе в общественных сетях или при доступе к чувствительной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689143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62F83D-BE61-440D-B88E-DE6DBEB56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276" y="1165752"/>
            <a:ext cx="7100384" cy="4526496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A37458-C9BD-4536-9937-59BCBDBA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24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3B8FE-E353-4790-BA88-974CDCEF0643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Защита пользователя и методы противодействия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C9003-D0B9-47E4-A790-267A33D36595}"/>
              </a:ext>
            </a:extLst>
          </p:cNvPr>
          <p:cNvSpPr txBox="1"/>
          <p:nvPr/>
        </p:nvSpPr>
        <p:spPr>
          <a:xfrm>
            <a:off x="305601" y="1165752"/>
            <a:ext cx="6094520" cy="4526496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800" b="1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4. Повышение цифровой грамотности пользователей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Один из наиболее эффективных способов защиты — информационная осведомлённость: Пользователи должны понимать, что принимая "пользовательские соглашения" и "политику конфиденциальности", они зачастую дают согласие на обработку своих данных. Следует внимательно относиться к доступам, которые запрашивают сайты и приложения (геолокация, контакты, микрофон). Нужно осознанно управлять подписками, отключая ненужные уведомления и сообщения.</a:t>
            </a:r>
          </a:p>
          <a:p>
            <a:pPr algn="just">
              <a:lnSpc>
                <a:spcPct val="115000"/>
              </a:lnSpc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Образовательные курсы, инструкции и вебинары по кибербезопасности доступны на платформах «Госуслуги», «Цифровая гигиена» и других.</a:t>
            </a:r>
          </a:p>
        </p:txBody>
      </p:sp>
    </p:spTree>
    <p:extLst>
      <p:ext uri="{BB962C8B-B14F-4D97-AF65-F5344CB8AC3E}">
        <p14:creationId xmlns:p14="http://schemas.microsoft.com/office/powerpoint/2010/main" val="32332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77360B-8FC6-4CD2-B026-0F67781D10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84" b="12465"/>
          <a:stretch/>
        </p:blipFill>
        <p:spPr>
          <a:xfrm>
            <a:off x="4998776" y="872204"/>
            <a:ext cx="6714368" cy="470898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A37458-C9BD-4536-9937-59BCBDBA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25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3B8FE-E353-4790-BA88-974CDCEF0643}"/>
              </a:ext>
            </a:extLst>
          </p:cNvPr>
          <p:cNvSpPr txBox="1"/>
          <p:nvPr/>
        </p:nvSpPr>
        <p:spPr>
          <a:xfrm>
            <a:off x="478856" y="384291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Заключение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2728F-949E-4110-BFB5-39B099719E84}"/>
              </a:ext>
            </a:extLst>
          </p:cNvPr>
          <p:cNvSpPr txBox="1"/>
          <p:nvPr/>
        </p:nvSpPr>
        <p:spPr>
          <a:xfrm>
            <a:off x="478856" y="872204"/>
            <a:ext cx="6097604" cy="470898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В ходе исследования были рассмотрены механизмы отслеживания пользовательской активности в интернете, формы их использования в рекламных целях, а также законодательные и технические способы защиты от злоупотреблений. Было выяснено, что сбор пользовательских данных осуществляется с помощью различных инструментов — от </a:t>
            </a:r>
            <a:r>
              <a:rPr lang="ru-RU" sz="2000" kern="5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cookies</a:t>
            </a:r>
            <a:r>
              <a:rPr lang="ru-RU" sz="20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и трекинг-пикселей до алгоритмов машинного обучения, способных точно прогнозировать интересы человека. Эти технологии активно применяются крупнейшими рекламными платформами, обеспечивая высокую эффективность маркетинговых кампаний, но при этом вызывая справедливые опасения в отношении вторжения в личную жизнь.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499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A37458-C9BD-4536-9937-59BCBDBA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EDB6-1A77-455C-A667-0D58C11CDB0F}" type="slidenum">
              <a:rPr lang="ru-RU" smtClean="0"/>
              <a:t>26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3B8FE-E353-4790-BA88-974CDCEF0643}"/>
              </a:ext>
            </a:extLst>
          </p:cNvPr>
          <p:cNvSpPr txBox="1"/>
          <p:nvPr/>
        </p:nvSpPr>
        <p:spPr>
          <a:xfrm>
            <a:off x="305601" y="307289"/>
            <a:ext cx="7721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000" b="1" kern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Список использованных источников</a:t>
            </a:r>
            <a:endParaRPr lang="ru-RU" sz="2000" b="1" kern="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FAFDF-BCFA-44D2-BFBA-618D726100E6}"/>
              </a:ext>
            </a:extLst>
          </p:cNvPr>
          <p:cNvSpPr txBox="1"/>
          <p:nvPr/>
        </p:nvSpPr>
        <p:spPr>
          <a:xfrm>
            <a:off x="757191" y="1171568"/>
            <a:ext cx="10677617" cy="424731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Нормативно-правовые акты РФ:</a:t>
            </a:r>
          </a:p>
          <a:p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Федеральный закон от 27.07.2006 № 152-ФЗ «О персональных данных».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Федеральный закон от 13.03.2006 № 38-ФЗ «О рекламе».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Федеральный закон от 27.07.2006 № 149-ФЗ «Об информации, информационных технологиях и о защите информации».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Кодекс Российской Федерации об административных правонарушениях (КоАП РФ).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Уголовный кодекс Российской Федерации (УК РФ).</a:t>
            </a:r>
          </a:p>
          <a:p>
            <a:pPr marL="457200"/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 </a:t>
            </a:r>
          </a:p>
          <a:p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Сайты: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Спам: когда реклама становится вне закона? - </a:t>
            </a:r>
            <a:r>
              <a:rPr lang="ru-RU" sz="1800" u="sng" kern="5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  <a:hlinkClick r:id="rId2"/>
              </a:rPr>
              <a:t>https://vc.ru/legal/1806639-spam-kogda-reklama-stanovitsya-vne-zakona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Что такое таргетированная реклама - </a:t>
            </a:r>
            <a:r>
              <a:rPr lang="ru-RU" sz="1800" u="sng" kern="5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  <a:hlinkClick r:id="rId3"/>
              </a:rPr>
              <a:t>https://target.vk.ru/pro/education/online-course/start/targeted-advertising</a:t>
            </a: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  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sz="1800" kern="5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Методы сбора данных об интернет-пользователях - </a:t>
            </a:r>
            <a:r>
              <a:rPr lang="ru-RU" sz="1800" u="sng" kern="5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Mangal" panose="02040503050203030202" pitchFamily="18" charset="0"/>
                <a:hlinkClick r:id="rId4"/>
              </a:rPr>
              <a:t>https://nt.technology/blog/user-data/</a:t>
            </a:r>
            <a:endParaRPr lang="ru-RU" sz="1800" kern="5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2967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7">
      <a:dk1>
        <a:sysClr val="windowText" lastClr="000000"/>
      </a:dk1>
      <a:lt1>
        <a:srgbClr val="D6DCE4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1596</Words>
  <Application>Microsoft Office PowerPoint</Application>
  <PresentationFormat>Широкоэкранный</PresentationFormat>
  <Paragraphs>204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4" baseType="lpstr">
      <vt:lpstr>SimSun</vt:lpstr>
      <vt:lpstr>Arial</vt:lpstr>
      <vt:lpstr>Calibri</vt:lpstr>
      <vt:lpstr>Calibri Light</vt:lpstr>
      <vt:lpstr>Mangal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GHOST</dc:creator>
  <cp:lastModifiedBy>Маша Шабалкина</cp:lastModifiedBy>
  <cp:revision>18</cp:revision>
  <dcterms:created xsi:type="dcterms:W3CDTF">2025-05-16T01:01:04Z</dcterms:created>
  <dcterms:modified xsi:type="dcterms:W3CDTF">2025-06-15T23:07:17Z</dcterms:modified>
</cp:coreProperties>
</file>