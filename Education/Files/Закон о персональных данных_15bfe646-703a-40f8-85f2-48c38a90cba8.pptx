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91" r:id="rId4"/>
    <p:sldId id="292" r:id="rId5"/>
    <p:sldId id="294" r:id="rId6"/>
    <p:sldId id="293" r:id="rId7"/>
    <p:sldId id="295" r:id="rId8"/>
    <p:sldId id="296" r:id="rId9"/>
    <p:sldId id="297" r:id="rId10"/>
    <p:sldId id="298" r:id="rId11"/>
    <p:sldId id="299" r:id="rId12"/>
    <p:sldId id="300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A872D2-EA0D-4855-BCA0-6A3674553A6E}" type="datetimeFigureOut">
              <a:rPr lang="ru-RU" smtClean="0"/>
              <a:t>16.06.2025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54CD17-B058-40E4-93F8-C6C66C0B99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6346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Образ слайда 1">
            <a:extLst>
              <a:ext uri="{FF2B5EF4-FFF2-40B4-BE49-F238E27FC236}">
                <a16:creationId xmlns:a16="http://schemas.microsoft.com/office/drawing/2014/main" id="{42D986B3-3EFE-455D-927F-475E6FC7BB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Заметки 2">
            <a:extLst>
              <a:ext uri="{FF2B5EF4-FFF2-40B4-BE49-F238E27FC236}">
                <a16:creationId xmlns:a16="http://schemas.microsoft.com/office/drawing/2014/main" id="{B98A377B-C1C9-469A-9F1A-8D4DABA218F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ru-RU" altLang="ru-RU"/>
              <a:t>Красным обозначены места для проверки и указания своих данных.</a:t>
            </a:r>
          </a:p>
          <a:p>
            <a:pPr eaLnBrk="1" hangingPunct="1">
              <a:spcBef>
                <a:spcPct val="0"/>
              </a:spcBef>
            </a:pPr>
            <a:endParaRPr lang="ru-RU" altLang="ru-RU"/>
          </a:p>
          <a:p>
            <a:pPr eaLnBrk="1" hangingPunct="1">
              <a:spcBef>
                <a:spcPct val="0"/>
              </a:spcBef>
            </a:pPr>
            <a:r>
              <a:rPr lang="ru-RU" altLang="ru-RU"/>
              <a:t>Цвет шрифта презентации – черный.</a:t>
            </a:r>
          </a:p>
        </p:txBody>
      </p:sp>
      <p:sp>
        <p:nvSpPr>
          <p:cNvPr id="4100" name="Номер слайда 3">
            <a:extLst>
              <a:ext uri="{FF2B5EF4-FFF2-40B4-BE49-F238E27FC236}">
                <a16:creationId xmlns:a16="http://schemas.microsoft.com/office/drawing/2014/main" id="{82AE85AE-570D-4AED-841D-E5C69F204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9CE177A-77C0-4187-98A2-F6332344ED91}" type="slidenum">
              <a:rPr lang="ru-RU" altLang="ru-RU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ru-RU" altLang="ru-RU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84B05F-FD25-4562-A54E-18E96D4CB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B19B9B5-301C-44FB-A0F0-E30B6219EE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550971-DC7A-4B8C-9ACA-53053A767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ED4B-0DDA-4575-A113-0B5A4BB603FE}" type="datetime1">
              <a:rPr lang="ru-RU" smtClean="0"/>
              <a:t>16.06.2025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FCBA39-A35D-451D-8AC7-78181B652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734494-08E5-449F-A00B-7168D5235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A8958-AC1C-4B89-9480-1F965859B3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89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09B493-18E0-459A-8710-86D75F7D9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A0AEAA-1587-4354-8B7A-A26815AF2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779E44-9922-49F2-A53F-9F03D119D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1AA67-DC64-4F13-8359-910E1F383C70}" type="datetime1">
              <a:rPr lang="ru-RU" smtClean="0"/>
              <a:t>16.06.2025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B4B1D8-BE75-40E2-A42B-66E85769B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A767EF-C04E-4E22-B4E5-0926C0783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A8958-AC1C-4B89-9480-1F965859B3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537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BAA3F3-40ED-4313-BC4C-B1D220E7D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E8249F-EF52-4895-B00D-C861C8F1B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5560FB-DAB3-4D6C-8150-4CEF72DA6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E1B0-DA2E-4CAB-AA10-54A514E4101F}" type="datetime1">
              <a:rPr lang="ru-RU" smtClean="0"/>
              <a:t>16.06.2025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73E16E-A6FE-4A61-A31E-A948BF1E3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4F27D8-2E2D-4C9F-97F4-2D8758735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A8958-AC1C-4B89-9480-1F965859B3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3349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160721-D645-4ABB-B47D-6FBB5A0C6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84B371-EF24-4377-8B5C-55CC432CC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72D2E7-2C7F-4AA3-9447-74433D786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124E8A-D99E-489F-8915-25794B25D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86180-7C59-4081-87E2-5232EA6C3B09}" type="datetime1">
              <a:rPr lang="ru-RU" smtClean="0"/>
              <a:t>16.06.2025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397C18A-4CAD-4F9D-B674-426D68C2A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E67F3C-A5C1-4504-B67F-B5150CD06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A8958-AC1C-4B89-9480-1F965859B3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2974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4CF9EA-193E-4C2C-A96A-0CCF465A1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4E4A06C-CD76-429C-8DFC-1F669E7CD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74F2622-0B02-469E-8865-0C46AAB8FA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AD1B78C-81AB-4861-BC15-145557A48C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2DA8624-8CA4-4DCC-B8BD-097746FC58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220AD7F-1781-4446-8BBC-3581DF817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FA2EC-6497-4B0F-8722-5A3F0E7862B3}" type="datetime1">
              <a:rPr lang="ru-RU" smtClean="0"/>
              <a:t>16.06.2025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146EE25-FB63-4DAA-AA5C-D54870861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93C4096-F18D-445B-AEA0-573CF167B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A8958-AC1C-4B89-9480-1F965859B3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272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C45A17-896C-4548-9C28-371259FB0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34B9083-9D84-4AFB-A1F3-E2A257243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3A664-0B41-454E-AC6B-4205BEA91AE7}" type="datetime1">
              <a:rPr lang="ru-RU" smtClean="0"/>
              <a:t>16.06.2025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969B584-6D15-44A1-BDB1-E9A8F656B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6038BE7-529E-4EAC-8AC1-2AFE74085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A8958-AC1C-4B89-9480-1F965859B3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148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B2AD78D-154F-413C-9958-8D449576E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83C13-4D40-4F60-B0A3-92A717C23FBD}" type="datetime1">
              <a:rPr lang="ru-RU" smtClean="0"/>
              <a:t>16.06.2025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C2F013B-45B0-48D8-9BE5-C3ED28B9D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1DCF5C-93E3-45E6-9369-03644A947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A8958-AC1C-4B89-9480-1F965859B3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7527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0D25C2-5BD4-48AB-B59E-DCD940530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D3EA64-0CE4-40FE-8D97-C2E8B849A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46F386F-F8C9-41C3-9520-4FDC2A805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D0769C-0CFC-4B1B-90C1-C7BD78D19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6B594-610F-4D20-A0F6-A74F5DC03020}" type="datetime1">
              <a:rPr lang="ru-RU" smtClean="0"/>
              <a:t>16.06.2025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61F856D-568E-4FD5-8B3F-FD8AC5BA8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03AFB8C-AD81-4FAD-AB39-858F6970D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A8958-AC1C-4B89-9480-1F965859B3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7734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1A617C-E672-41BC-B2C7-A9764B321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F2AB61-379B-4EE8-AF58-D041855AD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A980BC-5C50-41F1-8325-3E7F3F8BB6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576F8AB-1FDB-4724-B068-C25FEAF4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7E7F3-27EC-4B3D-9834-299CBD3DE633}" type="datetime1">
              <a:rPr lang="ru-RU" smtClean="0"/>
              <a:t>16.06.2025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83354F0-94CB-40F5-A763-A86C19A90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AF3A40-F49A-4222-B3DD-0B893E16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A8958-AC1C-4B89-9480-1F965859B3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1983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121F34-8280-4F02-8C39-D68451276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FF75D29-4890-4BD7-9238-9B5FE58443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97CAB2-C119-404A-98EF-5B21E2181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5C59-3C35-44DC-B650-66DD2032D721}" type="datetime1">
              <a:rPr lang="ru-RU" smtClean="0"/>
              <a:t>16.06.2025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87A2AA-CF4E-4606-A64A-A0DD658D2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B9BFF7-4AD1-4718-A197-BAB7BC248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A8958-AC1C-4B89-9480-1F965859B3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956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20C661C-B330-45A8-AC19-C9524E3D6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B6E256-3C88-410D-9433-8C8AAF129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97CD39-473F-43A4-80F7-EA3DD3AA3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E6F6D-7A2D-47CC-A5F0-1B1179D58B54}" type="datetime1">
              <a:rPr lang="ru-RU" smtClean="0"/>
              <a:t>16.06.2025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F2C63F-399A-46A6-8DDE-2E87F94C6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4FE507-2528-4DA8-AD63-3B43B6C09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A8958-AC1C-4B89-9480-1F965859B3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175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5970FE-3B84-4B26-AFF1-EDBF7FD0E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99F12E-07C5-4B1F-9154-4D8020905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ADC094-6D55-4213-ACAF-C2CEBC9103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5063F-78B3-4220-A7F9-A749951A6FE5}" type="datetime1">
              <a:rPr lang="ru-RU" smtClean="0"/>
              <a:t>16.06.2025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E67C25-921B-47A8-8AE4-628A3763D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0E837B-C590-411A-9A72-13177D6D23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DA8958-AC1C-4B89-9480-1F965859B3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4880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>
            <a:extLst>
              <a:ext uri="{FF2B5EF4-FFF2-40B4-BE49-F238E27FC236}">
                <a16:creationId xmlns:a16="http://schemas.microsoft.com/office/drawing/2014/main" id="{90BCD4E5-244A-47F3-B312-6583F16DA763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1416050" y="2930526"/>
            <a:ext cx="9144000" cy="930275"/>
          </a:xfrm>
          <a:prstGeom prst="rect">
            <a:avLst/>
          </a:prstGeom>
        </p:spPr>
        <p:txBody>
          <a:bodyPr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ru-RU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Закон о персональных данных</a:t>
            </a:r>
            <a:r>
              <a:rPr lang="ru-RU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»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4AE0236-E3F9-441D-8409-B3B6461F426C}"/>
              </a:ext>
            </a:extLst>
          </p:cNvPr>
          <p:cNvSpPr txBox="1">
            <a:spLocks noRot="1" noChangeArrowheads="1"/>
          </p:cNvSpPr>
          <p:nvPr/>
        </p:nvSpPr>
        <p:spPr bwMode="auto">
          <a:xfrm>
            <a:off x="1524000" y="6308725"/>
            <a:ext cx="91440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Санкт-Петербург</a:t>
            </a: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endParaRPr lang="ru-RU" altLang="ru-RU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03231633-16DB-4E23-9699-71C61CBDD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999" y="1"/>
            <a:ext cx="9143999" cy="836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defRPr/>
            </a:pPr>
            <a:r>
              <a:rPr lang="ru-RU" sz="1400" dirty="0" err="1">
                <a:latin typeface="Times New Roman" pitchFamily="18" charset="0"/>
                <a:cs typeface="Times New Roman" pitchFamily="18" charset="0"/>
              </a:rPr>
              <a:t>Минобрнауки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 России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defRPr/>
            </a:pP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федеральное государственное бюджетное образовательное учреждение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высшего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образования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defRPr/>
            </a:pP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Санкт-Петербургский государственный технологический институт (технический университет)</a:t>
            </a:r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9ABACB33-BE7C-4DF6-913B-D7068966E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488" y="2297113"/>
            <a:ext cx="9144001" cy="6461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ru-RU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ДОКЛАД ПО ДИСЦИПЛИНЕ</a:t>
            </a:r>
          </a:p>
          <a:p>
            <a:pPr algn="ctr" eaLnBrk="1" hangingPunct="1">
              <a:defRPr/>
            </a:pPr>
            <a:r>
              <a:rPr lang="ru-RU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«ПРАВОВЫЕ ОСНОВЫ ИНФОРМАТИКИ»</a:t>
            </a: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846A9F7F-F5FE-46CB-B737-E709359AF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7277" y="782619"/>
            <a:ext cx="8922352" cy="9541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ru-RU" sz="1400" dirty="0">
                <a:latin typeface="Times New Roman" panose="02020603050405020304" pitchFamily="18" charset="0"/>
                <a:cs typeface="Times New Roman" pitchFamily="18" charset="0"/>
              </a:rPr>
              <a:t>Направление подготовки:  09.03.01 «Информатика и вычислительная техника»</a:t>
            </a:r>
          </a:p>
          <a:p>
            <a:pPr algn="ctr" eaLnBrk="1" hangingPunct="1">
              <a:defRPr/>
            </a:pPr>
            <a:r>
              <a:rPr lang="ru-RU" sz="1400" dirty="0">
                <a:latin typeface="Times New Roman" panose="02020603050405020304" pitchFamily="18" charset="0"/>
                <a:cs typeface="Times New Roman" pitchFamily="18" charset="0"/>
              </a:rPr>
              <a:t>Направленность образовательной программы  «Систем автоматизированного проектирования»</a:t>
            </a:r>
          </a:p>
          <a:p>
            <a:pPr algn="ctr" eaLnBrk="1" hangingPunct="1">
              <a:defRPr/>
            </a:pPr>
            <a:r>
              <a:rPr lang="ru-RU" sz="1400" dirty="0">
                <a:latin typeface="Times New Roman" panose="02020603050405020304" pitchFamily="18" charset="0"/>
                <a:cs typeface="Times New Roman" pitchFamily="18" charset="0"/>
              </a:rPr>
              <a:t>Факультет информационных технологий и управления</a:t>
            </a:r>
          </a:p>
          <a:p>
            <a:pPr algn="ctr" eaLnBrk="1" hangingPunct="1">
              <a:defRPr/>
            </a:pPr>
            <a:r>
              <a:rPr lang="ru-RU" sz="1400" dirty="0">
                <a:latin typeface="Times New Roman" panose="02020603050405020304" pitchFamily="18" charset="0"/>
                <a:cs typeface="Times New Roman" pitchFamily="18" charset="0"/>
              </a:rPr>
              <a:t>Кафедра систем автоматизированного проектирования и управления</a:t>
            </a:r>
          </a:p>
        </p:txBody>
      </p:sp>
      <p:sp>
        <p:nvSpPr>
          <p:cNvPr id="3079" name="Rectangle 1222">
            <a:extLst>
              <a:ext uri="{FF2B5EF4-FFF2-40B4-BE49-F238E27FC236}">
                <a16:creationId xmlns:a16="http://schemas.microsoft.com/office/drawing/2014/main" id="{B5316C51-B185-477E-8F85-6A8622603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6675" y="278130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080" name="Rectangle 1224">
            <a:extLst>
              <a:ext uri="{FF2B5EF4-FFF2-40B4-BE49-F238E27FC236}">
                <a16:creationId xmlns:a16="http://schemas.microsoft.com/office/drawing/2014/main" id="{00AA18A1-D915-42A7-B0B9-88B580969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6675" y="278130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081" name="Rectangle 2">
            <a:extLst>
              <a:ext uri="{FF2B5EF4-FFF2-40B4-BE49-F238E27FC236}">
                <a16:creationId xmlns:a16="http://schemas.microsoft.com/office/drawing/2014/main" id="{97361698-9DD1-47C3-958A-F30E89E74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3082" name="Rectangle 4">
            <a:extLst>
              <a:ext uri="{FF2B5EF4-FFF2-40B4-BE49-F238E27FC236}">
                <a16:creationId xmlns:a16="http://schemas.microsoft.com/office/drawing/2014/main" id="{273A1C5B-F563-4B40-8487-24140A776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pic>
        <p:nvPicPr>
          <p:cNvPr id="3092" name="Picture 108" descr="Логотип_САПРиУ">
            <a:extLst>
              <a:ext uri="{FF2B5EF4-FFF2-40B4-BE49-F238E27FC236}">
                <a16:creationId xmlns:a16="http://schemas.microsoft.com/office/drawing/2014/main" id="{9664A9CF-4089-474B-ADFD-C55197DB7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716253" y="1094884"/>
            <a:ext cx="900113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3" name="Picture 23" descr="spbgti_logo.png">
            <a:extLst>
              <a:ext uri="{FF2B5EF4-FFF2-40B4-BE49-F238E27FC236}">
                <a16:creationId xmlns:a16="http://schemas.microsoft.com/office/drawing/2014/main" id="{0DED306D-E6FB-4948-8BE4-DC09348C0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193" y="127796"/>
            <a:ext cx="6381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pbgti_logo.png">
            <a:extLst>
              <a:ext uri="{FF2B5EF4-FFF2-40B4-BE49-F238E27FC236}">
                <a16:creationId xmlns:a16="http://schemas.microsoft.com/office/drawing/2014/main" id="{43883455-DCB4-4280-AA3C-2C1212F52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58" y="6211887"/>
            <a:ext cx="42227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12728AD5-D3D0-4C2A-BFFE-31C592ED333A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1728216" y="6256337"/>
            <a:ext cx="8741664" cy="404813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ru-RU" sz="1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Федеральный закон от 27.07.2006 N 152-ФЗ (ред. от 14.07.2022) "О персональных данных" </a:t>
            </a:r>
          </a:p>
        </p:txBody>
      </p:sp>
      <p:pic>
        <p:nvPicPr>
          <p:cNvPr id="6" name="Picture 6" descr="Логотип_САПРиУ">
            <a:extLst>
              <a:ext uri="{FF2B5EF4-FFF2-40B4-BE49-F238E27FC236}">
                <a16:creationId xmlns:a16="http://schemas.microsoft.com/office/drawing/2014/main" id="{DDE7DB8E-7B19-4127-83A2-8C7ED2BCC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11197655" y="6203949"/>
            <a:ext cx="611187" cy="50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385DE178-3301-4843-BF7C-E56607CFF87F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10326581" y="6132338"/>
            <a:ext cx="752475" cy="425778"/>
          </a:xfrm>
          <a:prstGeom prst="rect">
            <a:avLst/>
          </a:prstGeom>
        </p:spPr>
        <p:txBody>
          <a:bodyPr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r>
              <a:rPr lang="ru-RU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2/12</a:t>
            </a:r>
            <a:endParaRPr lang="ru-RU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DAC3ED-C5F7-9758-EDC6-773299A5802B}"/>
              </a:ext>
            </a:extLst>
          </p:cNvPr>
          <p:cNvSpPr txBox="1"/>
          <p:nvPr/>
        </p:nvSpPr>
        <p:spPr>
          <a:xfrm>
            <a:off x="960120" y="1292075"/>
            <a:ext cx="102375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Статья 2</a:t>
            </a:r>
          </a:p>
          <a:p>
            <a:pPr algn="just"/>
            <a:r>
              <a:rPr lang="ru-RU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Целью настоящего Федерального закона является обеспечение защиты прав и свобод человека и гражданина при обработке его персональных данных, в том числе защиты прав на неприкосновенность частной жизни, личную и семейную тайну.</a:t>
            </a:r>
            <a:endParaRPr lang="ru-RU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1D84E4-7B28-239A-9CFE-BD57DC530D50}"/>
              </a:ext>
            </a:extLst>
          </p:cNvPr>
          <p:cNvSpPr txBox="1"/>
          <p:nvPr/>
        </p:nvSpPr>
        <p:spPr>
          <a:xfrm>
            <a:off x="2718054" y="55759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ЗАКОНА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DD62FA4-7618-84E4-0607-5A9876A5C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5858" y="2853376"/>
            <a:ext cx="3714124" cy="304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089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pbgti_logo.png">
            <a:extLst>
              <a:ext uri="{FF2B5EF4-FFF2-40B4-BE49-F238E27FC236}">
                <a16:creationId xmlns:a16="http://schemas.microsoft.com/office/drawing/2014/main" id="{43883455-DCB4-4280-AA3C-2C1212F52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58" y="6211887"/>
            <a:ext cx="42227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12728AD5-D3D0-4C2A-BFFE-31C592ED333A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1728216" y="6256337"/>
            <a:ext cx="8741664" cy="404813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ru-RU" sz="1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Федеральный закон от 27.07.2006 N 152-ФЗ (ред. от 14.07.2022) "О персональных данных" </a:t>
            </a:r>
          </a:p>
        </p:txBody>
      </p:sp>
      <p:pic>
        <p:nvPicPr>
          <p:cNvPr id="6" name="Picture 6" descr="Логотип_САПРиУ">
            <a:extLst>
              <a:ext uri="{FF2B5EF4-FFF2-40B4-BE49-F238E27FC236}">
                <a16:creationId xmlns:a16="http://schemas.microsoft.com/office/drawing/2014/main" id="{DDE7DB8E-7B19-4127-83A2-8C7ED2BCC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11197655" y="6203949"/>
            <a:ext cx="611187" cy="50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385DE178-3301-4843-BF7C-E56607CFF87F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10326581" y="6132338"/>
            <a:ext cx="752475" cy="425778"/>
          </a:xfrm>
          <a:prstGeom prst="rect">
            <a:avLst/>
          </a:prstGeom>
        </p:spPr>
        <p:txBody>
          <a:bodyPr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r>
              <a:rPr lang="ru-RU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3/12</a:t>
            </a:r>
            <a:endParaRPr lang="ru-RU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DAC3ED-C5F7-9758-EDC6-773299A5802B}"/>
              </a:ext>
            </a:extLst>
          </p:cNvPr>
          <p:cNvSpPr txBox="1"/>
          <p:nvPr/>
        </p:nvSpPr>
        <p:spPr>
          <a:xfrm>
            <a:off x="960120" y="1292075"/>
            <a:ext cx="102375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Статья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ru-RU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just"/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П</a:t>
            </a:r>
            <a:r>
              <a:rPr lang="ru-RU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ерсональные данные - любая информация, относящаяся к прямо или косвенно определенному или определяемому физическому лицу (субъекту персональных данных), в том числе его фамилия, имя, отчество, год, месяц, дата и место рождения, адрес, семейное положение и другая информация</a:t>
            </a:r>
            <a:endParaRPr lang="ru-RU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1D84E4-7B28-239A-9CFE-BD57DC530D50}"/>
              </a:ext>
            </a:extLst>
          </p:cNvPr>
          <p:cNvSpPr txBox="1"/>
          <p:nvPr/>
        </p:nvSpPr>
        <p:spPr>
          <a:xfrm>
            <a:off x="2718054" y="55759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BF91236-7103-7CF6-C292-1C9D141A59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514" y="2850447"/>
            <a:ext cx="5696745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009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pbgti_logo.png">
            <a:extLst>
              <a:ext uri="{FF2B5EF4-FFF2-40B4-BE49-F238E27FC236}">
                <a16:creationId xmlns:a16="http://schemas.microsoft.com/office/drawing/2014/main" id="{43883455-DCB4-4280-AA3C-2C1212F52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58" y="6211887"/>
            <a:ext cx="42227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12728AD5-D3D0-4C2A-BFFE-31C592ED333A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1728216" y="6256337"/>
            <a:ext cx="8741664" cy="404813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ru-RU" sz="1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Федеральный закон от 27.07.2006 N 152-ФЗ (ред. от 14.07.2022) "О персональных данных" </a:t>
            </a:r>
          </a:p>
        </p:txBody>
      </p:sp>
      <p:pic>
        <p:nvPicPr>
          <p:cNvPr id="6" name="Picture 6" descr="Логотип_САПРиУ">
            <a:extLst>
              <a:ext uri="{FF2B5EF4-FFF2-40B4-BE49-F238E27FC236}">
                <a16:creationId xmlns:a16="http://schemas.microsoft.com/office/drawing/2014/main" id="{DDE7DB8E-7B19-4127-83A2-8C7ED2BCC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11197655" y="6203949"/>
            <a:ext cx="611187" cy="50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385DE178-3301-4843-BF7C-E56607CFF87F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10326581" y="6132338"/>
            <a:ext cx="752475" cy="425778"/>
          </a:xfrm>
          <a:prstGeom prst="rect">
            <a:avLst/>
          </a:prstGeom>
        </p:spPr>
        <p:txBody>
          <a:bodyPr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4</a:t>
            </a:r>
            <a:r>
              <a:rPr lang="ru-RU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/12</a:t>
            </a:r>
            <a:endParaRPr lang="ru-RU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DAC3ED-C5F7-9758-EDC6-773299A5802B}"/>
              </a:ext>
            </a:extLst>
          </p:cNvPr>
          <p:cNvSpPr txBox="1"/>
          <p:nvPr/>
        </p:nvSpPr>
        <p:spPr>
          <a:xfrm>
            <a:off x="960120" y="1292075"/>
            <a:ext cx="1023753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Статья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ru-RU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just"/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Оператор - государственный орган, муниципальный орган, юридическое или физическое лицо, самостоятельно или совместно с другими лицами организующие и (или) осуществляющие обработку персональных данных, а также определяющие цели обработки персональных данных, состав персональных данных, подлежащих обработке, действия (операции), совершаемые с персональными данными;</a:t>
            </a:r>
            <a:endParaRPr lang="ru-RU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1D84E4-7B28-239A-9CFE-BD57DC530D50}"/>
              </a:ext>
            </a:extLst>
          </p:cNvPr>
          <p:cNvSpPr txBox="1"/>
          <p:nvPr/>
        </p:nvSpPr>
        <p:spPr>
          <a:xfrm>
            <a:off x="2718054" y="55759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ОПЕРАТОР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2BDA13F-026D-B0DF-1637-CD086EE8704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771" t="4869" r="1094" b="1999"/>
          <a:stretch/>
        </p:blipFill>
        <p:spPr>
          <a:xfrm>
            <a:off x="4379976" y="3152883"/>
            <a:ext cx="3803904" cy="319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925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pbgti_logo.png">
            <a:extLst>
              <a:ext uri="{FF2B5EF4-FFF2-40B4-BE49-F238E27FC236}">
                <a16:creationId xmlns:a16="http://schemas.microsoft.com/office/drawing/2014/main" id="{43883455-DCB4-4280-AA3C-2C1212F52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58" y="6211887"/>
            <a:ext cx="42227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12728AD5-D3D0-4C2A-BFFE-31C592ED333A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1728216" y="6256337"/>
            <a:ext cx="8741664" cy="404813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ru-RU" sz="1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Федеральный закон от 27.07.2006 N 152-ФЗ (ред. от 14.07.2022) "О персональных данных" </a:t>
            </a:r>
          </a:p>
        </p:txBody>
      </p:sp>
      <p:pic>
        <p:nvPicPr>
          <p:cNvPr id="6" name="Picture 6" descr="Логотип_САПРиУ">
            <a:extLst>
              <a:ext uri="{FF2B5EF4-FFF2-40B4-BE49-F238E27FC236}">
                <a16:creationId xmlns:a16="http://schemas.microsoft.com/office/drawing/2014/main" id="{DDE7DB8E-7B19-4127-83A2-8C7ED2BCC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11197655" y="6203949"/>
            <a:ext cx="611187" cy="50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385DE178-3301-4843-BF7C-E56607CFF87F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10326581" y="6132338"/>
            <a:ext cx="752475" cy="425778"/>
          </a:xfrm>
          <a:prstGeom prst="rect">
            <a:avLst/>
          </a:prstGeom>
        </p:spPr>
        <p:txBody>
          <a:bodyPr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r>
              <a:rPr lang="ru-RU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5/12</a:t>
            </a:r>
            <a:endParaRPr lang="ru-RU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DAC3ED-C5F7-9758-EDC6-773299A5802B}"/>
              </a:ext>
            </a:extLst>
          </p:cNvPr>
          <p:cNvSpPr txBox="1"/>
          <p:nvPr/>
        </p:nvSpPr>
        <p:spPr>
          <a:xfrm>
            <a:off x="1112944" y="1028839"/>
            <a:ext cx="996611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Статья 6</a:t>
            </a:r>
          </a:p>
          <a:p>
            <a:pPr marL="342900" indent="-342900" algn="just">
              <a:buAutoNum type="arabicPeriod"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Обработка персональных данных </a:t>
            </a:r>
            <a:r>
              <a:rPr lang="ru-RU" b="1" i="1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осуществляется с согласия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субъекта персональных данных на обработку его персональных данных.</a:t>
            </a:r>
          </a:p>
          <a:p>
            <a:pPr marL="342900" indent="-342900" algn="just">
              <a:buAutoNum type="arabicPeriod"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Обработка персональных данных осуществляется </a:t>
            </a:r>
            <a:r>
              <a:rPr lang="ru-RU" b="1" i="1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в связи с участием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 лица </a:t>
            </a:r>
            <a:r>
              <a:rPr lang="ru-RU" b="1" i="1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в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 конституционном, гражданском, административном, уголовном судопроизводстве, судопроизводстве в арбитражных </a:t>
            </a:r>
            <a:r>
              <a:rPr lang="ru-RU" b="1" i="1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судах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  <a:p>
            <a:pPr marL="342900" indent="-342900" algn="just">
              <a:buAutoNum type="arabicPeriod"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Обработка персональных данных необходима для осуществления </a:t>
            </a:r>
            <a:r>
              <a:rPr lang="ru-RU" b="1" i="1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профессиональной деятельности журналиста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 и (или) законной деятельности средства массовой информации либо научной, литературной или иной творческой деятельности при условии, что при этом не нарушаются права и законные интересы субъекта персональных данных.</a:t>
            </a:r>
          </a:p>
          <a:p>
            <a:pPr marL="342900" indent="-342900" algn="just">
              <a:buAutoNum type="arabicPeriod"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Обработка персональных данных </a:t>
            </a:r>
            <a:r>
              <a:rPr lang="ru-RU" b="1" i="1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осуществляется в статистических или иных исследовательских целях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, за исключением целей, указанных в статье 15 настоящего Федерального закона, при условии обязательного обезличивания персональных данных.</a:t>
            </a:r>
          </a:p>
          <a:p>
            <a:pPr marL="342900" indent="-342900" algn="just">
              <a:buFontTx/>
              <a:buAutoNum type="arabicPeriod"/>
            </a:pPr>
            <a:r>
              <a:rPr lang="ru-RU" sz="1800" b="0" dirty="0">
                <a:effectLst/>
                <a:latin typeface="Times New Roman" panose="02020603050405020304" pitchFamily="18" charset="0"/>
              </a:rPr>
              <a:t>В случае, если оператор поручает обработку персональных данных другому лицу, ответственность </a:t>
            </a:r>
            <a:r>
              <a:rPr lang="ru-RU" sz="1800" b="1" i="1" u="sng" dirty="0">
                <a:effectLst/>
                <a:latin typeface="Times New Roman" panose="02020603050405020304" pitchFamily="18" charset="0"/>
              </a:rPr>
              <a:t>перед субъектом персональных данных за действия указанного лица несет оператор</a:t>
            </a:r>
            <a:r>
              <a:rPr lang="ru-RU" sz="1800" b="0" dirty="0">
                <a:effectLst/>
                <a:latin typeface="Times New Roman" panose="02020603050405020304" pitchFamily="18" charset="0"/>
              </a:rPr>
              <a:t>. Лицо, осуществляющее обработку персональных данных по поручению оператора, несет ответственность перед оператором. </a:t>
            </a:r>
          </a:p>
          <a:p>
            <a:pPr marL="342900" indent="-342900" algn="just">
              <a:buAutoNum type="arabicPeriod"/>
            </a:pPr>
            <a:endParaRPr lang="ru-RU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endParaRPr lang="ru-RU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endParaRPr lang="ru-RU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1D84E4-7B28-239A-9CFE-BD57DC530D50}"/>
              </a:ext>
            </a:extLst>
          </p:cNvPr>
          <p:cNvSpPr txBox="1"/>
          <p:nvPr/>
        </p:nvSpPr>
        <p:spPr>
          <a:xfrm>
            <a:off x="2718054" y="55759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УСЛОВИЯ ОБРАБОТКИ ПЕРСОНАЛЬНЫХ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1480414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pbgti_logo.png">
            <a:extLst>
              <a:ext uri="{FF2B5EF4-FFF2-40B4-BE49-F238E27FC236}">
                <a16:creationId xmlns:a16="http://schemas.microsoft.com/office/drawing/2014/main" id="{43883455-DCB4-4280-AA3C-2C1212F52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58" y="6211887"/>
            <a:ext cx="42227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12728AD5-D3D0-4C2A-BFFE-31C592ED333A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1728216" y="6256337"/>
            <a:ext cx="8741664" cy="404813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ru-RU" sz="1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Федеральный закон от 27.07.2006 N 152-ФЗ (ред. от 14.07.2022) "О персональных данных" </a:t>
            </a:r>
          </a:p>
        </p:txBody>
      </p:sp>
      <p:pic>
        <p:nvPicPr>
          <p:cNvPr id="6" name="Picture 6" descr="Логотип_САПРиУ">
            <a:extLst>
              <a:ext uri="{FF2B5EF4-FFF2-40B4-BE49-F238E27FC236}">
                <a16:creationId xmlns:a16="http://schemas.microsoft.com/office/drawing/2014/main" id="{DDE7DB8E-7B19-4127-83A2-8C7ED2BCC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11197655" y="6203949"/>
            <a:ext cx="611187" cy="50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385DE178-3301-4843-BF7C-E56607CFF87F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10326581" y="6132338"/>
            <a:ext cx="752475" cy="425778"/>
          </a:xfrm>
          <a:prstGeom prst="rect">
            <a:avLst/>
          </a:prstGeom>
        </p:spPr>
        <p:txBody>
          <a:bodyPr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r>
              <a:rPr lang="ru-RU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6/12</a:t>
            </a:r>
            <a:endParaRPr lang="ru-RU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DAC3ED-C5F7-9758-EDC6-773299A5802B}"/>
              </a:ext>
            </a:extLst>
          </p:cNvPr>
          <p:cNvSpPr txBox="1"/>
          <p:nvPr/>
        </p:nvSpPr>
        <p:spPr>
          <a:xfrm>
            <a:off x="960120" y="1292075"/>
            <a:ext cx="102375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Статья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7</a:t>
            </a:r>
          </a:p>
          <a:p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Операторы и иные лица, получившие доступ к персональным данным, обязаны не раскрывать третьим лицам и не распространять персональные данные без согласия субъекта персональных данных, если иное не предусмотрено федеральным законом.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1D84E4-7B28-239A-9CFE-BD57DC530D50}"/>
              </a:ext>
            </a:extLst>
          </p:cNvPr>
          <p:cNvSpPr txBox="1"/>
          <p:nvPr/>
        </p:nvSpPr>
        <p:spPr>
          <a:xfrm>
            <a:off x="2846070" y="301559"/>
            <a:ext cx="7066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КОНФИДЕНЦИАЛЬНОСТЬ ПЕРСОНАЛЬНЫХ ДАННЫХ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F6C13F9-AC5A-E5A4-4DCB-2052EB08E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767" y="3113588"/>
            <a:ext cx="3291161" cy="257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669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pbgti_logo.png">
            <a:extLst>
              <a:ext uri="{FF2B5EF4-FFF2-40B4-BE49-F238E27FC236}">
                <a16:creationId xmlns:a16="http://schemas.microsoft.com/office/drawing/2014/main" id="{43883455-DCB4-4280-AA3C-2C1212F52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58" y="6211887"/>
            <a:ext cx="42227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12728AD5-D3D0-4C2A-BFFE-31C592ED333A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1728216" y="6256337"/>
            <a:ext cx="8741664" cy="404813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ru-RU" sz="1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Федеральный закон от 27.07.2006 N 152-ФЗ (ред. от 14.07.2022) "О персональных данных" </a:t>
            </a:r>
          </a:p>
        </p:txBody>
      </p:sp>
      <p:pic>
        <p:nvPicPr>
          <p:cNvPr id="6" name="Picture 6" descr="Логотип_САПРиУ">
            <a:extLst>
              <a:ext uri="{FF2B5EF4-FFF2-40B4-BE49-F238E27FC236}">
                <a16:creationId xmlns:a16="http://schemas.microsoft.com/office/drawing/2014/main" id="{DDE7DB8E-7B19-4127-83A2-8C7ED2BCC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11197655" y="6203949"/>
            <a:ext cx="611187" cy="50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385DE178-3301-4843-BF7C-E56607CFF87F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10326581" y="6132338"/>
            <a:ext cx="752475" cy="425778"/>
          </a:xfrm>
          <a:prstGeom prst="rect">
            <a:avLst/>
          </a:prstGeom>
        </p:spPr>
        <p:txBody>
          <a:bodyPr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r>
              <a:rPr lang="ru-RU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7/12</a:t>
            </a:r>
            <a:endParaRPr lang="ru-RU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DAC3ED-C5F7-9758-EDC6-773299A5802B}"/>
              </a:ext>
            </a:extLst>
          </p:cNvPr>
          <p:cNvSpPr txBox="1"/>
          <p:nvPr/>
        </p:nvSpPr>
        <p:spPr>
          <a:xfrm>
            <a:off x="960120" y="1292075"/>
            <a:ext cx="1023753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Общедоступные</a:t>
            </a:r>
          </a:p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И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мя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;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фамилия и отчество субъекта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;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место, где человек родился или проживает;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возраст;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профессия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образование;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месяц, год и число рождения;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электронная почта;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телефонный номер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ru-RU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ru-RU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Биометрические</a:t>
            </a:r>
            <a:endParaRPr lang="en-US" b="1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О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тпечатки пальцев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рисунок сетчатки глаза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голос, фотография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endParaRPr lang="ru-RU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</a:rPr>
              <a:t>С</a:t>
            </a:r>
            <a:r>
              <a:rPr lang="ru-RU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пециальная категория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Персональные данные, касающиеся расовой, национальной принадлежности, политических взглядов, религиозных и философских убеждений, состояния здоровья, интимной жизни;</a:t>
            </a:r>
          </a:p>
          <a:p>
            <a:endParaRPr lang="ru-RU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Иные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Четкого определения, какие сведения могут быть отнесены в эту группу, в нормативно-правовой документации нет. Указано только, что речь идет 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ПДн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не относящихся к предыдущим категориям.</a:t>
            </a:r>
            <a:endParaRPr lang="ru-RU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1D84E4-7B28-239A-9CFE-BD57DC530D50}"/>
              </a:ext>
            </a:extLst>
          </p:cNvPr>
          <p:cNvSpPr txBox="1"/>
          <p:nvPr/>
        </p:nvSpPr>
        <p:spPr>
          <a:xfrm>
            <a:off x="2260854" y="264983"/>
            <a:ext cx="7066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КАТЕГОРИИ ПЕРСОНАЛЬНЫХ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3800728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pbgti_logo.png">
            <a:extLst>
              <a:ext uri="{FF2B5EF4-FFF2-40B4-BE49-F238E27FC236}">
                <a16:creationId xmlns:a16="http://schemas.microsoft.com/office/drawing/2014/main" id="{43883455-DCB4-4280-AA3C-2C1212F52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58" y="6211887"/>
            <a:ext cx="42227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12728AD5-D3D0-4C2A-BFFE-31C592ED333A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1728216" y="6256337"/>
            <a:ext cx="8741664" cy="404813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ru-RU" sz="1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Федеральный закон от 27.07.2006 N 152-ФЗ (ред. от 14.07.2022) "О персональных данных" </a:t>
            </a:r>
          </a:p>
        </p:txBody>
      </p:sp>
      <p:pic>
        <p:nvPicPr>
          <p:cNvPr id="6" name="Picture 6" descr="Логотип_САПРиУ">
            <a:extLst>
              <a:ext uri="{FF2B5EF4-FFF2-40B4-BE49-F238E27FC236}">
                <a16:creationId xmlns:a16="http://schemas.microsoft.com/office/drawing/2014/main" id="{DDE7DB8E-7B19-4127-83A2-8C7ED2BCC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11197655" y="6203949"/>
            <a:ext cx="611187" cy="50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385DE178-3301-4843-BF7C-E56607CFF87F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10326581" y="6132338"/>
            <a:ext cx="752475" cy="425778"/>
          </a:xfrm>
          <a:prstGeom prst="rect">
            <a:avLst/>
          </a:prstGeom>
        </p:spPr>
        <p:txBody>
          <a:bodyPr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r>
              <a:rPr lang="ru-RU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8/12</a:t>
            </a:r>
            <a:endParaRPr lang="ru-RU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1D84E4-7B28-239A-9CFE-BD57DC530D50}"/>
              </a:ext>
            </a:extLst>
          </p:cNvPr>
          <p:cNvSpPr txBox="1"/>
          <p:nvPr/>
        </p:nvSpPr>
        <p:spPr>
          <a:xfrm>
            <a:off x="2260854" y="264983"/>
            <a:ext cx="7066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ОТВЕТСТВЕННОСТЬ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FA5DC30-8728-C1A6-BFF6-983FC46C6D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433" y="878445"/>
            <a:ext cx="10621857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113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pbgti_logo.png">
            <a:extLst>
              <a:ext uri="{FF2B5EF4-FFF2-40B4-BE49-F238E27FC236}">
                <a16:creationId xmlns:a16="http://schemas.microsoft.com/office/drawing/2014/main" id="{43883455-DCB4-4280-AA3C-2C1212F52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58" y="6211887"/>
            <a:ext cx="42227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12728AD5-D3D0-4C2A-BFFE-31C592ED333A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1728216" y="6256337"/>
            <a:ext cx="8741664" cy="404813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ru-RU" sz="1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Федеральный закон от 27.07.2006 N 152-ФЗ (ред. от 14.07.2022) "О персональных данных" </a:t>
            </a:r>
          </a:p>
        </p:txBody>
      </p:sp>
      <p:pic>
        <p:nvPicPr>
          <p:cNvPr id="6" name="Picture 6" descr="Логотип_САПРиУ">
            <a:extLst>
              <a:ext uri="{FF2B5EF4-FFF2-40B4-BE49-F238E27FC236}">
                <a16:creationId xmlns:a16="http://schemas.microsoft.com/office/drawing/2014/main" id="{DDE7DB8E-7B19-4127-83A2-8C7ED2BCC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11197655" y="6203949"/>
            <a:ext cx="611187" cy="50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385DE178-3301-4843-BF7C-E56607CFF87F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10326581" y="6132338"/>
            <a:ext cx="752475" cy="425778"/>
          </a:xfrm>
          <a:prstGeom prst="rect">
            <a:avLst/>
          </a:prstGeom>
        </p:spPr>
        <p:txBody>
          <a:bodyPr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r>
              <a:rPr lang="ru-RU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9/12</a:t>
            </a:r>
            <a:endParaRPr lang="ru-RU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1D84E4-7B28-239A-9CFE-BD57DC530D50}"/>
              </a:ext>
            </a:extLst>
          </p:cNvPr>
          <p:cNvSpPr txBox="1"/>
          <p:nvPr/>
        </p:nvSpPr>
        <p:spPr>
          <a:xfrm>
            <a:off x="2260854" y="264983"/>
            <a:ext cx="7066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B12F622-BF15-F0A0-0C17-96C9D38CB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854" y="758314"/>
            <a:ext cx="7432099" cy="512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867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pbgti_logo.png">
            <a:extLst>
              <a:ext uri="{FF2B5EF4-FFF2-40B4-BE49-F238E27FC236}">
                <a16:creationId xmlns:a16="http://schemas.microsoft.com/office/drawing/2014/main" id="{43883455-DCB4-4280-AA3C-2C1212F52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58" y="6211887"/>
            <a:ext cx="42227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12728AD5-D3D0-4C2A-BFFE-31C592ED333A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1728216" y="6256337"/>
            <a:ext cx="8741664" cy="404813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ru-RU" sz="1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Федеральный закон от 27.07.2006 N 152-ФЗ (ред. от 14.07.2022) "О персональных данных" </a:t>
            </a:r>
          </a:p>
        </p:txBody>
      </p:sp>
      <p:pic>
        <p:nvPicPr>
          <p:cNvPr id="6" name="Picture 6" descr="Логотип_САПРиУ">
            <a:extLst>
              <a:ext uri="{FF2B5EF4-FFF2-40B4-BE49-F238E27FC236}">
                <a16:creationId xmlns:a16="http://schemas.microsoft.com/office/drawing/2014/main" id="{DDE7DB8E-7B19-4127-83A2-8C7ED2BCC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11197655" y="6203949"/>
            <a:ext cx="611187" cy="50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385DE178-3301-4843-BF7C-E56607CFF87F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10326581" y="6132338"/>
            <a:ext cx="752475" cy="425778"/>
          </a:xfrm>
          <a:prstGeom prst="rect">
            <a:avLst/>
          </a:prstGeom>
        </p:spPr>
        <p:txBody>
          <a:bodyPr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r>
              <a:rPr lang="ru-RU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10/12</a:t>
            </a:r>
            <a:endParaRPr lang="ru-RU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1D84E4-7B28-239A-9CFE-BD57DC530D50}"/>
              </a:ext>
            </a:extLst>
          </p:cNvPr>
          <p:cNvSpPr txBox="1"/>
          <p:nvPr/>
        </p:nvSpPr>
        <p:spPr>
          <a:xfrm>
            <a:off x="2260854" y="264983"/>
            <a:ext cx="7066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НАРУШЕНИЙ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57CC08-FFC4-EF52-132B-8FF9A693109D}"/>
              </a:ext>
            </a:extLst>
          </p:cNvPr>
          <p:cNvSpPr txBox="1"/>
          <p:nvPr/>
        </p:nvSpPr>
        <p:spPr>
          <a:xfrm>
            <a:off x="531843" y="634315"/>
            <a:ext cx="10547213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AutoNum type="arabicPeriod"/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Нелегитимная обработка персональных данных -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обработка персональных данных допускается только в определенном ряде случаев, наиболее популярными из которых являются: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исполнение договора, по которому стороной или выгодоприобретателем является субъект персональных данных;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исполнение требований законодательства РФ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наличие согласия субъекта персональных данных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ru-RU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ru-RU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2DBA0D-7FA9-B0BE-A47E-2C0DB1FAE958}"/>
              </a:ext>
            </a:extLst>
          </p:cNvPr>
          <p:cNvSpPr txBox="1"/>
          <p:nvPr/>
        </p:nvSpPr>
        <p:spPr>
          <a:xfrm>
            <a:off x="531843" y="2419419"/>
            <a:ext cx="1066581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2. 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Нелегитимная обработка персональных данных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-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необходимо именно письменное согласие субъекта, при обработки трансграничной передачи, специальных и биометрических категорий персональных данных и др.</a:t>
            </a:r>
            <a:endParaRPr lang="ru-RU" i="0" dirty="0">
              <a:solidFill>
                <a:srgbClr val="000000"/>
              </a:solidFill>
              <a:effectLst/>
              <a:latin typeface="Ubuntu Condensed" panose="020B0506030602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F23C7E-EB6C-FF2D-6F55-90C97F12E43D}"/>
              </a:ext>
            </a:extLst>
          </p:cNvPr>
          <p:cNvSpPr txBox="1"/>
          <p:nvPr/>
        </p:nvSpPr>
        <p:spPr>
          <a:xfrm>
            <a:off x="531843" y="3544615"/>
            <a:ext cx="1066581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</a:rPr>
              <a:t>3. Раскрытие персональных данных третьим лицам без согласия субъекта -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В современных реалиях многие организации передают или привлекают к обработке персональных данных третьих лиц. Типичными примерами являются: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поручение кадрового и бухгалтерского учета аутсорсинговой компании;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организация пропускного режима силами ЧОП;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организация страхования работников (ДМС);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организация командировок силами сторонних компаний.</a:t>
            </a:r>
          </a:p>
          <a:p>
            <a:pPr algn="just"/>
            <a:endParaRPr lang="ru-RU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836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pbgti_logo.png">
            <a:extLst>
              <a:ext uri="{FF2B5EF4-FFF2-40B4-BE49-F238E27FC236}">
                <a16:creationId xmlns:a16="http://schemas.microsoft.com/office/drawing/2014/main" id="{43883455-DCB4-4280-AA3C-2C1212F52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58" y="6211887"/>
            <a:ext cx="42227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12728AD5-D3D0-4C2A-BFFE-31C592ED333A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1728216" y="6256337"/>
            <a:ext cx="8741664" cy="404813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ru-RU" sz="1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Федеральный закон от 27.07.2006 N 152-ФЗ (ред. от 14.07.2022) "О персональных данных" </a:t>
            </a:r>
          </a:p>
        </p:txBody>
      </p:sp>
      <p:pic>
        <p:nvPicPr>
          <p:cNvPr id="6" name="Picture 6" descr="Логотип_САПРиУ">
            <a:extLst>
              <a:ext uri="{FF2B5EF4-FFF2-40B4-BE49-F238E27FC236}">
                <a16:creationId xmlns:a16="http://schemas.microsoft.com/office/drawing/2014/main" id="{DDE7DB8E-7B19-4127-83A2-8C7ED2BCC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11197655" y="6203949"/>
            <a:ext cx="611187" cy="50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385DE178-3301-4843-BF7C-E56607CFF87F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10326581" y="6132338"/>
            <a:ext cx="752475" cy="425778"/>
          </a:xfrm>
          <a:prstGeom prst="rect">
            <a:avLst/>
          </a:prstGeom>
        </p:spPr>
        <p:txBody>
          <a:bodyPr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r>
              <a:rPr lang="ru-RU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11/12</a:t>
            </a:r>
            <a:endParaRPr lang="ru-RU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2DBA0D-7FA9-B0BE-A47E-2C0DB1FAE958}"/>
              </a:ext>
            </a:extLst>
          </p:cNvPr>
          <p:cNvSpPr txBox="1"/>
          <p:nvPr/>
        </p:nvSpPr>
        <p:spPr>
          <a:xfrm>
            <a:off x="5132832" y="362014"/>
            <a:ext cx="1926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</a:rPr>
              <a:t>СТАТИСТИКА</a:t>
            </a:r>
            <a:endParaRPr lang="ru-RU" i="0" dirty="0">
              <a:solidFill>
                <a:srgbClr val="000000"/>
              </a:solidFill>
              <a:effectLst/>
              <a:latin typeface="Ubuntu Condensed" panose="020B050603060203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382D462-CF0F-7307-DC9A-41BB8E90D1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3271" y="1323012"/>
            <a:ext cx="5926625" cy="352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598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pbgti_logo.png">
            <a:extLst>
              <a:ext uri="{FF2B5EF4-FFF2-40B4-BE49-F238E27FC236}">
                <a16:creationId xmlns:a16="http://schemas.microsoft.com/office/drawing/2014/main" id="{43883455-DCB4-4280-AA3C-2C1212F52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58" y="6211887"/>
            <a:ext cx="42227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12728AD5-D3D0-4C2A-BFFE-31C592ED333A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1728216" y="6256337"/>
            <a:ext cx="8741664" cy="404813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ru-RU" sz="1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Федеральный закон от 27.07.2006 N 152-ФЗ (ред. от 14.07.2022) "О персональных данных" </a:t>
            </a:r>
          </a:p>
        </p:txBody>
      </p:sp>
      <p:pic>
        <p:nvPicPr>
          <p:cNvPr id="6" name="Picture 6" descr="Логотип_САПРиУ">
            <a:extLst>
              <a:ext uri="{FF2B5EF4-FFF2-40B4-BE49-F238E27FC236}">
                <a16:creationId xmlns:a16="http://schemas.microsoft.com/office/drawing/2014/main" id="{DDE7DB8E-7B19-4127-83A2-8C7ED2BCC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11197655" y="6203949"/>
            <a:ext cx="611187" cy="50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385DE178-3301-4843-BF7C-E56607CFF87F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10326581" y="6132338"/>
            <a:ext cx="752475" cy="425778"/>
          </a:xfrm>
          <a:prstGeom prst="rect">
            <a:avLst/>
          </a:prstGeom>
        </p:spPr>
        <p:txBody>
          <a:bodyPr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r>
              <a:rPr lang="ru-RU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12/12</a:t>
            </a:r>
            <a:endParaRPr lang="ru-RU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2DBA0D-7FA9-B0BE-A47E-2C0DB1FAE958}"/>
              </a:ext>
            </a:extLst>
          </p:cNvPr>
          <p:cNvSpPr txBox="1"/>
          <p:nvPr/>
        </p:nvSpPr>
        <p:spPr>
          <a:xfrm>
            <a:off x="3008377" y="2712022"/>
            <a:ext cx="66385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СПАСИБО ЗА ВНИМАНИЕ!</a:t>
            </a:r>
            <a:endParaRPr lang="ru-RU" sz="3200" i="0" dirty="0">
              <a:solidFill>
                <a:srgbClr val="000000"/>
              </a:solidFill>
              <a:effectLst/>
              <a:latin typeface="Ubuntu Condensed" panose="020B0506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5966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892</TotalTime>
  <Words>784</Words>
  <Application>Microsoft Office PowerPoint</Application>
  <PresentationFormat>Широкоэкранный</PresentationFormat>
  <Paragraphs>85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Ubuntu Condensed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Абрамян Левон Кароевич</dc:creator>
  <cp:lastModifiedBy>Маша Шабалкина</cp:lastModifiedBy>
  <cp:revision>49</cp:revision>
  <dcterms:created xsi:type="dcterms:W3CDTF">2021-06-03T21:56:05Z</dcterms:created>
  <dcterms:modified xsi:type="dcterms:W3CDTF">2025-06-15T22:58:10Z</dcterms:modified>
</cp:coreProperties>
</file>